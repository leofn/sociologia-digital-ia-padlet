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33"/>
  </p:notesMasterIdLst>
  <p:handoutMasterIdLst>
    <p:handoutMasterId r:id="rId34"/>
  </p:handoutMasterIdLst>
  <p:sldIdLst>
    <p:sldId id="286" r:id="rId5"/>
    <p:sldId id="257" r:id="rId6"/>
    <p:sldId id="421" r:id="rId7"/>
    <p:sldId id="368" r:id="rId8"/>
    <p:sldId id="422" r:id="rId9"/>
    <p:sldId id="425" r:id="rId10"/>
    <p:sldId id="445" r:id="rId11"/>
    <p:sldId id="427" r:id="rId12"/>
    <p:sldId id="428" r:id="rId13"/>
    <p:sldId id="424" r:id="rId14"/>
    <p:sldId id="426" r:id="rId15"/>
    <p:sldId id="429" r:id="rId16"/>
    <p:sldId id="430" r:id="rId17"/>
    <p:sldId id="431" r:id="rId18"/>
    <p:sldId id="433" r:id="rId19"/>
    <p:sldId id="432" r:id="rId20"/>
    <p:sldId id="436" r:id="rId21"/>
    <p:sldId id="437" r:id="rId22"/>
    <p:sldId id="438" r:id="rId23"/>
    <p:sldId id="439" r:id="rId24"/>
    <p:sldId id="440" r:id="rId25"/>
    <p:sldId id="441" r:id="rId26"/>
    <p:sldId id="442" r:id="rId27"/>
    <p:sldId id="443" r:id="rId28"/>
    <p:sldId id="444" r:id="rId29"/>
    <p:sldId id="446" r:id="rId30"/>
    <p:sldId id="448" r:id="rId31"/>
    <p:sldId id="296" r:id="rId32"/>
  </p:sldIdLst>
  <p:sldSz cx="12192000" cy="6858000"/>
  <p:notesSz cx="6858000" cy="9144000"/>
  <p:defaultTextStyle>
    <a:defPPr rtl="0">
      <a:defRPr lang="pt-BR"/>
    </a:defPPr>
    <a:lvl1pPr marL="0" algn="l" defTabSz="914400" rtl="0" eaLnBrk="1" latinLnBrk="0" hangingPunct="1">
      <a:defRPr lang="pt-BR" sz="1800" kern="1200">
        <a:solidFill>
          <a:schemeClr val="tx1"/>
        </a:solidFill>
        <a:latin typeface="+mn-lt"/>
        <a:ea typeface="+mn-ea"/>
        <a:cs typeface="+mn-cs"/>
      </a:defRPr>
    </a:lvl1pPr>
    <a:lvl2pPr marL="457200" algn="l" defTabSz="914400" rtl="0" eaLnBrk="1" latinLnBrk="0" hangingPunct="1">
      <a:defRPr lang="pt-BR" sz="1800" kern="1200">
        <a:solidFill>
          <a:schemeClr val="tx1"/>
        </a:solidFill>
        <a:latin typeface="+mn-lt"/>
        <a:ea typeface="+mn-ea"/>
        <a:cs typeface="+mn-cs"/>
      </a:defRPr>
    </a:lvl2pPr>
    <a:lvl3pPr marL="914400" algn="l" defTabSz="914400" rtl="0" eaLnBrk="1" latinLnBrk="0" hangingPunct="1">
      <a:defRPr lang="pt-BR" sz="1800" kern="1200">
        <a:solidFill>
          <a:schemeClr val="tx1"/>
        </a:solidFill>
        <a:latin typeface="+mn-lt"/>
        <a:ea typeface="+mn-ea"/>
        <a:cs typeface="+mn-cs"/>
      </a:defRPr>
    </a:lvl3pPr>
    <a:lvl4pPr marL="1371600" algn="l" defTabSz="914400" rtl="0" eaLnBrk="1" latinLnBrk="0" hangingPunct="1">
      <a:defRPr lang="pt-BR" sz="1800" kern="1200">
        <a:solidFill>
          <a:schemeClr val="tx1"/>
        </a:solidFill>
        <a:latin typeface="+mn-lt"/>
        <a:ea typeface="+mn-ea"/>
        <a:cs typeface="+mn-cs"/>
      </a:defRPr>
    </a:lvl4pPr>
    <a:lvl5pPr marL="1828800" algn="l" defTabSz="914400" rtl="0" eaLnBrk="1" latinLnBrk="0" hangingPunct="1">
      <a:defRPr lang="pt-BR" sz="1800" kern="1200">
        <a:solidFill>
          <a:schemeClr val="tx1"/>
        </a:solidFill>
        <a:latin typeface="+mn-lt"/>
        <a:ea typeface="+mn-ea"/>
        <a:cs typeface="+mn-cs"/>
      </a:defRPr>
    </a:lvl5pPr>
    <a:lvl6pPr marL="2286000" algn="l" defTabSz="914400" rtl="0" eaLnBrk="1" latinLnBrk="0" hangingPunct="1">
      <a:defRPr lang="pt-BR" sz="1800" kern="1200">
        <a:solidFill>
          <a:schemeClr val="tx1"/>
        </a:solidFill>
        <a:latin typeface="+mn-lt"/>
        <a:ea typeface="+mn-ea"/>
        <a:cs typeface="+mn-cs"/>
      </a:defRPr>
    </a:lvl6pPr>
    <a:lvl7pPr marL="2743200" algn="l" defTabSz="914400" rtl="0" eaLnBrk="1" latinLnBrk="0" hangingPunct="1">
      <a:defRPr lang="pt-BR" sz="1800" kern="1200">
        <a:solidFill>
          <a:schemeClr val="tx1"/>
        </a:solidFill>
        <a:latin typeface="+mn-lt"/>
        <a:ea typeface="+mn-ea"/>
        <a:cs typeface="+mn-cs"/>
      </a:defRPr>
    </a:lvl7pPr>
    <a:lvl8pPr marL="3200400" algn="l" defTabSz="914400" rtl="0" eaLnBrk="1" latinLnBrk="0" hangingPunct="1">
      <a:defRPr lang="pt-BR" sz="1800" kern="1200">
        <a:solidFill>
          <a:schemeClr val="tx1"/>
        </a:solidFill>
        <a:latin typeface="+mn-lt"/>
        <a:ea typeface="+mn-ea"/>
        <a:cs typeface="+mn-cs"/>
      </a:defRPr>
    </a:lvl8pPr>
    <a:lvl9pPr marL="3657600" algn="l" defTabSz="914400" rtl="0" eaLnBrk="1" latinLnBrk="0" hangingPunct="1">
      <a:defRPr lang="pt-B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4" name="Autor" initials="A" lastIdx="0" clrIdx="3"/>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593A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69012ECD-51FC-41F1-AA8D-1B2483CD663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72155" autoAdjust="0"/>
  </p:normalViewPr>
  <p:slideViewPr>
    <p:cSldViewPr snapToGrid="0">
      <p:cViewPr varScale="1">
        <p:scale>
          <a:sx n="80" d="100"/>
          <a:sy n="80" d="100"/>
        </p:scale>
        <p:origin x="1794" y="78"/>
      </p:cViewPr>
      <p:guideLst/>
    </p:cSldViewPr>
  </p:slideViewPr>
  <p:outlineViewPr>
    <p:cViewPr>
      <p:scale>
        <a:sx n="33" d="100"/>
        <a:sy n="33" d="100"/>
      </p:scale>
      <p:origin x="0" y="-5760"/>
    </p:cViewPr>
  </p:outlineViewPr>
  <p:notesTextViewPr>
    <p:cViewPr>
      <p:scale>
        <a:sx n="150" d="100"/>
        <a:sy n="150" d="100"/>
      </p:scale>
      <p:origin x="0" y="-7236"/>
    </p:cViewPr>
  </p:notesTextViewPr>
  <p:sorterViewPr>
    <p:cViewPr varScale="1">
      <p:scale>
        <a:sx n="100" d="100"/>
        <a:sy n="100" d="100"/>
      </p:scale>
      <p:origin x="0" y="-7325"/>
    </p:cViewPr>
  </p:sorterViewPr>
  <p:notesViewPr>
    <p:cSldViewPr snapToGrid="0">
      <p:cViewPr varScale="1">
        <p:scale>
          <a:sx n="82" d="100"/>
          <a:sy n="82" d="100"/>
        </p:scale>
        <p:origin x="3924" y="102"/>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tableStyles" Target="tableStyles.xml"/><Relationship Id="rId21" Type="http://schemas.openxmlformats.org/officeDocument/2006/relationships/slide" Target="slides/slide17.xml"/><Relationship Id="rId34" Type="http://schemas.openxmlformats.org/officeDocument/2006/relationships/handoutMaster" Target="handoutMasters/handout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notesMaster" Target="notesMasters/notesMaster1.xml"/><Relationship Id="rId38"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viewProps" Target="viewProps.xml"/><Relationship Id="rId40" Type="http://schemas.microsoft.com/office/2018/10/relationships/authors" Target="author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commentAuthors" Target="commentAuthors.xml"/><Relationship Id="rId8" Type="http://schemas.openxmlformats.org/officeDocument/2006/relationships/slide" Target="slides/slide4.xml"/><Relationship Id="rId3" Type="http://schemas.openxmlformats.org/officeDocument/2006/relationships/customXml" Target="../customXml/item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a:extLst>
              <a:ext uri="{FF2B5EF4-FFF2-40B4-BE49-F238E27FC236}">
                <a16:creationId xmlns:a16="http://schemas.microsoft.com/office/drawing/2014/main" id="{7FB8B65A-D69F-C26C-B67E-036EF77BF1F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lang="pt-BR" sz="1200"/>
            </a:lvl1pPr>
          </a:lstStyle>
          <a:p>
            <a:pPr rtl="0"/>
            <a:endParaRPr lang="pt-BR" dirty="0"/>
          </a:p>
        </p:txBody>
      </p:sp>
      <p:sp>
        <p:nvSpPr>
          <p:cNvPr id="3" name="Espaço Reservado para Data 2">
            <a:extLst>
              <a:ext uri="{FF2B5EF4-FFF2-40B4-BE49-F238E27FC236}">
                <a16:creationId xmlns:a16="http://schemas.microsoft.com/office/drawing/2014/main" id="{652B9064-AE57-427F-E5AF-71DE7D52FE6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lang="pt-BR" sz="1200"/>
            </a:lvl1pPr>
          </a:lstStyle>
          <a:p>
            <a:pPr rtl="0"/>
            <a:fld id="{8D0C1F59-543C-4408-97F4-1F494461D321}" type="datetime1">
              <a:rPr lang="pt-BR" smtClean="0"/>
              <a:t>14/08/2024</a:t>
            </a:fld>
            <a:endParaRPr lang="pt-BR" dirty="0"/>
          </a:p>
        </p:txBody>
      </p:sp>
      <p:sp>
        <p:nvSpPr>
          <p:cNvPr id="4" name="Espaço Reservado para Rodapé 3">
            <a:extLst>
              <a:ext uri="{FF2B5EF4-FFF2-40B4-BE49-F238E27FC236}">
                <a16:creationId xmlns:a16="http://schemas.microsoft.com/office/drawing/2014/main" id="{8186157A-CEB9-B0FC-3A49-BE950AEAD6F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lang="pt-BR" sz="1200"/>
            </a:lvl1pPr>
          </a:lstStyle>
          <a:p>
            <a:pPr rtl="0"/>
            <a:endParaRPr lang="pt-BR" dirty="0"/>
          </a:p>
        </p:txBody>
      </p:sp>
      <p:sp>
        <p:nvSpPr>
          <p:cNvPr id="5" name="Espaço Reservado para o Número do Slide 4">
            <a:extLst>
              <a:ext uri="{FF2B5EF4-FFF2-40B4-BE49-F238E27FC236}">
                <a16:creationId xmlns:a16="http://schemas.microsoft.com/office/drawing/2014/main" id="{E0819CA0-A57D-42D7-A625-56C22D0FA7C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lang="pt-BR" sz="1200"/>
            </a:lvl1pPr>
          </a:lstStyle>
          <a:p>
            <a:pPr rtl="0"/>
            <a:fld id="{EAFF3A6F-DEFA-45E0-9496-BEE7C2C6F3D0}" type="slidenum">
              <a:rPr lang="pt-BR" smtClean="0"/>
              <a:t>‹nº›</a:t>
            </a:fld>
            <a:endParaRPr lang="pt-BR" dirty="0"/>
          </a:p>
        </p:txBody>
      </p:sp>
    </p:spTree>
    <p:extLst>
      <p:ext uri="{BB962C8B-B14F-4D97-AF65-F5344CB8AC3E}">
        <p14:creationId xmlns:p14="http://schemas.microsoft.com/office/powerpoint/2010/main" val="140600222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lang="pt-BR" sz="1200"/>
            </a:lvl1pPr>
          </a:lstStyle>
          <a:p>
            <a:pPr rtl="0"/>
            <a:endParaRPr lang="pt-BR" dirty="0"/>
          </a:p>
        </p:txBody>
      </p:sp>
      <p:sp>
        <p:nvSpPr>
          <p:cNvPr id="3" name="Espaço Reservado para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lang="pt-BR" sz="1200"/>
            </a:lvl1pPr>
          </a:lstStyle>
          <a:p>
            <a:fld id="{C598E8C6-8B1B-4218-BD0A-BE1467626508}" type="datetime1">
              <a:rPr lang="pt-BR" smtClean="0"/>
              <a:pPr/>
              <a:t>14/08/2024</a:t>
            </a:fld>
            <a:endParaRPr lang="pt-BR" dirty="0"/>
          </a:p>
        </p:txBody>
      </p:sp>
      <p:sp>
        <p:nvSpPr>
          <p:cNvPr id="4" name="Espaço Reservado para Imagem do Slide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defPPr>
              <a:defRPr lang="pt-BR"/>
            </a:defPPr>
          </a:lstStyle>
          <a:p>
            <a:pPr rtl="0"/>
            <a:endParaRPr lang="pt-BR" dirty="0"/>
          </a:p>
        </p:txBody>
      </p:sp>
      <p:sp>
        <p:nvSpPr>
          <p:cNvPr id="5" name="Espaço Reservado para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defPPr>
              <a:defRPr lang="pt-BR"/>
            </a:defPPr>
          </a:lstStyle>
          <a:p>
            <a:pPr lvl="0" rtl="0"/>
            <a:r>
              <a:rPr lang="pt-BR"/>
              <a:t>Clique para editar o texto Mestre</a:t>
            </a:r>
          </a:p>
          <a:p>
            <a:pPr lvl="1" rtl="0"/>
            <a:r>
              <a:rPr lang="pt-BR"/>
              <a:t>Segundo nível</a:t>
            </a:r>
          </a:p>
          <a:p>
            <a:pPr lvl="2" rtl="0"/>
            <a:r>
              <a:rPr lang="pt-BR"/>
              <a:t>Terceiro nível</a:t>
            </a:r>
          </a:p>
          <a:p>
            <a:pPr lvl="3" rtl="0"/>
            <a:r>
              <a:rPr lang="pt-BR"/>
              <a:t>Quarto nível</a:t>
            </a:r>
          </a:p>
          <a:p>
            <a:pPr lvl="4" rtl="0"/>
            <a:r>
              <a:rPr lang="pt-BR"/>
              <a:t>Quinto nível</a:t>
            </a:r>
          </a:p>
        </p:txBody>
      </p:sp>
      <p:sp>
        <p:nvSpPr>
          <p:cNvPr id="6" name="Espaço Reservado para Rodapé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lang="pt-BR" sz="1200"/>
            </a:lvl1pPr>
          </a:lstStyle>
          <a:p>
            <a:pPr rtl="0"/>
            <a:endParaRPr lang="pt-BR" dirty="0"/>
          </a:p>
        </p:txBody>
      </p:sp>
      <p:sp>
        <p:nvSpPr>
          <p:cNvPr id="7" name="Espaço Reservado para o Número do Slid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lang="pt-BR" sz="1200"/>
            </a:lvl1pPr>
          </a:lstStyle>
          <a:p>
            <a:pPr rtl="0"/>
            <a:fld id="{F97DC217-DF71-1A49-B3EA-559F1F43B0FF}" type="slidenum">
              <a:rPr lang="pt-BR" smtClean="0"/>
              <a:t>‹nº›</a:t>
            </a:fld>
            <a:endParaRPr lang="pt-BR" dirty="0"/>
          </a:p>
        </p:txBody>
      </p:sp>
    </p:spTree>
    <p:extLst>
      <p:ext uri="{BB962C8B-B14F-4D97-AF65-F5344CB8AC3E}">
        <p14:creationId xmlns:p14="http://schemas.microsoft.com/office/powerpoint/2010/main" val="2846425201"/>
      </p:ext>
    </p:extLst>
  </p:cSld>
  <p:clrMap bg1="lt1" tx1="dk1" bg2="lt2" tx2="dk2" accent1="accent1" accent2="accent2" accent3="accent3" accent4="accent4" accent5="accent5" accent6="accent6" hlink="hlink" folHlink="folHlink"/>
  <p:notesStyle>
    <a:lvl1pPr marL="0" algn="l" defTabSz="914400" rtl="0" eaLnBrk="1" latinLnBrk="0" hangingPunct="1">
      <a:defRPr lang="pt-BR" sz="1200" kern="1200">
        <a:solidFill>
          <a:schemeClr val="tx1"/>
        </a:solidFill>
        <a:latin typeface="+mn-lt"/>
        <a:ea typeface="+mn-ea"/>
        <a:cs typeface="+mn-cs"/>
      </a:defRPr>
    </a:lvl1pPr>
    <a:lvl2pPr marL="457200" algn="l" defTabSz="914400" rtl="0" eaLnBrk="1" latinLnBrk="0" hangingPunct="1">
      <a:defRPr lang="pt-BR" sz="1200" kern="1200">
        <a:solidFill>
          <a:schemeClr val="tx1"/>
        </a:solidFill>
        <a:latin typeface="+mn-lt"/>
        <a:ea typeface="+mn-ea"/>
        <a:cs typeface="+mn-cs"/>
      </a:defRPr>
    </a:lvl2pPr>
    <a:lvl3pPr marL="914400" algn="l" defTabSz="914400" rtl="0" eaLnBrk="1" latinLnBrk="0" hangingPunct="1">
      <a:defRPr lang="pt-BR" sz="1200" kern="1200">
        <a:solidFill>
          <a:schemeClr val="tx1"/>
        </a:solidFill>
        <a:latin typeface="+mn-lt"/>
        <a:ea typeface="+mn-ea"/>
        <a:cs typeface="+mn-cs"/>
      </a:defRPr>
    </a:lvl3pPr>
    <a:lvl4pPr marL="1371600" algn="l" defTabSz="914400" rtl="0" eaLnBrk="1" latinLnBrk="0" hangingPunct="1">
      <a:defRPr lang="pt-BR" sz="1200" kern="1200">
        <a:solidFill>
          <a:schemeClr val="tx1"/>
        </a:solidFill>
        <a:latin typeface="+mn-lt"/>
        <a:ea typeface="+mn-ea"/>
        <a:cs typeface="+mn-cs"/>
      </a:defRPr>
    </a:lvl4pPr>
    <a:lvl5pPr marL="1828800" algn="l" defTabSz="914400" rtl="0" eaLnBrk="1" latinLnBrk="0" hangingPunct="1">
      <a:defRPr lang="pt-BR" sz="1200" kern="1200">
        <a:solidFill>
          <a:schemeClr val="tx1"/>
        </a:solidFill>
        <a:latin typeface="+mn-lt"/>
        <a:ea typeface="+mn-ea"/>
        <a:cs typeface="+mn-cs"/>
      </a:defRPr>
    </a:lvl5pPr>
    <a:lvl6pPr marL="2286000" algn="l" defTabSz="914400" rtl="0" eaLnBrk="1" latinLnBrk="0" hangingPunct="1">
      <a:defRPr lang="pt-BR" sz="1200" kern="1200">
        <a:solidFill>
          <a:schemeClr val="tx1"/>
        </a:solidFill>
        <a:latin typeface="+mn-lt"/>
        <a:ea typeface="+mn-ea"/>
        <a:cs typeface="+mn-cs"/>
      </a:defRPr>
    </a:lvl6pPr>
    <a:lvl7pPr marL="2743200" algn="l" defTabSz="914400" rtl="0" eaLnBrk="1" latinLnBrk="0" hangingPunct="1">
      <a:defRPr lang="pt-BR" sz="1200" kern="1200">
        <a:solidFill>
          <a:schemeClr val="tx1"/>
        </a:solidFill>
        <a:latin typeface="+mn-lt"/>
        <a:ea typeface="+mn-ea"/>
        <a:cs typeface="+mn-cs"/>
      </a:defRPr>
    </a:lvl7pPr>
    <a:lvl8pPr marL="3200400" algn="l" defTabSz="914400" rtl="0" eaLnBrk="1" latinLnBrk="0" hangingPunct="1">
      <a:defRPr lang="pt-BR" sz="1200" kern="1200">
        <a:solidFill>
          <a:schemeClr val="tx1"/>
        </a:solidFill>
        <a:latin typeface="+mn-lt"/>
        <a:ea typeface="+mn-ea"/>
        <a:cs typeface="+mn-cs"/>
      </a:defRPr>
    </a:lvl8pPr>
    <a:lvl9pPr marL="3657600" algn="l" defTabSz="914400" rtl="0" eaLnBrk="1" latinLnBrk="0" hangingPunct="1">
      <a:defRPr lang="pt-B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o Slide 1"/>
          <p:cNvSpPr>
            <a:spLocks noGrp="1" noRot="1" noChangeAspect="1"/>
          </p:cNvSpPr>
          <p:nvPr>
            <p:ph type="sldImg"/>
          </p:nvPr>
        </p:nvSpPr>
        <p:spPr/>
      </p:sp>
      <p:sp>
        <p:nvSpPr>
          <p:cNvPr id="3" name="Espaço Reservado para Notas 2"/>
          <p:cNvSpPr>
            <a:spLocks noGrp="1"/>
          </p:cNvSpPr>
          <p:nvPr>
            <p:ph type="body" idx="1"/>
          </p:nvPr>
        </p:nvSpPr>
        <p:spPr/>
        <p:txBody>
          <a:bodyPr rtlCol="0"/>
          <a:lstStyle>
            <a:defPPr>
              <a:defRPr lang="pt-BR"/>
            </a:defPPr>
          </a:lstStyle>
          <a:p>
            <a:r>
              <a:rPr lang="en-US" b="0" dirty="0"/>
              <a:t>The Academy of Management is the preeminent professional association for management and organization scholars. Our worldwide members are professors and PhD students in business schools at universities, academics in related social science and other fields, and practitioners who value knowledge creation and application. Founded in 1936, our global community today is nearly 18,000 strong and spans over 120 countries. Located in New York</a:t>
            </a:r>
          </a:p>
        </p:txBody>
      </p:sp>
      <p:sp>
        <p:nvSpPr>
          <p:cNvPr id="4" name="Espaço Reservado para o Número do Slide 3"/>
          <p:cNvSpPr>
            <a:spLocks noGrp="1"/>
          </p:cNvSpPr>
          <p:nvPr>
            <p:ph type="sldNum" sz="quarter" idx="5"/>
          </p:nvPr>
        </p:nvSpPr>
        <p:spPr/>
        <p:txBody>
          <a:bodyPr rtlCol="0"/>
          <a:lstStyle>
            <a:defPPr>
              <a:defRPr lang="pt-BR"/>
            </a:defPPr>
          </a:lstStyle>
          <a:p>
            <a:pPr rtl="0"/>
            <a:fld id="{F97DC217-DF71-1A49-B3EA-559F1F43B0FF}" type="slidenum">
              <a:rPr lang="pt-BR" smtClean="0"/>
              <a:t>1</a:t>
            </a:fld>
            <a:endParaRPr lang="pt-BR" dirty="0"/>
          </a:p>
        </p:txBody>
      </p:sp>
    </p:spTree>
    <p:extLst>
      <p:ext uri="{BB962C8B-B14F-4D97-AF65-F5344CB8AC3E}">
        <p14:creationId xmlns:p14="http://schemas.microsoft.com/office/powerpoint/2010/main" val="193894890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o Slide 1"/>
          <p:cNvSpPr>
            <a:spLocks noGrp="1" noRot="1" noChangeAspect="1"/>
          </p:cNvSpPr>
          <p:nvPr>
            <p:ph type="sldImg"/>
          </p:nvPr>
        </p:nvSpPr>
        <p:spPr/>
      </p:sp>
      <p:sp>
        <p:nvSpPr>
          <p:cNvPr id="3" name="Espaço Reservado para Notas 2"/>
          <p:cNvSpPr>
            <a:spLocks noGrp="1"/>
          </p:cNvSpPr>
          <p:nvPr>
            <p:ph type="body" idx="1"/>
          </p:nvPr>
        </p:nvSpPr>
        <p:spPr/>
        <p:txBody>
          <a:bodyPr rtlCol="0"/>
          <a:lstStyle>
            <a:defPPr>
              <a:defRPr lang="pt-BR"/>
            </a:defPPr>
          </a:lstStyle>
          <a:p>
            <a:pPr rtl="0"/>
            <a:endParaRPr lang="pt-BR" dirty="0"/>
          </a:p>
        </p:txBody>
      </p:sp>
      <p:sp>
        <p:nvSpPr>
          <p:cNvPr id="4" name="Espaço Reservado para o Número do Slide 3"/>
          <p:cNvSpPr>
            <a:spLocks noGrp="1"/>
          </p:cNvSpPr>
          <p:nvPr>
            <p:ph type="sldNum" sz="quarter" idx="5"/>
          </p:nvPr>
        </p:nvSpPr>
        <p:spPr/>
        <p:txBody>
          <a:bodyPr rtlCol="0"/>
          <a:lstStyle>
            <a:defPPr>
              <a:defRPr lang="pt-BR"/>
            </a:defPPr>
          </a:lstStyle>
          <a:p>
            <a:pPr rtl="0"/>
            <a:fld id="{F97DC217-DF71-1A49-B3EA-559F1F43B0FF}" type="slidenum">
              <a:rPr lang="pt-BR" smtClean="0"/>
              <a:t>2</a:t>
            </a:fld>
            <a:endParaRPr lang="pt-BR" dirty="0"/>
          </a:p>
        </p:txBody>
      </p:sp>
    </p:spTree>
    <p:extLst>
      <p:ext uri="{BB962C8B-B14F-4D97-AF65-F5344CB8AC3E}">
        <p14:creationId xmlns:p14="http://schemas.microsoft.com/office/powerpoint/2010/main" val="29152478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dirty="0"/>
              <a:t>- A teoria do processo de trabalho (LPT) é uma teoria marxista da organização do trabalho sob o capitalismo. Pesquisadores em estudos críticos de gestão, estudos organizacionais e disciplinas relacionadas têm usado a LPT para explicar relacionamentos antagônicos entre empregadores e empregados em economias capitalistas, com foco particular em problemas de desqualificação, autonomia do trabalhador e controle gerencial no ponto de produção.</a:t>
            </a:r>
            <a:br>
              <a:rPr lang="pt-BR" dirty="0"/>
            </a:br>
            <a:br>
              <a:rPr lang="pt-BR" dirty="0"/>
            </a:br>
            <a:r>
              <a:rPr lang="pt-BR" dirty="0"/>
              <a:t>- Em Trabalho e Capital Monopolista: Degradação do Trabalho no Século XX, </a:t>
            </a:r>
            <a:r>
              <a:rPr lang="pt-BR" dirty="0" err="1"/>
              <a:t>Braverman</a:t>
            </a:r>
            <a:r>
              <a:rPr lang="pt-BR" dirty="0"/>
              <a:t> busca recuperar e atualizar as críticas de Marx ao processo de trabalho capitalista por meio de um ataque às descrições burguesas do trabalho na sociedade industrial.</a:t>
            </a:r>
            <a:br>
              <a:rPr lang="pt-BR" dirty="0"/>
            </a:br>
            <a:endParaRPr lang="pt-BR" dirty="0"/>
          </a:p>
          <a:p>
            <a:r>
              <a:rPr lang="pt-BR" dirty="0"/>
              <a:t>- </a:t>
            </a:r>
            <a:r>
              <a:rPr lang="pt-BR" dirty="0" err="1"/>
              <a:t>Contested</a:t>
            </a:r>
            <a:r>
              <a:rPr lang="pt-BR" dirty="0"/>
              <a:t> </a:t>
            </a:r>
            <a:r>
              <a:rPr lang="pt-BR" dirty="0" err="1"/>
              <a:t>Terrain</a:t>
            </a:r>
            <a:r>
              <a:rPr lang="pt-BR" dirty="0"/>
              <a:t>: O estudo controverso de um jovem economista radical sobre a transformação do local de trabalho - onde hoje as burocracias impessoais legitimam hierarquias e aumentam o controle do empregador sobre o trabalhador</a:t>
            </a:r>
          </a:p>
        </p:txBody>
      </p:sp>
      <p:sp>
        <p:nvSpPr>
          <p:cNvPr id="4" name="Espaço Reservado para Número de Slide 3"/>
          <p:cNvSpPr>
            <a:spLocks noGrp="1"/>
          </p:cNvSpPr>
          <p:nvPr>
            <p:ph type="sldNum" sz="quarter" idx="5"/>
          </p:nvPr>
        </p:nvSpPr>
        <p:spPr/>
        <p:txBody>
          <a:bodyPr/>
          <a:lstStyle/>
          <a:p>
            <a:pPr rtl="0"/>
            <a:fld id="{F97DC217-DF71-1A49-B3EA-559F1F43B0FF}" type="slidenum">
              <a:rPr lang="pt-BR" smtClean="0"/>
              <a:t>3</a:t>
            </a:fld>
            <a:endParaRPr lang="pt-BR" dirty="0"/>
          </a:p>
        </p:txBody>
      </p:sp>
    </p:spTree>
    <p:extLst>
      <p:ext uri="{BB962C8B-B14F-4D97-AF65-F5344CB8AC3E}">
        <p14:creationId xmlns:p14="http://schemas.microsoft.com/office/powerpoint/2010/main" val="360602153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o Slide 1"/>
          <p:cNvSpPr>
            <a:spLocks noGrp="1" noRot="1" noChangeAspect="1"/>
          </p:cNvSpPr>
          <p:nvPr>
            <p:ph type="sldImg"/>
          </p:nvPr>
        </p:nvSpPr>
        <p:spPr/>
      </p:sp>
      <p:sp>
        <p:nvSpPr>
          <p:cNvPr id="3" name="Espaço Reservado para Notas 2"/>
          <p:cNvSpPr>
            <a:spLocks noGrp="1"/>
          </p:cNvSpPr>
          <p:nvPr>
            <p:ph type="body" idx="1"/>
          </p:nvPr>
        </p:nvSpPr>
        <p:spPr/>
        <p:txBody>
          <a:bodyPr rtlCol="0"/>
          <a:lstStyle>
            <a:defPPr>
              <a:defRPr lang="pt-BR"/>
            </a:defPPr>
          </a:lstStyle>
          <a:p>
            <a:pPr rtl="0"/>
            <a:endParaRPr lang="pt-BR" dirty="0"/>
          </a:p>
        </p:txBody>
      </p:sp>
      <p:sp>
        <p:nvSpPr>
          <p:cNvPr id="4" name="Espaço Reservado para o Número do Slide 3"/>
          <p:cNvSpPr>
            <a:spLocks noGrp="1"/>
          </p:cNvSpPr>
          <p:nvPr>
            <p:ph type="sldNum" sz="quarter" idx="5"/>
          </p:nvPr>
        </p:nvSpPr>
        <p:spPr/>
        <p:txBody>
          <a:bodyPr rtlCol="0"/>
          <a:lstStyle>
            <a:defPPr>
              <a:defRPr lang="pt-BR"/>
            </a:defPPr>
          </a:lstStyle>
          <a:p>
            <a:pPr rtl="0"/>
            <a:fld id="{F97DC217-DF71-1A49-B3EA-559F1F43B0FF}" type="slidenum">
              <a:rPr lang="pt-BR" smtClean="0"/>
              <a:t>4</a:t>
            </a:fld>
            <a:endParaRPr lang="pt-BR" dirty="0"/>
          </a:p>
        </p:txBody>
      </p:sp>
    </p:spTree>
    <p:extLst>
      <p:ext uri="{BB962C8B-B14F-4D97-AF65-F5344CB8AC3E}">
        <p14:creationId xmlns:p14="http://schemas.microsoft.com/office/powerpoint/2010/main" val="120054324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o Slide 1"/>
          <p:cNvSpPr>
            <a:spLocks noGrp="1" noRot="1" noChangeAspect="1"/>
          </p:cNvSpPr>
          <p:nvPr>
            <p:ph type="sldImg"/>
          </p:nvPr>
        </p:nvSpPr>
        <p:spPr/>
      </p:sp>
      <p:sp>
        <p:nvSpPr>
          <p:cNvPr id="3" name="Espaço Reservado para Notas 2"/>
          <p:cNvSpPr>
            <a:spLocks noGrp="1"/>
          </p:cNvSpPr>
          <p:nvPr>
            <p:ph type="body" idx="1"/>
          </p:nvPr>
        </p:nvSpPr>
        <p:spPr/>
        <p:txBody>
          <a:bodyPr rtlCol="0"/>
          <a:lstStyle>
            <a:defPPr>
              <a:defRPr lang="pt-BR"/>
            </a:defPPr>
          </a:lstStyle>
          <a:p>
            <a:pPr rtl="0"/>
            <a:r>
              <a:rPr lang="pt-BR" sz="1800" b="0" i="0" dirty="0">
                <a:solidFill>
                  <a:srgbClr val="000000"/>
                </a:solidFill>
                <a:effectLst/>
                <a:latin typeface="AdvOT72a5abab"/>
              </a:rPr>
              <a:t>Esses diferentes sistemas de controle racional devem ser vistos como tipos ideais; na prática, os modelos de controle frequentemente se sobrepõem e podem ser combinados em formas híbridas (por exemplo, </a:t>
            </a:r>
            <a:r>
              <a:rPr lang="pt-BR" sz="1800" b="0" i="0" dirty="0" err="1">
                <a:solidFill>
                  <a:srgbClr val="000000"/>
                </a:solidFill>
                <a:effectLst/>
                <a:latin typeface="AdvOT72a5abab"/>
              </a:rPr>
              <a:t>Barley</a:t>
            </a:r>
            <a:r>
              <a:rPr lang="pt-BR" sz="1800" b="0" i="0" dirty="0">
                <a:solidFill>
                  <a:srgbClr val="000000"/>
                </a:solidFill>
                <a:effectLst/>
                <a:latin typeface="AdvOT72a5abab"/>
              </a:rPr>
              <a:t> &amp; Kunda, 1992; Cardinal, </a:t>
            </a:r>
            <a:r>
              <a:rPr lang="pt-BR" sz="1800" b="0" i="0" dirty="0" err="1">
                <a:solidFill>
                  <a:srgbClr val="000000"/>
                </a:solidFill>
                <a:effectLst/>
                <a:latin typeface="AdvOT72a5abab"/>
              </a:rPr>
              <a:t>Kreutzer</a:t>
            </a:r>
            <a:r>
              <a:rPr lang="pt-BR" sz="1800" b="0" i="0" dirty="0">
                <a:solidFill>
                  <a:srgbClr val="000000"/>
                </a:solidFill>
                <a:effectLst/>
                <a:latin typeface="AdvOT72a5abab"/>
              </a:rPr>
              <a:t>, &amp; Miller, 2017; </a:t>
            </a:r>
            <a:r>
              <a:rPr lang="pt-BR" sz="1800" b="0" i="0" dirty="0" err="1">
                <a:solidFill>
                  <a:srgbClr val="000000"/>
                </a:solidFill>
                <a:effectLst/>
                <a:latin typeface="AdvOT72a5abab"/>
              </a:rPr>
              <a:t>Sitkin</a:t>
            </a:r>
            <a:r>
              <a:rPr lang="pt-BR" sz="1800" b="0" i="0" dirty="0">
                <a:solidFill>
                  <a:srgbClr val="000000"/>
                </a:solidFill>
                <a:effectLst/>
                <a:latin typeface="AdvOT72a5abab"/>
              </a:rPr>
              <a:t>, Cardinal, &amp; </a:t>
            </a:r>
            <a:r>
              <a:rPr lang="pt-BR" sz="1800" b="0" i="0" dirty="0" err="1">
                <a:solidFill>
                  <a:srgbClr val="000000"/>
                </a:solidFill>
                <a:effectLst/>
                <a:latin typeface="AdvOT72a5abab"/>
              </a:rPr>
              <a:t>Bijlsma-Frankema</a:t>
            </a:r>
            <a:r>
              <a:rPr lang="pt-BR" sz="1800" b="0" i="0" dirty="0">
                <a:solidFill>
                  <a:srgbClr val="000000"/>
                </a:solidFill>
                <a:effectLst/>
                <a:latin typeface="AdvOT72a5abab"/>
              </a:rPr>
              <a:t>, 2010).</a:t>
            </a:r>
            <a:endParaRPr lang="pt-BR" dirty="0"/>
          </a:p>
        </p:txBody>
      </p:sp>
      <p:sp>
        <p:nvSpPr>
          <p:cNvPr id="4" name="Espaço Reservado para o Número do Slide 3"/>
          <p:cNvSpPr>
            <a:spLocks noGrp="1"/>
          </p:cNvSpPr>
          <p:nvPr>
            <p:ph type="sldNum" sz="quarter" idx="5"/>
          </p:nvPr>
        </p:nvSpPr>
        <p:spPr/>
        <p:txBody>
          <a:bodyPr rtlCol="0"/>
          <a:lstStyle>
            <a:defPPr>
              <a:defRPr lang="pt-BR"/>
            </a:defPPr>
          </a:lstStyle>
          <a:p>
            <a:pPr rtl="0"/>
            <a:fld id="{F97DC217-DF71-1A49-B3EA-559F1F43B0FF}" type="slidenum">
              <a:rPr lang="pt-BR" smtClean="0"/>
              <a:t>5</a:t>
            </a:fld>
            <a:endParaRPr lang="pt-BR" dirty="0"/>
          </a:p>
        </p:txBody>
      </p:sp>
    </p:spTree>
    <p:extLst>
      <p:ext uri="{BB962C8B-B14F-4D97-AF65-F5344CB8AC3E}">
        <p14:creationId xmlns:p14="http://schemas.microsoft.com/office/powerpoint/2010/main" val="10158595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o Slide 1"/>
          <p:cNvSpPr>
            <a:spLocks noGrp="1" noRot="1" noChangeAspect="1"/>
          </p:cNvSpPr>
          <p:nvPr>
            <p:ph type="sldImg"/>
          </p:nvPr>
        </p:nvSpPr>
        <p:spPr/>
      </p:sp>
      <p:sp>
        <p:nvSpPr>
          <p:cNvPr id="3" name="Espaço Reservado para Notas 2"/>
          <p:cNvSpPr>
            <a:spLocks noGrp="1"/>
          </p:cNvSpPr>
          <p:nvPr>
            <p:ph type="body" idx="1"/>
          </p:nvPr>
        </p:nvSpPr>
        <p:spPr/>
        <p:txBody>
          <a:bodyPr rtlCol="0"/>
          <a:lstStyle>
            <a:defPPr>
              <a:defRPr lang="pt-BR"/>
            </a:defPPr>
          </a:lstStyle>
          <a:p>
            <a:pPr marL="285750" indent="-285750" rtl="0">
              <a:buFontTx/>
              <a:buChar char="-"/>
            </a:pPr>
            <a:r>
              <a:rPr lang="en-US" sz="1800" b="0" i="0" dirty="0">
                <a:solidFill>
                  <a:srgbClr val="000000"/>
                </a:solidFill>
                <a:effectLst/>
                <a:latin typeface="AdvOT72a5abab"/>
              </a:rPr>
              <a:t>DECISÕES MAIS PRECISAS - First, existing studies have documented how algorithmic technologies can enable individuals to make more accurate decisions than they did before</a:t>
            </a:r>
            <a:r>
              <a:rPr lang="en-US" dirty="0"/>
              <a:t> </a:t>
            </a:r>
            <a:br>
              <a:rPr lang="en-US" dirty="0"/>
            </a:br>
            <a:endParaRPr lang="en-US" dirty="0"/>
          </a:p>
          <a:p>
            <a:pPr marL="171450" indent="-171450" rtl="0">
              <a:buFontTx/>
              <a:buChar char="-"/>
            </a:pPr>
            <a:r>
              <a:rPr lang="en-US" sz="1800" b="0" i="0" dirty="0">
                <a:solidFill>
                  <a:srgbClr val="000000"/>
                </a:solidFill>
                <a:effectLst/>
                <a:latin typeface="AdvOT72a5abab"/>
              </a:rPr>
              <a:t>AUTOMAÇÃO DA COORDENAÇÃO - Second, scholars have found that algorithmic technologies can automate coordination processes in ways that produce economic value for employers</a:t>
            </a:r>
            <a:r>
              <a:rPr lang="en-US" dirty="0"/>
              <a:t> </a:t>
            </a:r>
            <a:br>
              <a:rPr lang="en-US" dirty="0"/>
            </a:br>
            <a:endParaRPr lang="en-US" dirty="0"/>
          </a:p>
          <a:p>
            <a:pPr marL="171450" indent="-171450" rtl="0">
              <a:buFontTx/>
              <a:buChar char="-"/>
            </a:pPr>
            <a:r>
              <a:rPr lang="en-US" sz="1800" b="0" i="0" dirty="0">
                <a:solidFill>
                  <a:srgbClr val="000000"/>
                </a:solidFill>
                <a:effectLst/>
                <a:latin typeface="AdvOT72a5abab"/>
              </a:rPr>
              <a:t>AUTOMAÇÃO DO APRENDIZADO ORGANIZACIONAL - Third how employers can use algorithmic technologies to automate organizational learning in ways that produce economic</a:t>
            </a:r>
            <a:r>
              <a:rPr lang="en-US" dirty="0"/>
              <a:t> </a:t>
            </a:r>
            <a:br>
              <a:rPr lang="en-US" dirty="0"/>
            </a:br>
            <a:br>
              <a:rPr lang="en-US" dirty="0"/>
            </a:br>
            <a:endParaRPr lang="en-US" dirty="0"/>
          </a:p>
          <a:p>
            <a:pPr marL="171450" indent="-171450" rtl="0">
              <a:buFontTx/>
              <a:buChar char="-"/>
            </a:pPr>
            <a:endParaRPr lang="pt-BR" dirty="0"/>
          </a:p>
        </p:txBody>
      </p:sp>
      <p:sp>
        <p:nvSpPr>
          <p:cNvPr id="4" name="Espaço Reservado para o Número do Slide 3"/>
          <p:cNvSpPr>
            <a:spLocks noGrp="1"/>
          </p:cNvSpPr>
          <p:nvPr>
            <p:ph type="sldNum" sz="quarter" idx="5"/>
          </p:nvPr>
        </p:nvSpPr>
        <p:spPr/>
        <p:txBody>
          <a:bodyPr rtlCol="0"/>
          <a:lstStyle>
            <a:defPPr>
              <a:defRPr lang="pt-BR"/>
            </a:defPPr>
          </a:lstStyle>
          <a:p>
            <a:pPr rtl="0"/>
            <a:fld id="{F97DC217-DF71-1A49-B3EA-559F1F43B0FF}" type="slidenum">
              <a:rPr lang="pt-BR" smtClean="0"/>
              <a:t>6</a:t>
            </a:fld>
            <a:endParaRPr lang="pt-BR" dirty="0"/>
          </a:p>
        </p:txBody>
      </p:sp>
    </p:spTree>
    <p:extLst>
      <p:ext uri="{BB962C8B-B14F-4D97-AF65-F5344CB8AC3E}">
        <p14:creationId xmlns:p14="http://schemas.microsoft.com/office/powerpoint/2010/main" val="2350937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o Slide 1"/>
          <p:cNvSpPr>
            <a:spLocks noGrp="1" noRot="1" noChangeAspect="1"/>
          </p:cNvSpPr>
          <p:nvPr>
            <p:ph type="sldImg"/>
          </p:nvPr>
        </p:nvSpPr>
        <p:spPr/>
      </p:sp>
      <p:sp>
        <p:nvSpPr>
          <p:cNvPr id="3" name="Espaço Reservado para Notas 2"/>
          <p:cNvSpPr>
            <a:spLocks noGrp="1"/>
          </p:cNvSpPr>
          <p:nvPr>
            <p:ph type="body" idx="1"/>
          </p:nvPr>
        </p:nvSpPr>
        <p:spPr/>
        <p:txBody>
          <a:bodyPr rtlCol="0"/>
          <a:lstStyle>
            <a:defPPr>
              <a:defRPr lang="pt-BR"/>
            </a:defPPr>
          </a:lstStyle>
          <a:p>
            <a:pPr marL="171450" indent="-171450" rtl="0">
              <a:buFontTx/>
              <a:buChar char="-"/>
            </a:pPr>
            <a:r>
              <a:rPr lang="pt-BR" dirty="0"/>
              <a:t>1) Aplicar uma perspectiva de processo de trabalho </a:t>
            </a:r>
            <a:r>
              <a:rPr lang="pt-BR" dirty="0" err="1"/>
              <a:t>àcompreensão</a:t>
            </a:r>
            <a:r>
              <a:rPr lang="pt-BR" dirty="0"/>
              <a:t> dominante de algoritmos </a:t>
            </a:r>
            <a:r>
              <a:rPr lang="pt-BR" dirty="0" err="1"/>
              <a:t>chamaa</a:t>
            </a:r>
            <a:r>
              <a:rPr lang="pt-BR" dirty="0"/>
              <a:t> atenção para o caráter estruturalmente </a:t>
            </a:r>
            <a:r>
              <a:rPr lang="pt-BR" dirty="0" err="1"/>
              <a:t>antagônicodas</a:t>
            </a:r>
            <a:r>
              <a:rPr lang="pt-BR" dirty="0"/>
              <a:t> relações empregador-trabalhador. Ela nos permite entender sistemas algorítmicos não como ferramentas </a:t>
            </a:r>
            <a:r>
              <a:rPr lang="pt-BR" dirty="0" err="1"/>
              <a:t>neutrasque</a:t>
            </a:r>
            <a:r>
              <a:rPr lang="pt-BR" dirty="0"/>
              <a:t> facilitam a eficiência e melhoram as trocas de comunicação, mas como instrumentos em disputa </a:t>
            </a:r>
            <a:r>
              <a:rPr lang="pt-BR" dirty="0" err="1"/>
              <a:t>decontrole</a:t>
            </a:r>
            <a:r>
              <a:rPr lang="pt-BR" dirty="0"/>
              <a:t> que carregam preferências ideológicas específicas</a:t>
            </a:r>
            <a:br>
              <a:rPr lang="pt-BR" dirty="0"/>
            </a:br>
            <a:endParaRPr lang="pt-BR" dirty="0"/>
          </a:p>
          <a:p>
            <a:pPr marL="171450" indent="-171450" rtl="0">
              <a:buFontTx/>
              <a:buChar char="-"/>
            </a:pPr>
            <a:r>
              <a:rPr lang="pt-BR" dirty="0"/>
              <a:t>2) Nossa aplicação da estrutura de direção, avaliação e disciplina de Edwards </a:t>
            </a:r>
            <a:r>
              <a:rPr lang="pt-BR" dirty="0" err="1"/>
              <a:t>revelacomo</a:t>
            </a:r>
            <a:r>
              <a:rPr lang="pt-BR" dirty="0"/>
              <a:t> os empregadores podem usar algoritmos para garantir uma </a:t>
            </a:r>
            <a:r>
              <a:rPr lang="pt-BR" dirty="0" err="1"/>
              <a:t>parcelade</a:t>
            </a:r>
            <a:r>
              <a:rPr lang="pt-BR" dirty="0"/>
              <a:t> capital dos esforços dos trabalhadores, enquanto </a:t>
            </a:r>
            <a:r>
              <a:rPr lang="pt-BR" dirty="0" err="1"/>
              <a:t>obscurecemseus</a:t>
            </a:r>
            <a:r>
              <a:rPr lang="pt-BR" dirty="0"/>
              <a:t> métodos para fazê-lo; isso pode, por sua vez, ajudar </a:t>
            </a:r>
            <a:r>
              <a:rPr lang="pt-BR" dirty="0" err="1"/>
              <a:t>aprevenir</a:t>
            </a:r>
            <a:r>
              <a:rPr lang="pt-BR" dirty="0"/>
              <a:t> ou impedir a contestação dos trabalhadores</a:t>
            </a:r>
            <a:br>
              <a:rPr lang="pt-BR" dirty="0"/>
            </a:br>
            <a:endParaRPr lang="pt-BR" dirty="0"/>
          </a:p>
          <a:p>
            <a:pPr marL="171450" indent="-171450" rtl="0">
              <a:buFontTx/>
              <a:buChar char="-"/>
            </a:pPr>
            <a:r>
              <a:rPr lang="pt-BR" dirty="0"/>
              <a:t>3) Estudiosos </a:t>
            </a:r>
            <a:r>
              <a:rPr lang="pt-BR" dirty="0" err="1"/>
              <a:t>deestratégia</a:t>
            </a:r>
            <a:r>
              <a:rPr lang="pt-BR" dirty="0"/>
              <a:t> organizacional, economia, sistemas de informação e interação humano-computador têm se concentrado principalmente na eficiência e na obtenção de metas </a:t>
            </a:r>
            <a:r>
              <a:rPr lang="pt-BR" dirty="0" err="1"/>
              <a:t>organizacionaispossibilitadas</a:t>
            </a:r>
            <a:r>
              <a:rPr lang="pt-BR" dirty="0"/>
              <a:t> pelo uso de sistemas </a:t>
            </a:r>
            <a:r>
              <a:rPr lang="pt-BR" dirty="0" err="1"/>
              <a:t>algorítmicos,mas</a:t>
            </a:r>
            <a:r>
              <a:rPr lang="pt-BR" dirty="0"/>
              <a:t> têm ignorado amplamente o tópico de </a:t>
            </a:r>
            <a:r>
              <a:rPr lang="pt-BR" dirty="0" err="1"/>
              <a:t>comoo</a:t>
            </a:r>
            <a:r>
              <a:rPr lang="pt-BR" dirty="0"/>
              <a:t> uso de algoritmos pelos empregadores pode afetar </a:t>
            </a:r>
            <a:r>
              <a:rPr lang="pt-BR" dirty="0" err="1"/>
              <a:t>negativamenteos</a:t>
            </a:r>
            <a:r>
              <a:rPr lang="pt-BR" dirty="0"/>
              <a:t> trabalhadores.</a:t>
            </a:r>
            <a:br>
              <a:rPr lang="pt-BR" dirty="0"/>
            </a:br>
            <a:endParaRPr lang="pt-BR" dirty="0"/>
          </a:p>
          <a:p>
            <a:pPr marL="171450" indent="-171450" rtl="0">
              <a:buFontTx/>
              <a:buChar char="-"/>
            </a:pPr>
            <a:r>
              <a:rPr lang="pt-BR" dirty="0"/>
              <a:t>4) As organizações podem facilitar resultados mais positivos para os trabalhadores tanto por meio de práticas gerenciais informais quanto por meio da estruturação formal do processo de trabalho.</a:t>
            </a:r>
            <a:br>
              <a:rPr lang="pt-BR" dirty="0"/>
            </a:br>
            <a:endParaRPr lang="pt-BR" dirty="0"/>
          </a:p>
          <a:p>
            <a:pPr marL="171450" indent="-171450" rtl="0">
              <a:buFontTx/>
              <a:buChar char="-"/>
            </a:pPr>
            <a:endParaRPr lang="pt-BR" dirty="0"/>
          </a:p>
          <a:p>
            <a:pPr marL="171450" indent="-171450" rtl="0">
              <a:buFontTx/>
              <a:buChar char="-"/>
            </a:pPr>
            <a:endParaRPr lang="pt-BR" dirty="0"/>
          </a:p>
          <a:p>
            <a:pPr marL="171450" indent="-171450" rtl="0">
              <a:buFontTx/>
              <a:buChar char="-"/>
            </a:pPr>
            <a:endParaRPr lang="pt-BR" dirty="0"/>
          </a:p>
        </p:txBody>
      </p:sp>
      <p:sp>
        <p:nvSpPr>
          <p:cNvPr id="4" name="Espaço Reservado para o Número do Slide 3"/>
          <p:cNvSpPr>
            <a:spLocks noGrp="1"/>
          </p:cNvSpPr>
          <p:nvPr>
            <p:ph type="sldNum" sz="quarter" idx="5"/>
          </p:nvPr>
        </p:nvSpPr>
        <p:spPr/>
        <p:txBody>
          <a:bodyPr rtlCol="0"/>
          <a:lstStyle>
            <a:defPPr>
              <a:defRPr lang="pt-BR"/>
            </a:defPPr>
          </a:lstStyle>
          <a:p>
            <a:pPr rtl="0"/>
            <a:fld id="{F97DC217-DF71-1A49-B3EA-559F1F43B0FF}" type="slidenum">
              <a:rPr lang="pt-BR" smtClean="0"/>
              <a:t>7</a:t>
            </a:fld>
            <a:endParaRPr lang="pt-BR" dirty="0"/>
          </a:p>
        </p:txBody>
      </p:sp>
    </p:spTree>
    <p:extLst>
      <p:ext uri="{BB962C8B-B14F-4D97-AF65-F5344CB8AC3E}">
        <p14:creationId xmlns:p14="http://schemas.microsoft.com/office/powerpoint/2010/main" val="222864796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o Slide 1"/>
          <p:cNvSpPr>
            <a:spLocks noGrp="1" noRot="1" noChangeAspect="1"/>
          </p:cNvSpPr>
          <p:nvPr>
            <p:ph type="sldImg"/>
          </p:nvPr>
        </p:nvSpPr>
        <p:spPr/>
      </p:sp>
      <p:sp>
        <p:nvSpPr>
          <p:cNvPr id="3" name="Espaço Reservado para Notas 2"/>
          <p:cNvSpPr>
            <a:spLocks noGrp="1"/>
          </p:cNvSpPr>
          <p:nvPr>
            <p:ph type="body" idx="1"/>
          </p:nvPr>
        </p:nvSpPr>
        <p:spPr/>
        <p:txBody>
          <a:bodyPr rtlCol="0"/>
          <a:lstStyle>
            <a:defPPr>
              <a:defRPr lang="pt-BR"/>
            </a:defPPr>
          </a:lstStyle>
          <a:p>
            <a:pPr rtl="0"/>
            <a:endParaRPr lang="pt-BR" dirty="0"/>
          </a:p>
        </p:txBody>
      </p:sp>
      <p:sp>
        <p:nvSpPr>
          <p:cNvPr id="4" name="Espaço Reservado para o Número do Slide 3"/>
          <p:cNvSpPr>
            <a:spLocks noGrp="1"/>
          </p:cNvSpPr>
          <p:nvPr>
            <p:ph type="sldNum" sz="quarter" idx="5"/>
          </p:nvPr>
        </p:nvSpPr>
        <p:spPr/>
        <p:txBody>
          <a:bodyPr rtlCol="0"/>
          <a:lstStyle>
            <a:defPPr>
              <a:defRPr lang="pt-BR"/>
            </a:defPPr>
          </a:lstStyle>
          <a:p>
            <a:pPr rtl="0"/>
            <a:fld id="{F97DC217-DF71-1A49-B3EA-559F1F43B0FF}" type="slidenum">
              <a:rPr lang="pt-BR" smtClean="0"/>
              <a:t>8</a:t>
            </a:fld>
            <a:endParaRPr lang="pt-BR" dirty="0"/>
          </a:p>
        </p:txBody>
      </p:sp>
    </p:spTree>
    <p:extLst>
      <p:ext uri="{BB962C8B-B14F-4D97-AF65-F5344CB8AC3E}">
        <p14:creationId xmlns:p14="http://schemas.microsoft.com/office/powerpoint/2010/main" val="371126389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o Slide 1"/>
          <p:cNvSpPr>
            <a:spLocks noGrp="1" noRot="1" noChangeAspect="1"/>
          </p:cNvSpPr>
          <p:nvPr>
            <p:ph type="sldImg"/>
          </p:nvPr>
        </p:nvSpPr>
        <p:spPr/>
      </p:sp>
      <p:sp>
        <p:nvSpPr>
          <p:cNvPr id="3" name="Espaço Reservado para Notas 2"/>
          <p:cNvSpPr>
            <a:spLocks noGrp="1"/>
          </p:cNvSpPr>
          <p:nvPr>
            <p:ph type="body" idx="1"/>
          </p:nvPr>
        </p:nvSpPr>
        <p:spPr/>
        <p:txBody>
          <a:bodyPr rtlCol="0"/>
          <a:lstStyle>
            <a:defPPr>
              <a:defRPr lang="pt-BR"/>
            </a:defPPr>
          </a:lstStyle>
          <a:p>
            <a:pPr marL="171450" indent="-171450" rtl="0">
              <a:buFontTx/>
              <a:buChar char="-"/>
            </a:pPr>
            <a:r>
              <a:rPr lang="pt-BR" dirty="0"/>
              <a:t>CONTROLE NORMATIVO:  Os empregadores usam o controle normativo quando tentam obter o comportamento desejado dos trabalhadores “conquistando seus corações e mentes” </a:t>
            </a:r>
          </a:p>
          <a:p>
            <a:pPr marL="171450" indent="-171450" rtl="0">
              <a:buFontTx/>
              <a:buChar char="-"/>
            </a:pPr>
            <a:endParaRPr lang="pt-BR" dirty="0"/>
          </a:p>
          <a:p>
            <a:pPr marL="171450" indent="-171450" rtl="0">
              <a:buFontTx/>
              <a:buChar char="-"/>
            </a:pPr>
            <a:r>
              <a:rPr lang="pt-BR" dirty="0"/>
              <a:t>CONTROLE RACIONAL: eles usam o controle racional quando tentam obter o comportamento desejado dos trabalhadores apelando ao interesse próprio dos trabalhadores</a:t>
            </a:r>
          </a:p>
        </p:txBody>
      </p:sp>
      <p:sp>
        <p:nvSpPr>
          <p:cNvPr id="4" name="Espaço Reservado para o Número do Slide 3"/>
          <p:cNvSpPr>
            <a:spLocks noGrp="1"/>
          </p:cNvSpPr>
          <p:nvPr>
            <p:ph type="sldNum" sz="quarter" idx="5"/>
          </p:nvPr>
        </p:nvSpPr>
        <p:spPr/>
        <p:txBody>
          <a:bodyPr rtlCol="0"/>
          <a:lstStyle>
            <a:defPPr>
              <a:defRPr lang="pt-BR"/>
            </a:defPPr>
          </a:lstStyle>
          <a:p>
            <a:pPr rtl="0"/>
            <a:fld id="{F97DC217-DF71-1A49-B3EA-559F1F43B0FF}" type="slidenum">
              <a:rPr lang="pt-BR" smtClean="0"/>
              <a:t>9</a:t>
            </a:fld>
            <a:endParaRPr lang="pt-BR" dirty="0"/>
          </a:p>
        </p:txBody>
      </p:sp>
    </p:spTree>
    <p:extLst>
      <p:ext uri="{BB962C8B-B14F-4D97-AF65-F5344CB8AC3E}">
        <p14:creationId xmlns:p14="http://schemas.microsoft.com/office/powerpoint/2010/main" val="324864427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o Slide 1"/>
          <p:cNvSpPr>
            <a:spLocks noGrp="1" noRot="1" noChangeAspect="1"/>
          </p:cNvSpPr>
          <p:nvPr>
            <p:ph type="sldImg"/>
          </p:nvPr>
        </p:nvSpPr>
        <p:spPr/>
      </p:sp>
      <p:sp>
        <p:nvSpPr>
          <p:cNvPr id="3" name="Espaço Reservado para Notas 2"/>
          <p:cNvSpPr>
            <a:spLocks noGrp="1"/>
          </p:cNvSpPr>
          <p:nvPr>
            <p:ph type="body" idx="1"/>
          </p:nvPr>
        </p:nvSpPr>
        <p:spPr/>
        <p:txBody>
          <a:bodyPr rtlCol="0"/>
          <a:lstStyle>
            <a:defPPr>
              <a:defRPr lang="pt-BR"/>
            </a:defPPr>
          </a:lstStyle>
          <a:p>
            <a:pPr marL="171450" indent="-171450" rtl="0">
              <a:buFontTx/>
              <a:buChar char="-"/>
            </a:pPr>
            <a:r>
              <a:rPr lang="pt-BR" dirty="0"/>
              <a:t>CONTROLE TÉCNICO - o controle técnico historicamente tem sido localizado nos aspectos físicos e tecnológicos da produção (</a:t>
            </a:r>
            <a:r>
              <a:rPr lang="pt-BR" dirty="0" err="1"/>
              <a:t>Braverman</a:t>
            </a:r>
            <a:r>
              <a:rPr lang="pt-BR" dirty="0"/>
              <a:t>, 1974; </a:t>
            </a:r>
            <a:r>
              <a:rPr lang="pt-BR" dirty="0" err="1"/>
              <a:t>Burawoy</a:t>
            </a:r>
            <a:r>
              <a:rPr lang="pt-BR" dirty="0"/>
              <a:t>, 1979), </a:t>
            </a:r>
          </a:p>
          <a:p>
            <a:pPr marL="171450" indent="-171450" rtl="0">
              <a:buFontTx/>
              <a:buChar char="-"/>
            </a:pPr>
            <a:endParaRPr lang="pt-BR" dirty="0"/>
          </a:p>
          <a:p>
            <a:pPr marL="171450" indent="-171450" rtl="0">
              <a:buFontTx/>
              <a:buChar char="-"/>
            </a:pPr>
            <a:r>
              <a:rPr lang="pt-BR" dirty="0"/>
              <a:t>CONTROLE BUROCRÁTICO - enquanto o controle burocrático tem se baseado em regras e papéis padronizados para orientar o comportamento do trabalhador</a:t>
            </a:r>
          </a:p>
        </p:txBody>
      </p:sp>
      <p:sp>
        <p:nvSpPr>
          <p:cNvPr id="4" name="Espaço Reservado para o Número do Slide 3"/>
          <p:cNvSpPr>
            <a:spLocks noGrp="1"/>
          </p:cNvSpPr>
          <p:nvPr>
            <p:ph type="sldNum" sz="quarter" idx="5"/>
          </p:nvPr>
        </p:nvSpPr>
        <p:spPr/>
        <p:txBody>
          <a:bodyPr rtlCol="0"/>
          <a:lstStyle>
            <a:defPPr>
              <a:defRPr lang="pt-BR"/>
            </a:defPPr>
          </a:lstStyle>
          <a:p>
            <a:pPr rtl="0"/>
            <a:fld id="{F97DC217-DF71-1A49-B3EA-559F1F43B0FF}" type="slidenum">
              <a:rPr lang="pt-BR" smtClean="0"/>
              <a:t>10</a:t>
            </a:fld>
            <a:endParaRPr lang="pt-BR" dirty="0"/>
          </a:p>
        </p:txBody>
      </p:sp>
    </p:spTree>
    <p:extLst>
      <p:ext uri="{BB962C8B-B14F-4D97-AF65-F5344CB8AC3E}">
        <p14:creationId xmlns:p14="http://schemas.microsoft.com/office/powerpoint/2010/main" val="76684756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o Slide 1"/>
          <p:cNvSpPr>
            <a:spLocks noGrp="1" noRot="1" noChangeAspect="1"/>
          </p:cNvSpPr>
          <p:nvPr>
            <p:ph type="sldImg"/>
          </p:nvPr>
        </p:nvSpPr>
        <p:spPr/>
      </p:sp>
      <p:sp>
        <p:nvSpPr>
          <p:cNvPr id="3" name="Espaço Reservado para Notas 2"/>
          <p:cNvSpPr>
            <a:spLocks noGrp="1"/>
          </p:cNvSpPr>
          <p:nvPr>
            <p:ph type="body" idx="1"/>
          </p:nvPr>
        </p:nvSpPr>
        <p:spPr/>
        <p:txBody>
          <a:bodyPr rtlCol="0"/>
          <a:lstStyle>
            <a:defPPr>
              <a:defRPr lang="pt-BR"/>
            </a:defPPr>
          </a:lstStyle>
          <a:p>
            <a:pPr marL="171450" indent="-171450" rtl="0">
              <a:buFontTx/>
              <a:buChar char="-"/>
            </a:pPr>
            <a:r>
              <a:rPr lang="pt-BR" dirty="0"/>
              <a:t>DIRECIONAMENTO consiste na especificação do que precisa ser executado, em que ordem e período de tempo, e com que grau de precisão. </a:t>
            </a:r>
          </a:p>
          <a:p>
            <a:pPr marL="171450" indent="-171450" rtl="0">
              <a:buFontTx/>
              <a:buChar char="-"/>
            </a:pPr>
            <a:endParaRPr lang="pt-BR" dirty="0"/>
          </a:p>
          <a:p>
            <a:pPr marL="171450" indent="-171450" rtl="0">
              <a:buFontTx/>
              <a:buChar char="-"/>
            </a:pPr>
            <a:r>
              <a:rPr lang="pt-BR" dirty="0"/>
              <a:t>AVALIAÇÃO consiste na supervisão dos trabalhadores para corrigir erros, avaliar o desempenho e identificar aqueles que não estão tendo um desempenho adequado</a:t>
            </a:r>
          </a:p>
          <a:p>
            <a:pPr marL="171450" indent="-171450" rtl="0">
              <a:buFontTx/>
              <a:buChar char="-"/>
            </a:pPr>
            <a:endParaRPr lang="pt-BR" dirty="0"/>
          </a:p>
          <a:p>
            <a:pPr marL="171450" indent="-171450" rtl="0">
              <a:buFontTx/>
              <a:buChar char="-"/>
            </a:pPr>
            <a:r>
              <a:rPr lang="pt-BR" dirty="0"/>
              <a:t>DISCIPLINA consiste na punição e recompensa de trabalhadores para obter cooperação e impor conformidade com o direcionamento do empregador do processo de trabalho</a:t>
            </a:r>
          </a:p>
        </p:txBody>
      </p:sp>
      <p:sp>
        <p:nvSpPr>
          <p:cNvPr id="4" name="Espaço Reservado para o Número do Slide 3"/>
          <p:cNvSpPr>
            <a:spLocks noGrp="1"/>
          </p:cNvSpPr>
          <p:nvPr>
            <p:ph type="sldNum" sz="quarter" idx="5"/>
          </p:nvPr>
        </p:nvSpPr>
        <p:spPr/>
        <p:txBody>
          <a:bodyPr rtlCol="0"/>
          <a:lstStyle>
            <a:defPPr>
              <a:defRPr lang="pt-BR"/>
            </a:defPPr>
          </a:lstStyle>
          <a:p>
            <a:pPr rtl="0"/>
            <a:fld id="{F97DC217-DF71-1A49-B3EA-559F1F43B0FF}" type="slidenum">
              <a:rPr lang="pt-BR" smtClean="0"/>
              <a:t>11</a:t>
            </a:fld>
            <a:endParaRPr lang="pt-BR" dirty="0"/>
          </a:p>
        </p:txBody>
      </p:sp>
    </p:spTree>
    <p:extLst>
      <p:ext uri="{BB962C8B-B14F-4D97-AF65-F5344CB8AC3E}">
        <p14:creationId xmlns:p14="http://schemas.microsoft.com/office/powerpoint/2010/main" val="358583313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o Slide 1"/>
          <p:cNvSpPr>
            <a:spLocks noGrp="1" noRot="1" noChangeAspect="1"/>
          </p:cNvSpPr>
          <p:nvPr>
            <p:ph type="sldImg"/>
          </p:nvPr>
        </p:nvSpPr>
        <p:spPr/>
      </p:sp>
      <p:sp>
        <p:nvSpPr>
          <p:cNvPr id="3" name="Espaço Reservado para Notas 2"/>
          <p:cNvSpPr>
            <a:spLocks noGrp="1"/>
          </p:cNvSpPr>
          <p:nvPr>
            <p:ph type="body" idx="1"/>
          </p:nvPr>
        </p:nvSpPr>
        <p:spPr/>
        <p:txBody>
          <a:bodyPr rtlCol="0"/>
          <a:lstStyle>
            <a:defPPr>
              <a:defRPr lang="pt-BR"/>
            </a:defPPr>
          </a:lstStyle>
          <a:p>
            <a:pPr marL="0" indent="0" rtl="0">
              <a:buFontTx/>
              <a:buNone/>
            </a:pPr>
            <a:endParaRPr lang="pt-BR" dirty="0"/>
          </a:p>
        </p:txBody>
      </p:sp>
      <p:sp>
        <p:nvSpPr>
          <p:cNvPr id="4" name="Espaço Reservado para o Número do Slide 3"/>
          <p:cNvSpPr>
            <a:spLocks noGrp="1"/>
          </p:cNvSpPr>
          <p:nvPr>
            <p:ph type="sldNum" sz="quarter" idx="5"/>
          </p:nvPr>
        </p:nvSpPr>
        <p:spPr/>
        <p:txBody>
          <a:bodyPr rtlCol="0"/>
          <a:lstStyle>
            <a:defPPr>
              <a:defRPr lang="pt-BR"/>
            </a:defPPr>
          </a:lstStyle>
          <a:p>
            <a:pPr rtl="0"/>
            <a:fld id="{F97DC217-DF71-1A49-B3EA-559F1F43B0FF}" type="slidenum">
              <a:rPr lang="pt-BR" smtClean="0"/>
              <a:t>12</a:t>
            </a:fld>
            <a:endParaRPr lang="pt-BR" dirty="0"/>
          </a:p>
        </p:txBody>
      </p:sp>
    </p:spTree>
    <p:extLst>
      <p:ext uri="{BB962C8B-B14F-4D97-AF65-F5344CB8AC3E}">
        <p14:creationId xmlns:p14="http://schemas.microsoft.com/office/powerpoint/2010/main" val="128474139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o Slide 1"/>
          <p:cNvSpPr>
            <a:spLocks noGrp="1" noRot="1" noChangeAspect="1"/>
          </p:cNvSpPr>
          <p:nvPr>
            <p:ph type="sldImg"/>
          </p:nvPr>
        </p:nvSpPr>
        <p:spPr/>
      </p:sp>
      <p:sp>
        <p:nvSpPr>
          <p:cNvPr id="3" name="Espaço Reservado para Notas 2"/>
          <p:cNvSpPr>
            <a:spLocks noGrp="1"/>
          </p:cNvSpPr>
          <p:nvPr>
            <p:ph type="body" idx="1"/>
          </p:nvPr>
        </p:nvSpPr>
        <p:spPr/>
        <p:txBody>
          <a:bodyPr rtlCol="0"/>
          <a:lstStyle>
            <a:defPPr>
              <a:defRPr lang="pt-BR"/>
            </a:defPPr>
          </a:lstStyle>
          <a:p>
            <a:pPr marL="0" indent="0" rtl="0">
              <a:buFontTx/>
              <a:buNone/>
            </a:pPr>
            <a:endParaRPr lang="pt-BR" dirty="0"/>
          </a:p>
        </p:txBody>
      </p:sp>
      <p:sp>
        <p:nvSpPr>
          <p:cNvPr id="4" name="Espaço Reservado para o Número do Slide 3"/>
          <p:cNvSpPr>
            <a:spLocks noGrp="1"/>
          </p:cNvSpPr>
          <p:nvPr>
            <p:ph type="sldNum" sz="quarter" idx="5"/>
          </p:nvPr>
        </p:nvSpPr>
        <p:spPr/>
        <p:txBody>
          <a:bodyPr rtlCol="0"/>
          <a:lstStyle>
            <a:defPPr>
              <a:defRPr lang="pt-BR"/>
            </a:defPPr>
          </a:lstStyle>
          <a:p>
            <a:pPr rtl="0"/>
            <a:fld id="{F97DC217-DF71-1A49-B3EA-559F1F43B0FF}" type="slidenum">
              <a:rPr lang="pt-BR" smtClean="0"/>
              <a:t>13</a:t>
            </a:fld>
            <a:endParaRPr lang="pt-BR" dirty="0"/>
          </a:p>
        </p:txBody>
      </p:sp>
    </p:spTree>
    <p:extLst>
      <p:ext uri="{BB962C8B-B14F-4D97-AF65-F5344CB8AC3E}">
        <p14:creationId xmlns:p14="http://schemas.microsoft.com/office/powerpoint/2010/main" val="346139455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o Slide 1"/>
          <p:cNvSpPr>
            <a:spLocks noGrp="1" noRot="1" noChangeAspect="1"/>
          </p:cNvSpPr>
          <p:nvPr>
            <p:ph type="sldImg"/>
          </p:nvPr>
        </p:nvSpPr>
        <p:spPr/>
      </p:sp>
      <p:sp>
        <p:nvSpPr>
          <p:cNvPr id="3" name="Espaço Reservado para Notas 2"/>
          <p:cNvSpPr>
            <a:spLocks noGrp="1"/>
          </p:cNvSpPr>
          <p:nvPr>
            <p:ph type="body" idx="1"/>
          </p:nvPr>
        </p:nvSpPr>
        <p:spPr/>
        <p:txBody>
          <a:bodyPr rtlCol="0"/>
          <a:lstStyle>
            <a:defPPr>
              <a:defRPr lang="pt-BR"/>
            </a:defPPr>
          </a:lstStyle>
          <a:p>
            <a:pPr marL="0" indent="0" rtl="0">
              <a:buFontTx/>
              <a:buNone/>
            </a:pPr>
            <a:endParaRPr lang="pt-BR" dirty="0"/>
          </a:p>
        </p:txBody>
      </p:sp>
      <p:sp>
        <p:nvSpPr>
          <p:cNvPr id="4" name="Espaço Reservado para o Número do Slide 3"/>
          <p:cNvSpPr>
            <a:spLocks noGrp="1"/>
          </p:cNvSpPr>
          <p:nvPr>
            <p:ph type="sldNum" sz="quarter" idx="5"/>
          </p:nvPr>
        </p:nvSpPr>
        <p:spPr/>
        <p:txBody>
          <a:bodyPr rtlCol="0"/>
          <a:lstStyle>
            <a:defPPr>
              <a:defRPr lang="pt-BR"/>
            </a:defPPr>
          </a:lstStyle>
          <a:p>
            <a:pPr rtl="0"/>
            <a:fld id="{F97DC217-DF71-1A49-B3EA-559F1F43B0FF}" type="slidenum">
              <a:rPr lang="pt-BR" smtClean="0"/>
              <a:t>14</a:t>
            </a:fld>
            <a:endParaRPr lang="pt-BR" dirty="0"/>
          </a:p>
        </p:txBody>
      </p:sp>
    </p:spTree>
    <p:extLst>
      <p:ext uri="{BB962C8B-B14F-4D97-AF65-F5344CB8AC3E}">
        <p14:creationId xmlns:p14="http://schemas.microsoft.com/office/powerpoint/2010/main" val="41473905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o Slide 1"/>
          <p:cNvSpPr>
            <a:spLocks noGrp="1" noRot="1" noChangeAspect="1"/>
          </p:cNvSpPr>
          <p:nvPr>
            <p:ph type="sldImg"/>
          </p:nvPr>
        </p:nvSpPr>
        <p:spPr/>
      </p:sp>
      <p:sp>
        <p:nvSpPr>
          <p:cNvPr id="3" name="Espaço Reservado para Notas 2"/>
          <p:cNvSpPr>
            <a:spLocks noGrp="1"/>
          </p:cNvSpPr>
          <p:nvPr>
            <p:ph type="body" idx="1"/>
          </p:nvPr>
        </p:nvSpPr>
        <p:spPr/>
        <p:txBody>
          <a:bodyPr rtlCol="0"/>
          <a:lstStyle>
            <a:defPPr>
              <a:defRPr lang="pt-BR"/>
            </a:defPPr>
          </a:lstStyle>
          <a:p>
            <a:pPr marL="171450" indent="-171450" rtl="0">
              <a:buFontTx/>
              <a:buChar char="-"/>
            </a:pPr>
            <a:endParaRPr lang="pt-BR" dirty="0"/>
          </a:p>
        </p:txBody>
      </p:sp>
      <p:sp>
        <p:nvSpPr>
          <p:cNvPr id="4" name="Espaço Reservado para o Número do Slide 3"/>
          <p:cNvSpPr>
            <a:spLocks noGrp="1"/>
          </p:cNvSpPr>
          <p:nvPr>
            <p:ph type="sldNum" sz="quarter" idx="5"/>
          </p:nvPr>
        </p:nvSpPr>
        <p:spPr/>
        <p:txBody>
          <a:bodyPr rtlCol="0"/>
          <a:lstStyle>
            <a:defPPr>
              <a:defRPr lang="pt-BR"/>
            </a:defPPr>
          </a:lstStyle>
          <a:p>
            <a:pPr rtl="0"/>
            <a:fld id="{F97DC217-DF71-1A49-B3EA-559F1F43B0FF}" type="slidenum">
              <a:rPr lang="pt-BR" smtClean="0"/>
              <a:t>15</a:t>
            </a:fld>
            <a:endParaRPr lang="pt-BR" dirty="0"/>
          </a:p>
        </p:txBody>
      </p:sp>
    </p:spTree>
    <p:extLst>
      <p:ext uri="{BB962C8B-B14F-4D97-AF65-F5344CB8AC3E}">
        <p14:creationId xmlns:p14="http://schemas.microsoft.com/office/powerpoint/2010/main" val="331620770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o Slide 1"/>
          <p:cNvSpPr>
            <a:spLocks noGrp="1" noRot="1" noChangeAspect="1"/>
          </p:cNvSpPr>
          <p:nvPr>
            <p:ph type="sldImg"/>
          </p:nvPr>
        </p:nvSpPr>
        <p:spPr/>
      </p:sp>
      <p:sp>
        <p:nvSpPr>
          <p:cNvPr id="3" name="Espaço Reservado para Notas 2"/>
          <p:cNvSpPr>
            <a:spLocks noGrp="1"/>
          </p:cNvSpPr>
          <p:nvPr>
            <p:ph type="body" idx="1"/>
          </p:nvPr>
        </p:nvSpPr>
        <p:spPr/>
        <p:txBody>
          <a:bodyPr rtlCol="0"/>
          <a:lstStyle>
            <a:defPPr>
              <a:defRPr lang="pt-BR"/>
            </a:defPPr>
          </a:lstStyle>
          <a:p>
            <a:pPr marL="171450" indent="-171450" rtl="0">
              <a:buFontTx/>
              <a:buChar char="-"/>
            </a:pPr>
            <a:r>
              <a:rPr lang="pt-BR" dirty="0"/>
              <a:t>MAIS ABRANGENTE: Câmeras, sensores e dispositivos de áudio </a:t>
            </a:r>
            <a:r>
              <a:rPr lang="pt-BR" dirty="0" err="1"/>
              <a:t>podemagora</a:t>
            </a:r>
            <a:r>
              <a:rPr lang="pt-BR" dirty="0"/>
              <a:t> registrar os movimentos corporais e a fala dos </a:t>
            </a:r>
            <a:r>
              <a:rPr lang="pt-BR" dirty="0" err="1"/>
              <a:t>trabalhadorespara</a:t>
            </a:r>
            <a:r>
              <a:rPr lang="pt-BR" dirty="0"/>
              <a:t> fornecer evidências da adesão ou afastamento dos trabalhadores das rotinas de produção</a:t>
            </a:r>
            <a:br>
              <a:rPr lang="pt-BR" dirty="0"/>
            </a:br>
            <a:endParaRPr lang="pt-BR" dirty="0"/>
          </a:p>
          <a:p>
            <a:pPr marL="171450" indent="-171450" rtl="0">
              <a:buFontTx/>
              <a:buChar char="-"/>
            </a:pPr>
            <a:r>
              <a:rPr lang="pt-BR" dirty="0"/>
              <a:t>FEEDBACK INSTANTÂNEO: as plataformas podem instantaneamente computar, salvar e comunicar informações em tempo </a:t>
            </a:r>
            <a:r>
              <a:rPr lang="pt-BR" dirty="0" err="1"/>
              <a:t>realcom</a:t>
            </a:r>
            <a:r>
              <a:rPr lang="pt-BR" dirty="0"/>
              <a:t> trabalhadores e gerentes — incluindo comentários de clientes, taxas de conclusão ou número de visualizações de páginas</a:t>
            </a:r>
          </a:p>
          <a:p>
            <a:pPr marL="171450" indent="-171450" rtl="0">
              <a:buFontTx/>
              <a:buChar char="-"/>
            </a:pPr>
            <a:endParaRPr lang="pt-BR" dirty="0"/>
          </a:p>
          <a:p>
            <a:pPr marL="171450" indent="-171450" rtl="0">
              <a:buFontTx/>
              <a:buChar char="-"/>
            </a:pPr>
            <a:r>
              <a:rPr lang="pt-BR" dirty="0"/>
              <a:t>MAIS INTERATIVO (GRAÇAS ÀS TICs): Essas mudanças interativas são possíveis graças às facilidades das plataformas, que têm um poderoso poder de computação “nos bastidores” e interfaces interativas que podem ser acessadas por diferentes categorias de pessoas em diversos locais, por meio de logins individuais em dispositivos pessoais</a:t>
            </a:r>
          </a:p>
          <a:p>
            <a:pPr marL="171450" indent="-171450" rtl="0">
              <a:buFontTx/>
              <a:buChar char="-"/>
            </a:pPr>
            <a:endParaRPr lang="pt-BR" dirty="0"/>
          </a:p>
          <a:p>
            <a:pPr marL="171450" indent="-171450" rtl="0">
              <a:buFontTx/>
              <a:buChar char="-"/>
            </a:pPr>
            <a:r>
              <a:rPr lang="pt-BR" dirty="0"/>
              <a:t>MAIS OPACOS: Por três razões principais: sigilo intencional, conhecimento técnico necessário e opacidade do aprendizado de máquina</a:t>
            </a:r>
            <a:br>
              <a:rPr lang="pt-BR" dirty="0"/>
            </a:br>
            <a:endParaRPr lang="pt-BR" dirty="0"/>
          </a:p>
          <a:p>
            <a:pPr marL="171450" indent="-171450" rtl="0">
              <a:buFontTx/>
              <a:buChar char="-"/>
            </a:pPr>
            <a:r>
              <a:rPr lang="pt-BR" dirty="0"/>
              <a:t>DESINTERMEDIAÇÃO DE GERENTES: Quando as decisões gerenciais são </a:t>
            </a:r>
            <a:r>
              <a:rPr lang="pt-BR" dirty="0" err="1"/>
              <a:t>totalmenteautomatizadas</a:t>
            </a:r>
            <a:r>
              <a:rPr lang="pt-BR" dirty="0"/>
              <a:t>, há menos oportunidades para os </a:t>
            </a:r>
            <a:r>
              <a:rPr lang="pt-BR" dirty="0" err="1"/>
              <a:t>trabalhadoresatraírem</a:t>
            </a:r>
            <a:r>
              <a:rPr lang="pt-BR" dirty="0"/>
              <a:t> a empatia dos tomadores de decisão </a:t>
            </a:r>
            <a:r>
              <a:rPr lang="pt-BR" dirty="0" err="1"/>
              <a:t>humanos,e</a:t>
            </a:r>
            <a:r>
              <a:rPr lang="pt-BR" dirty="0"/>
              <a:t> muitas vezes são concedidas menos exceções às regras</a:t>
            </a:r>
          </a:p>
          <a:p>
            <a:pPr marL="171450" indent="-171450" rtl="0">
              <a:buFontTx/>
              <a:buChar char="-"/>
            </a:pPr>
            <a:endParaRPr lang="pt-BR" dirty="0"/>
          </a:p>
        </p:txBody>
      </p:sp>
      <p:sp>
        <p:nvSpPr>
          <p:cNvPr id="4" name="Espaço Reservado para o Número do Slide 3"/>
          <p:cNvSpPr>
            <a:spLocks noGrp="1"/>
          </p:cNvSpPr>
          <p:nvPr>
            <p:ph type="sldNum" sz="quarter" idx="5"/>
          </p:nvPr>
        </p:nvSpPr>
        <p:spPr/>
        <p:txBody>
          <a:bodyPr rtlCol="0"/>
          <a:lstStyle>
            <a:defPPr>
              <a:defRPr lang="pt-BR"/>
            </a:defPPr>
          </a:lstStyle>
          <a:p>
            <a:pPr rtl="0"/>
            <a:fld id="{F97DC217-DF71-1A49-B3EA-559F1F43B0FF}" type="slidenum">
              <a:rPr lang="pt-BR" smtClean="0"/>
              <a:t>16</a:t>
            </a:fld>
            <a:endParaRPr lang="pt-BR" dirty="0"/>
          </a:p>
        </p:txBody>
      </p:sp>
    </p:spTree>
    <p:extLst>
      <p:ext uri="{BB962C8B-B14F-4D97-AF65-F5344CB8AC3E}">
        <p14:creationId xmlns:p14="http://schemas.microsoft.com/office/powerpoint/2010/main" val="299958618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o Slide 1"/>
          <p:cNvSpPr>
            <a:spLocks noGrp="1" noRot="1" noChangeAspect="1"/>
          </p:cNvSpPr>
          <p:nvPr>
            <p:ph type="sldImg"/>
          </p:nvPr>
        </p:nvSpPr>
        <p:spPr/>
      </p:sp>
      <p:sp>
        <p:nvSpPr>
          <p:cNvPr id="3" name="Espaço Reservado para Notas 2"/>
          <p:cNvSpPr>
            <a:spLocks noGrp="1"/>
          </p:cNvSpPr>
          <p:nvPr>
            <p:ph type="body" idx="1"/>
          </p:nvPr>
        </p:nvSpPr>
        <p:spPr/>
        <p:txBody>
          <a:bodyPr rtlCol="0"/>
          <a:lstStyle>
            <a:defPPr>
              <a:defRPr lang="pt-BR"/>
            </a:defPPr>
          </a:lstStyle>
          <a:p>
            <a:pPr marL="171450" indent="-171450" rtl="0">
              <a:buFontTx/>
              <a:buChar char="-"/>
            </a:pPr>
            <a:r>
              <a:rPr lang="pt-BR" dirty="0"/>
              <a:t>USO DE DADOS DE CLIENTES PARA MARKETING: uma empresa de tecnologia de </a:t>
            </a:r>
            <a:r>
              <a:rPr lang="pt-BR" dirty="0" err="1"/>
              <a:t>varejoque</a:t>
            </a:r>
            <a:r>
              <a:rPr lang="pt-BR" dirty="0"/>
              <a:t> historicamente dependia </a:t>
            </a:r>
            <a:r>
              <a:rPr lang="pt-BR" dirty="0" err="1"/>
              <a:t>daexperiência</a:t>
            </a:r>
            <a:r>
              <a:rPr lang="pt-BR" dirty="0"/>
              <a:t> dos compradores de moda para tomar decisões sobre merchandising futuro começou a minerar dados </a:t>
            </a:r>
            <a:r>
              <a:rPr lang="pt-BR" dirty="0" err="1"/>
              <a:t>dodesempenho</a:t>
            </a:r>
            <a:r>
              <a:rPr lang="pt-BR" dirty="0"/>
              <a:t> real de julgamentos passados ​​para recomendar decisões de merchandising futuras </a:t>
            </a:r>
            <a:r>
              <a:rPr lang="pt-BR" dirty="0" err="1"/>
              <a:t>maislucrativas</a:t>
            </a:r>
            <a:br>
              <a:rPr lang="pt-BR" dirty="0"/>
            </a:br>
            <a:endParaRPr lang="pt-BR" dirty="0"/>
          </a:p>
          <a:p>
            <a:pPr marL="171450" indent="-171450" rtl="0">
              <a:buFontTx/>
              <a:buChar char="-"/>
            </a:pPr>
            <a:r>
              <a:rPr lang="pt-BR" dirty="0"/>
              <a:t>RECOMENDAÇÃO PARA MOTORISTAS DESCANSAREM: A Uber confiou em dados personalizados, como velocidade de frenagem e aceleração, para analisar se os trabalhadores estavam dirigindo de forma irregular e recomendar algoritmicamente quando eles precisariam descansar</a:t>
            </a:r>
            <a:br>
              <a:rPr lang="pt-BR" dirty="0"/>
            </a:br>
            <a:endParaRPr lang="pt-BR" dirty="0"/>
          </a:p>
          <a:p>
            <a:pPr marL="171450" indent="-171450" rtl="0">
              <a:buFontTx/>
              <a:buChar char="-"/>
            </a:pPr>
            <a:r>
              <a:rPr lang="pt-BR" dirty="0"/>
              <a:t>CUTUCADAS DO UBER: A Uber se envolveu em estímulos individualizados e em tempo real para obrigar ativamente os motoristas a irem para </a:t>
            </a:r>
            <a:r>
              <a:rPr lang="pt-BR" dirty="0" err="1"/>
              <a:t>casasempre</a:t>
            </a:r>
            <a:r>
              <a:rPr lang="pt-BR" dirty="0"/>
              <a:t> que três passageiros em uma fileira relatassem se </a:t>
            </a:r>
            <a:r>
              <a:rPr lang="pt-BR" dirty="0" err="1"/>
              <a:t>sentirinseguros</a:t>
            </a:r>
            <a:endParaRPr lang="pt-BR" dirty="0"/>
          </a:p>
          <a:p>
            <a:pPr marL="0" indent="0" rtl="0">
              <a:buFontTx/>
              <a:buNone/>
            </a:pPr>
            <a:endParaRPr lang="pt-BR" dirty="0"/>
          </a:p>
        </p:txBody>
      </p:sp>
      <p:sp>
        <p:nvSpPr>
          <p:cNvPr id="4" name="Espaço Reservado para o Número do Slide 3"/>
          <p:cNvSpPr>
            <a:spLocks noGrp="1"/>
          </p:cNvSpPr>
          <p:nvPr>
            <p:ph type="sldNum" sz="quarter" idx="5"/>
          </p:nvPr>
        </p:nvSpPr>
        <p:spPr/>
        <p:txBody>
          <a:bodyPr rtlCol="0"/>
          <a:lstStyle>
            <a:defPPr>
              <a:defRPr lang="pt-BR"/>
            </a:defPPr>
          </a:lstStyle>
          <a:p>
            <a:pPr rtl="0"/>
            <a:fld id="{F97DC217-DF71-1A49-B3EA-559F1F43B0FF}" type="slidenum">
              <a:rPr lang="pt-BR" smtClean="0"/>
              <a:t>17</a:t>
            </a:fld>
            <a:endParaRPr lang="pt-BR" dirty="0"/>
          </a:p>
        </p:txBody>
      </p:sp>
    </p:spTree>
    <p:extLst>
      <p:ext uri="{BB962C8B-B14F-4D97-AF65-F5344CB8AC3E}">
        <p14:creationId xmlns:p14="http://schemas.microsoft.com/office/powerpoint/2010/main" val="425755489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o Slide 1"/>
          <p:cNvSpPr>
            <a:spLocks noGrp="1" noRot="1" noChangeAspect="1"/>
          </p:cNvSpPr>
          <p:nvPr>
            <p:ph type="sldImg"/>
          </p:nvPr>
        </p:nvSpPr>
        <p:spPr/>
      </p:sp>
      <p:sp>
        <p:nvSpPr>
          <p:cNvPr id="3" name="Espaço Reservado para Notas 2"/>
          <p:cNvSpPr>
            <a:spLocks noGrp="1"/>
          </p:cNvSpPr>
          <p:nvPr>
            <p:ph type="body" idx="1"/>
          </p:nvPr>
        </p:nvSpPr>
        <p:spPr/>
        <p:txBody>
          <a:bodyPr rtlCol="0"/>
          <a:lstStyle>
            <a:defPPr>
              <a:defRPr lang="pt-BR"/>
            </a:defPPr>
          </a:lstStyle>
          <a:p>
            <a:pPr marL="171450" indent="-171450" rtl="0">
              <a:buFontTx/>
              <a:buChar char="-"/>
            </a:pPr>
            <a:r>
              <a:rPr lang="pt-BR" dirty="0"/>
              <a:t>RESTRIÇÃO DE CORRIDAS PELO UBER: A Uber usou algoritmos para restringir as escolhas de turno, escolhas de viagem ou escolhas de entrega para aprimorar as ofertas de serviços</a:t>
            </a:r>
            <a:br>
              <a:rPr lang="pt-BR" dirty="0"/>
            </a:br>
            <a:endParaRPr lang="pt-BR" dirty="0"/>
          </a:p>
          <a:p>
            <a:pPr marL="171450" indent="-171450" rtl="0">
              <a:buFontTx/>
              <a:buChar char="-"/>
            </a:pPr>
            <a:r>
              <a:rPr lang="pt-BR" dirty="0"/>
              <a:t>AVISOS POR CHATBOT: A </a:t>
            </a:r>
            <a:r>
              <a:rPr lang="pt-BR" dirty="0" err="1"/>
              <a:t>Upwork</a:t>
            </a:r>
            <a:r>
              <a:rPr lang="pt-BR" dirty="0"/>
              <a:t> usou avisos de </a:t>
            </a:r>
            <a:r>
              <a:rPr lang="pt-BR" dirty="0" err="1"/>
              <a:t>chatbot</a:t>
            </a:r>
            <a:r>
              <a:rPr lang="pt-BR" dirty="0"/>
              <a:t> com tecnologia algorítmica para lembrar os trabalhadores de seu acordo de </a:t>
            </a:r>
            <a:r>
              <a:rPr lang="pt-BR" dirty="0" err="1"/>
              <a:t>nãotrabalhar</a:t>
            </a:r>
            <a:r>
              <a:rPr lang="pt-BR" dirty="0"/>
              <a:t> fora da plataforma quando certas </a:t>
            </a:r>
            <a:r>
              <a:rPr lang="pt-BR" dirty="0" err="1"/>
              <a:t>palavrascomo</a:t>
            </a:r>
            <a:r>
              <a:rPr lang="pt-BR" dirty="0"/>
              <a:t> Skype, telefone ou e-mail eram digitadas </a:t>
            </a:r>
            <a:r>
              <a:rPr lang="pt-BR" dirty="0" err="1"/>
              <a:t>nochat</a:t>
            </a:r>
            <a:r>
              <a:rPr lang="pt-BR" dirty="0"/>
              <a:t> entre trabalhadores e clientes;</a:t>
            </a:r>
            <a:br>
              <a:rPr lang="pt-BR" dirty="0"/>
            </a:br>
            <a:endParaRPr lang="pt-BR" dirty="0"/>
          </a:p>
          <a:p>
            <a:pPr marL="171450" indent="-171450" rtl="0">
              <a:buFontTx/>
              <a:buChar char="-"/>
            </a:pPr>
            <a:r>
              <a:rPr lang="pt-BR" dirty="0"/>
              <a:t>PRODUÇÃO JORNALÍSTICA VIA CROWDSOURCE: </a:t>
            </a:r>
            <a:r>
              <a:rPr lang="pt-BR" sz="1800" b="0" i="0" dirty="0">
                <a:solidFill>
                  <a:srgbClr val="000000"/>
                </a:solidFill>
                <a:effectLst/>
                <a:latin typeface="AdvOT72a5abab"/>
              </a:rPr>
              <a:t>os gerentes </a:t>
            </a:r>
            <a:r>
              <a:rPr lang="pt-BR" sz="1800" b="0" i="0" dirty="0" err="1">
                <a:solidFill>
                  <a:srgbClr val="000000"/>
                </a:solidFill>
                <a:effectLst/>
                <a:latin typeface="AdvOT72a5abab"/>
              </a:rPr>
              <a:t>usaramalgoritmos</a:t>
            </a:r>
            <a:r>
              <a:rPr lang="pt-BR" sz="1800" b="0" i="0" dirty="0">
                <a:solidFill>
                  <a:srgbClr val="000000"/>
                </a:solidFill>
                <a:effectLst/>
                <a:latin typeface="AdvOT72a5abab"/>
              </a:rPr>
              <a:t> em combinação com plataformas de mídia social para convidar a multidão a criar conteúdo </a:t>
            </a:r>
            <a:r>
              <a:rPr lang="pt-BR" sz="1800" b="0" i="0" dirty="0" err="1">
                <a:solidFill>
                  <a:srgbClr val="000000"/>
                </a:solidFill>
                <a:effectLst/>
                <a:latin typeface="AdvOT72a5abab"/>
              </a:rPr>
              <a:t>paraartigos</a:t>
            </a:r>
            <a:r>
              <a:rPr lang="pt-BR" sz="1800" b="0" i="0" dirty="0">
                <a:solidFill>
                  <a:srgbClr val="000000"/>
                </a:solidFill>
                <a:effectLst/>
                <a:latin typeface="AdvOT72a5abab"/>
              </a:rPr>
              <a:t> de notícias, mas restringiram os envios de </a:t>
            </a:r>
            <a:r>
              <a:rPr lang="pt-BR" sz="1800" b="0" i="0" dirty="0" err="1">
                <a:solidFill>
                  <a:srgbClr val="000000"/>
                </a:solidFill>
                <a:effectLst/>
                <a:latin typeface="AdvOT72a5abab"/>
              </a:rPr>
              <a:t>maneirasque</a:t>
            </a:r>
            <a:r>
              <a:rPr lang="pt-BR" sz="1800" b="0" i="0" dirty="0">
                <a:solidFill>
                  <a:srgbClr val="000000"/>
                </a:solidFill>
                <a:effectLst/>
                <a:latin typeface="AdvOT72a5abab"/>
              </a:rPr>
              <a:t> aumentaram a conformidade com os padrões da empresa</a:t>
            </a:r>
            <a:endParaRPr lang="pt-BR" dirty="0"/>
          </a:p>
          <a:p>
            <a:pPr marL="171450" indent="-171450" rtl="0">
              <a:buFontTx/>
              <a:buChar char="-"/>
            </a:pPr>
            <a:endParaRPr lang="pt-BR" dirty="0"/>
          </a:p>
          <a:p>
            <a:pPr marL="171450" indent="-171450" rtl="0">
              <a:buFontTx/>
              <a:buChar char="-"/>
            </a:pPr>
            <a:endParaRPr lang="pt-BR" dirty="0"/>
          </a:p>
        </p:txBody>
      </p:sp>
      <p:sp>
        <p:nvSpPr>
          <p:cNvPr id="4" name="Espaço Reservado para o Número do Slide 3"/>
          <p:cNvSpPr>
            <a:spLocks noGrp="1"/>
          </p:cNvSpPr>
          <p:nvPr>
            <p:ph type="sldNum" sz="quarter" idx="5"/>
          </p:nvPr>
        </p:nvSpPr>
        <p:spPr/>
        <p:txBody>
          <a:bodyPr rtlCol="0"/>
          <a:lstStyle>
            <a:defPPr>
              <a:defRPr lang="pt-BR"/>
            </a:defPPr>
          </a:lstStyle>
          <a:p>
            <a:pPr rtl="0"/>
            <a:fld id="{F97DC217-DF71-1A49-B3EA-559F1F43B0FF}" type="slidenum">
              <a:rPr lang="pt-BR" smtClean="0"/>
              <a:t>18</a:t>
            </a:fld>
            <a:endParaRPr lang="pt-BR" dirty="0"/>
          </a:p>
        </p:txBody>
      </p:sp>
    </p:spTree>
    <p:extLst>
      <p:ext uri="{BB962C8B-B14F-4D97-AF65-F5344CB8AC3E}">
        <p14:creationId xmlns:p14="http://schemas.microsoft.com/office/powerpoint/2010/main" val="303389597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o Slide 1"/>
          <p:cNvSpPr>
            <a:spLocks noGrp="1" noRot="1" noChangeAspect="1"/>
          </p:cNvSpPr>
          <p:nvPr>
            <p:ph type="sldImg"/>
          </p:nvPr>
        </p:nvSpPr>
        <p:spPr/>
      </p:sp>
      <p:sp>
        <p:nvSpPr>
          <p:cNvPr id="3" name="Espaço Reservado para Notas 2"/>
          <p:cNvSpPr>
            <a:spLocks noGrp="1"/>
          </p:cNvSpPr>
          <p:nvPr>
            <p:ph type="body" idx="1"/>
          </p:nvPr>
        </p:nvSpPr>
        <p:spPr/>
        <p:txBody>
          <a:bodyPr rtlCol="0"/>
          <a:lstStyle>
            <a:defPPr>
              <a:defRPr lang="pt-BR"/>
            </a:defPPr>
          </a:lstStyle>
          <a:p>
            <a:pPr marL="171450" indent="-171450" rtl="0">
              <a:buFontTx/>
              <a:buChar char="-"/>
            </a:pPr>
            <a:r>
              <a:rPr lang="pt-BR" dirty="0"/>
              <a:t>MONITORAMENTO DE EXPRESSÕES FACIAIS: algumas organizações desenvolveram algoritmos para monitorar a linguagem coletiva e analisar sentimentos em interfaces de bate-papo em equipe</a:t>
            </a:r>
            <a:br>
              <a:rPr lang="pt-BR" dirty="0"/>
            </a:br>
            <a:endParaRPr lang="pt-BR" dirty="0"/>
          </a:p>
          <a:p>
            <a:pPr marL="171450" indent="-171450" rtl="0">
              <a:buFontTx/>
              <a:buChar char="-"/>
            </a:pPr>
            <a:r>
              <a:rPr lang="pt-BR" dirty="0"/>
              <a:t>DURAÇÃO DA PERFORMANCE DE TAREFAS: A </a:t>
            </a:r>
            <a:r>
              <a:rPr lang="pt-BR" dirty="0" err="1"/>
              <a:t>Klick</a:t>
            </a:r>
            <a:r>
              <a:rPr lang="pt-BR" dirty="0"/>
              <a:t> Health, uma grande empresa canadense de consultoria em saúde, usou uma ferramenta de aprendizado de máquina para calcular o tempo médio que os trabalhadores levaram para concluir uma variedade de tarefas e para alertar os gerentes quando os projetos pareciam estar saindo do caminho certo.</a:t>
            </a:r>
          </a:p>
        </p:txBody>
      </p:sp>
      <p:sp>
        <p:nvSpPr>
          <p:cNvPr id="4" name="Espaço Reservado para o Número do Slide 3"/>
          <p:cNvSpPr>
            <a:spLocks noGrp="1"/>
          </p:cNvSpPr>
          <p:nvPr>
            <p:ph type="sldNum" sz="quarter" idx="5"/>
          </p:nvPr>
        </p:nvSpPr>
        <p:spPr/>
        <p:txBody>
          <a:bodyPr rtlCol="0"/>
          <a:lstStyle>
            <a:defPPr>
              <a:defRPr lang="pt-BR"/>
            </a:defPPr>
          </a:lstStyle>
          <a:p>
            <a:pPr rtl="0"/>
            <a:fld id="{F97DC217-DF71-1A49-B3EA-559F1F43B0FF}" type="slidenum">
              <a:rPr lang="pt-BR" smtClean="0"/>
              <a:t>19</a:t>
            </a:fld>
            <a:endParaRPr lang="pt-BR" dirty="0"/>
          </a:p>
        </p:txBody>
      </p:sp>
    </p:spTree>
    <p:extLst>
      <p:ext uri="{BB962C8B-B14F-4D97-AF65-F5344CB8AC3E}">
        <p14:creationId xmlns:p14="http://schemas.microsoft.com/office/powerpoint/2010/main" val="333493554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o Slide 1"/>
          <p:cNvSpPr>
            <a:spLocks noGrp="1" noRot="1" noChangeAspect="1"/>
          </p:cNvSpPr>
          <p:nvPr>
            <p:ph type="sldImg"/>
          </p:nvPr>
        </p:nvSpPr>
        <p:spPr/>
      </p:sp>
      <p:sp>
        <p:nvSpPr>
          <p:cNvPr id="3" name="Espaço Reservado para Notas 2"/>
          <p:cNvSpPr>
            <a:spLocks noGrp="1"/>
          </p:cNvSpPr>
          <p:nvPr>
            <p:ph type="body" idx="1"/>
          </p:nvPr>
        </p:nvSpPr>
        <p:spPr/>
        <p:txBody>
          <a:bodyPr rtlCol="0"/>
          <a:lstStyle>
            <a:defPPr>
              <a:defRPr lang="pt-BR"/>
            </a:defPPr>
          </a:lstStyle>
          <a:p>
            <a:pPr marL="171450" indent="-171450" rtl="0">
              <a:buFontTx/>
              <a:buChar char="-"/>
            </a:pPr>
            <a:r>
              <a:rPr lang="pt-BR" dirty="0"/>
              <a:t>AMAZON, UBER, EBAY: a maioria dos mercados online e mercados de trabalho </a:t>
            </a:r>
            <a:r>
              <a:rPr lang="pt-BR" dirty="0" err="1"/>
              <a:t>online,como</a:t>
            </a:r>
            <a:r>
              <a:rPr lang="pt-BR" dirty="0"/>
              <a:t> </a:t>
            </a:r>
            <a:r>
              <a:rPr lang="pt-BR" dirty="0" err="1"/>
              <a:t>Amazon</a:t>
            </a:r>
            <a:r>
              <a:rPr lang="pt-BR" dirty="0"/>
              <a:t>, </a:t>
            </a:r>
            <a:r>
              <a:rPr lang="pt-BR" dirty="0" err="1"/>
              <a:t>Craigslist</a:t>
            </a:r>
            <a:r>
              <a:rPr lang="pt-BR" dirty="0"/>
              <a:t> e </a:t>
            </a:r>
            <a:r>
              <a:rPr lang="pt-BR" dirty="0" err="1"/>
              <a:t>Upwork</a:t>
            </a:r>
            <a:r>
              <a:rPr lang="pt-BR" dirty="0"/>
              <a:t> (Rahman,2018); Ebay (</a:t>
            </a:r>
            <a:r>
              <a:rPr lang="pt-BR" dirty="0" err="1"/>
              <a:t>Curchod</a:t>
            </a:r>
            <a:r>
              <a:rPr lang="pt-BR" dirty="0"/>
              <a:t> et al., 2019); Uber e Lyft(</a:t>
            </a:r>
            <a:r>
              <a:rPr lang="pt-BR" dirty="0" err="1"/>
              <a:t>Rosenblat</a:t>
            </a:r>
            <a:r>
              <a:rPr lang="pt-BR" dirty="0"/>
              <a:t>, 2018); </a:t>
            </a:r>
            <a:r>
              <a:rPr lang="pt-BR" dirty="0" err="1"/>
              <a:t>Airbnb</a:t>
            </a:r>
            <a:r>
              <a:rPr lang="pt-BR" dirty="0"/>
              <a:t> (</a:t>
            </a:r>
            <a:r>
              <a:rPr lang="pt-BR" dirty="0" err="1"/>
              <a:t>Jharver</a:t>
            </a:r>
            <a:r>
              <a:rPr lang="pt-BR" dirty="0"/>
              <a:t> et al., 2018); </a:t>
            </a:r>
            <a:r>
              <a:rPr lang="pt-BR" dirty="0" err="1"/>
              <a:t>eTripAdvisor</a:t>
            </a:r>
            <a:r>
              <a:rPr lang="pt-BR" dirty="0"/>
              <a:t> (</a:t>
            </a:r>
            <a:r>
              <a:rPr lang="pt-BR" dirty="0" err="1"/>
              <a:t>Orlikowski</a:t>
            </a:r>
            <a:r>
              <a:rPr lang="pt-BR" dirty="0"/>
              <a:t> &amp; Scott, 2014), e a </a:t>
            </a:r>
            <a:r>
              <a:rPr lang="pt-BR" dirty="0" err="1"/>
              <a:t>maioriadas</a:t>
            </a:r>
            <a:r>
              <a:rPr lang="pt-BR" dirty="0"/>
              <a:t> comunidades de saúde online (Barrett et al., 2016) </a:t>
            </a:r>
            <a:r>
              <a:rPr lang="pt-BR" dirty="0" err="1"/>
              <a:t>têmusado</a:t>
            </a:r>
            <a:r>
              <a:rPr lang="pt-BR" dirty="0"/>
              <a:t> sistemas de classificação gerados pelo usuário.</a:t>
            </a:r>
            <a:br>
              <a:rPr lang="pt-BR" dirty="0"/>
            </a:br>
            <a:endParaRPr lang="pt-BR" dirty="0"/>
          </a:p>
          <a:p>
            <a:pPr marL="171450" indent="-171450" rtl="0">
              <a:buFontTx/>
              <a:buChar char="-"/>
            </a:pPr>
            <a:r>
              <a:rPr lang="pt-BR" dirty="0"/>
              <a:t>REDAÇÕES DE JORNAIS: No jornalismo na </a:t>
            </a:r>
            <a:r>
              <a:rPr lang="pt-BR" dirty="0" err="1"/>
              <a:t>web,muitas</a:t>
            </a:r>
            <a:r>
              <a:rPr lang="pt-BR" dirty="0"/>
              <a:t> redações usaram dados, incluindo classificações produzidas por sistemas de gerenciamento de conteúdo e programas de software de análise para rastrear as preferências </a:t>
            </a:r>
            <a:r>
              <a:rPr lang="pt-BR" dirty="0" err="1"/>
              <a:t>deleitores</a:t>
            </a:r>
            <a:r>
              <a:rPr lang="pt-BR" dirty="0"/>
              <a:t> online para gerenciar o fluxo de trabalho de seus funcionários</a:t>
            </a:r>
            <a:br>
              <a:rPr lang="pt-BR" dirty="0"/>
            </a:br>
            <a:endParaRPr lang="pt-BR" dirty="0"/>
          </a:p>
          <a:p>
            <a:pPr marL="171450" indent="-171450" rtl="0">
              <a:buFontTx/>
              <a:buChar char="-"/>
            </a:pPr>
            <a:r>
              <a:rPr lang="pt-BR" dirty="0"/>
              <a:t>RESTAURANTES E HOTÉIS: Os clientes podiam avaliar restaurantes e </a:t>
            </a:r>
            <a:r>
              <a:rPr lang="pt-BR" dirty="0" err="1"/>
              <a:t>hotéispor</a:t>
            </a:r>
            <a:r>
              <a:rPr lang="pt-BR" dirty="0"/>
              <a:t> meio de classificações em uma variedade de categorias (valor, serviço e qualidade do quarto); eles também podiam postar comentários e fotos no site do agregador. </a:t>
            </a:r>
            <a:r>
              <a:rPr lang="pt-BR" dirty="0" err="1"/>
              <a:t>Essefluxo</a:t>
            </a:r>
            <a:r>
              <a:rPr lang="pt-BR" dirty="0"/>
              <a:t> contínuo de classificações era rotineiramente usado pelos gerentes para monitorar o desempenho de sua equipe</a:t>
            </a:r>
          </a:p>
          <a:p>
            <a:pPr marL="171450" indent="-171450" rtl="0">
              <a:buFontTx/>
              <a:buChar char="-"/>
            </a:pPr>
            <a:endParaRPr lang="pt-BR" dirty="0"/>
          </a:p>
        </p:txBody>
      </p:sp>
      <p:sp>
        <p:nvSpPr>
          <p:cNvPr id="4" name="Espaço Reservado para o Número do Slide 3"/>
          <p:cNvSpPr>
            <a:spLocks noGrp="1"/>
          </p:cNvSpPr>
          <p:nvPr>
            <p:ph type="sldNum" sz="quarter" idx="5"/>
          </p:nvPr>
        </p:nvSpPr>
        <p:spPr/>
        <p:txBody>
          <a:bodyPr rtlCol="0"/>
          <a:lstStyle>
            <a:defPPr>
              <a:defRPr lang="pt-BR"/>
            </a:defPPr>
          </a:lstStyle>
          <a:p>
            <a:pPr rtl="0"/>
            <a:fld id="{F97DC217-DF71-1A49-B3EA-559F1F43B0FF}" type="slidenum">
              <a:rPr lang="pt-BR" smtClean="0"/>
              <a:t>20</a:t>
            </a:fld>
            <a:endParaRPr lang="pt-BR" dirty="0"/>
          </a:p>
        </p:txBody>
      </p:sp>
    </p:spTree>
    <p:extLst>
      <p:ext uri="{BB962C8B-B14F-4D97-AF65-F5344CB8AC3E}">
        <p14:creationId xmlns:p14="http://schemas.microsoft.com/office/powerpoint/2010/main" val="344102231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o Slide 1"/>
          <p:cNvSpPr>
            <a:spLocks noGrp="1" noRot="1" noChangeAspect="1"/>
          </p:cNvSpPr>
          <p:nvPr>
            <p:ph type="sldImg"/>
          </p:nvPr>
        </p:nvSpPr>
        <p:spPr/>
      </p:sp>
      <p:sp>
        <p:nvSpPr>
          <p:cNvPr id="3" name="Espaço Reservado para Notas 2"/>
          <p:cNvSpPr>
            <a:spLocks noGrp="1"/>
          </p:cNvSpPr>
          <p:nvPr>
            <p:ph type="body" idx="1"/>
          </p:nvPr>
        </p:nvSpPr>
        <p:spPr/>
        <p:txBody>
          <a:bodyPr rtlCol="0"/>
          <a:lstStyle>
            <a:defPPr>
              <a:defRPr lang="pt-BR"/>
            </a:defPPr>
          </a:lstStyle>
          <a:p>
            <a:pPr marL="171450" indent="-171450" rtl="0">
              <a:buFontTx/>
              <a:buChar char="-"/>
            </a:pPr>
            <a:r>
              <a:rPr lang="pt-BR" dirty="0"/>
              <a:t>UBER, AMAZON: Em plataformas como </a:t>
            </a:r>
            <a:r>
              <a:rPr lang="pt-BR" dirty="0" err="1"/>
              <a:t>Amazon</a:t>
            </a:r>
            <a:r>
              <a:rPr lang="pt-BR" dirty="0"/>
              <a:t> </a:t>
            </a:r>
            <a:r>
              <a:rPr lang="pt-BR" dirty="0" err="1"/>
              <a:t>Mechanical</a:t>
            </a:r>
            <a:r>
              <a:rPr lang="pt-BR" dirty="0"/>
              <a:t> Turk (Irani, 2015), Uber (</a:t>
            </a:r>
            <a:r>
              <a:rPr lang="pt-BR" dirty="0" err="1"/>
              <a:t>Rosenblat</a:t>
            </a:r>
            <a:r>
              <a:rPr lang="pt-BR" dirty="0"/>
              <a:t> &amp; Stark, 2016) e Caviar (Shapiro, 2018), os </a:t>
            </a:r>
            <a:r>
              <a:rPr lang="pt-BR" dirty="0" err="1"/>
              <a:t>trabalhadoresque</a:t>
            </a:r>
            <a:r>
              <a:rPr lang="pt-BR" dirty="0"/>
              <a:t> não cumpriam as diretivas eram banidos da plataforma ou punidos, fazendo seus perfis extremamente difíceis de encontrar</a:t>
            </a:r>
          </a:p>
          <a:p>
            <a:pPr marL="0" indent="0" rtl="0">
              <a:buFontTx/>
              <a:buNone/>
            </a:pPr>
            <a:endParaRPr lang="pt-BR" dirty="0"/>
          </a:p>
          <a:p>
            <a:pPr marL="171450" indent="-171450" rtl="0">
              <a:buFontTx/>
              <a:buChar char="-"/>
            </a:pPr>
            <a:r>
              <a:rPr lang="pt-BR" dirty="0"/>
              <a:t>RECRUTAMENTO AUTOMÁTICO POR PLATAFORMAS: Por exemplo, os empregadores usaram plataformas de contratação como </a:t>
            </a:r>
            <a:r>
              <a:rPr lang="pt-BR" dirty="0" err="1"/>
              <a:t>Equifax</a:t>
            </a:r>
            <a:r>
              <a:rPr lang="pt-BR" dirty="0"/>
              <a:t>, Kronos, </a:t>
            </a:r>
            <a:r>
              <a:rPr lang="pt-BR" dirty="0" err="1"/>
              <a:t>SnagaJob</a:t>
            </a:r>
            <a:r>
              <a:rPr lang="pt-BR" dirty="0"/>
              <a:t> e </a:t>
            </a:r>
            <a:r>
              <a:rPr lang="pt-BR" dirty="0" err="1"/>
              <a:t>Recruit</a:t>
            </a:r>
            <a:r>
              <a:rPr lang="pt-BR" dirty="0"/>
              <a:t> para que os trabalhadores enviassem seu histórico de trabalho, informações de identificação e disponibilidade de horário; os trabalhadores precisavam concordar em fazer verificações de antecedentes e participar de longas avaliações de personalidade e habilidades para que o software algorítmico pudesse processar e classificar automaticamente os candidatos de acordo com os critérios do empregador. </a:t>
            </a:r>
          </a:p>
        </p:txBody>
      </p:sp>
      <p:sp>
        <p:nvSpPr>
          <p:cNvPr id="4" name="Espaço Reservado para o Número do Slide 3"/>
          <p:cNvSpPr>
            <a:spLocks noGrp="1"/>
          </p:cNvSpPr>
          <p:nvPr>
            <p:ph type="sldNum" sz="quarter" idx="5"/>
          </p:nvPr>
        </p:nvSpPr>
        <p:spPr/>
        <p:txBody>
          <a:bodyPr rtlCol="0"/>
          <a:lstStyle>
            <a:defPPr>
              <a:defRPr lang="pt-BR"/>
            </a:defPPr>
          </a:lstStyle>
          <a:p>
            <a:pPr rtl="0"/>
            <a:fld id="{F97DC217-DF71-1A49-B3EA-559F1F43B0FF}" type="slidenum">
              <a:rPr lang="pt-BR" smtClean="0"/>
              <a:t>21</a:t>
            </a:fld>
            <a:endParaRPr lang="pt-BR" dirty="0"/>
          </a:p>
        </p:txBody>
      </p:sp>
    </p:spTree>
    <p:extLst>
      <p:ext uri="{BB962C8B-B14F-4D97-AF65-F5344CB8AC3E}">
        <p14:creationId xmlns:p14="http://schemas.microsoft.com/office/powerpoint/2010/main" val="32544192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o Slide 1"/>
          <p:cNvSpPr>
            <a:spLocks noGrp="1" noRot="1" noChangeAspect="1"/>
          </p:cNvSpPr>
          <p:nvPr>
            <p:ph type="sldImg"/>
          </p:nvPr>
        </p:nvSpPr>
        <p:spPr/>
      </p:sp>
      <p:sp>
        <p:nvSpPr>
          <p:cNvPr id="3" name="Espaço Reservado para Notas 2"/>
          <p:cNvSpPr>
            <a:spLocks noGrp="1"/>
          </p:cNvSpPr>
          <p:nvPr>
            <p:ph type="body" idx="1"/>
          </p:nvPr>
        </p:nvSpPr>
        <p:spPr/>
        <p:txBody>
          <a:bodyPr rtlCol="0"/>
          <a:lstStyle>
            <a:defPPr>
              <a:defRPr lang="pt-BR"/>
            </a:defPPr>
          </a:lstStyle>
          <a:p>
            <a:pPr marL="171450" indent="-171450" rtl="0">
              <a:buFontTx/>
              <a:buChar char="-"/>
            </a:pPr>
            <a:r>
              <a:rPr lang="pt-BR" dirty="0"/>
              <a:t>MAIS TRABALHO, MAIORES REMUNERAÇÕES: . Em mercados de trabalho de plataforma como </a:t>
            </a:r>
            <a:r>
              <a:rPr lang="pt-BR" dirty="0" err="1"/>
              <a:t>Amazon</a:t>
            </a:r>
            <a:r>
              <a:rPr lang="pt-BR" dirty="0"/>
              <a:t> </a:t>
            </a:r>
            <a:r>
              <a:rPr lang="pt-BR" dirty="0" err="1"/>
              <a:t>Mechanical</a:t>
            </a:r>
            <a:r>
              <a:rPr lang="pt-BR" dirty="0"/>
              <a:t> Turk (Irani, 2015), Uber (</a:t>
            </a:r>
            <a:r>
              <a:rPr lang="pt-BR" dirty="0" err="1"/>
              <a:t>Rosenblat</a:t>
            </a:r>
            <a:r>
              <a:rPr lang="pt-BR" dirty="0"/>
              <a:t> &amp;Stark, 2016), Caviar (Shapiro, 2018) e outros trabalhadores que cumpriram com atribuições algorítmicas foram imediatamente </a:t>
            </a:r>
            <a:r>
              <a:rPr lang="pt-BR" dirty="0" err="1"/>
              <a:t>recompensadoscom</a:t>
            </a:r>
            <a:r>
              <a:rPr lang="pt-BR" dirty="0"/>
              <a:t> mais trabalho, salários mais altos e maior flexibilidade</a:t>
            </a:r>
          </a:p>
          <a:p>
            <a:pPr marL="171450" indent="-171450" rtl="0">
              <a:buFontTx/>
              <a:buChar char="-"/>
            </a:pPr>
            <a:endParaRPr lang="pt-BR" dirty="0"/>
          </a:p>
          <a:p>
            <a:pPr marL="171450" indent="-171450" rtl="0">
              <a:buFontTx/>
              <a:buChar char="-"/>
            </a:pPr>
            <a:r>
              <a:rPr lang="pt-BR" dirty="0"/>
              <a:t>USO DE APLICATIVOS COM PONTUAÇÃO: Nike, </a:t>
            </a:r>
            <a:r>
              <a:rPr lang="pt-BR" dirty="0" err="1"/>
              <a:t>Google,Microsoft</a:t>
            </a:r>
            <a:r>
              <a:rPr lang="pt-BR" dirty="0"/>
              <a:t>, Deloitte, </a:t>
            </a:r>
            <a:r>
              <a:rPr lang="pt-BR" dirty="0" err="1"/>
              <a:t>Amazon</a:t>
            </a:r>
            <a:r>
              <a:rPr lang="pt-BR" dirty="0"/>
              <a:t>, Samsung, Target, Disney e muitas outras grandes corporações incorporaram os métodos de design de jogos em seus processos de </a:t>
            </a:r>
            <a:r>
              <a:rPr lang="pt-BR" dirty="0" err="1"/>
              <a:t>negóciosdo</a:t>
            </a:r>
            <a:r>
              <a:rPr lang="pt-BR" dirty="0"/>
              <a:t> dia a dia (Kim, 2018). Elas confiaram </a:t>
            </a:r>
            <a:r>
              <a:rPr lang="pt-BR" dirty="0" err="1"/>
              <a:t>emaplicativos</a:t>
            </a:r>
            <a:r>
              <a:rPr lang="pt-BR" dirty="0"/>
              <a:t> baseados em smartphones, placares e elementos </a:t>
            </a:r>
            <a:r>
              <a:rPr lang="pt-BR" dirty="0" err="1"/>
              <a:t>dejogos</a:t>
            </a:r>
            <a:r>
              <a:rPr lang="pt-BR" dirty="0"/>
              <a:t> de vídeo/aplicativo, como pontos e emblemas digitais </a:t>
            </a:r>
            <a:r>
              <a:rPr lang="pt-BR" dirty="0" err="1"/>
              <a:t>parapromover</a:t>
            </a:r>
            <a:r>
              <a:rPr lang="pt-BR" dirty="0"/>
              <a:t> a estrutura, a aparência e a sensação de </a:t>
            </a:r>
            <a:r>
              <a:rPr lang="pt-BR" dirty="0" err="1"/>
              <a:t>umjogo</a:t>
            </a:r>
            <a:r>
              <a:rPr lang="pt-BR" dirty="0"/>
              <a:t> projetado com a intenção de promover as metas do empregador</a:t>
            </a:r>
          </a:p>
        </p:txBody>
      </p:sp>
      <p:sp>
        <p:nvSpPr>
          <p:cNvPr id="4" name="Espaço Reservado para o Número do Slide 3"/>
          <p:cNvSpPr>
            <a:spLocks noGrp="1"/>
          </p:cNvSpPr>
          <p:nvPr>
            <p:ph type="sldNum" sz="quarter" idx="5"/>
          </p:nvPr>
        </p:nvSpPr>
        <p:spPr/>
        <p:txBody>
          <a:bodyPr rtlCol="0"/>
          <a:lstStyle>
            <a:defPPr>
              <a:defRPr lang="pt-BR"/>
            </a:defPPr>
          </a:lstStyle>
          <a:p>
            <a:pPr rtl="0"/>
            <a:fld id="{F97DC217-DF71-1A49-B3EA-559F1F43B0FF}" type="slidenum">
              <a:rPr lang="pt-BR" smtClean="0"/>
              <a:t>22</a:t>
            </a:fld>
            <a:endParaRPr lang="pt-BR" dirty="0"/>
          </a:p>
        </p:txBody>
      </p:sp>
    </p:spTree>
    <p:extLst>
      <p:ext uri="{BB962C8B-B14F-4D97-AF65-F5344CB8AC3E}">
        <p14:creationId xmlns:p14="http://schemas.microsoft.com/office/powerpoint/2010/main" val="60729261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o Slide 1"/>
          <p:cNvSpPr>
            <a:spLocks noGrp="1" noRot="1" noChangeAspect="1"/>
          </p:cNvSpPr>
          <p:nvPr>
            <p:ph type="sldImg"/>
          </p:nvPr>
        </p:nvSpPr>
        <p:spPr/>
      </p:sp>
      <p:sp>
        <p:nvSpPr>
          <p:cNvPr id="3" name="Espaço Reservado para Notas 2"/>
          <p:cNvSpPr>
            <a:spLocks noGrp="1"/>
          </p:cNvSpPr>
          <p:nvPr>
            <p:ph type="body" idx="1"/>
          </p:nvPr>
        </p:nvSpPr>
        <p:spPr/>
        <p:txBody>
          <a:bodyPr rtlCol="0"/>
          <a:lstStyle>
            <a:defPPr>
              <a:defRPr lang="pt-BR"/>
            </a:defPPr>
          </a:lstStyle>
          <a:p>
            <a:pPr marL="171450" indent="-171450" rtl="0">
              <a:buFontTx/>
              <a:buChar char="-"/>
            </a:pPr>
            <a:r>
              <a:rPr lang="pt-BR" dirty="0"/>
              <a:t>CASO DOS TELEMARKETINGS: Como sua remuneração dependia de comissões e porque as recomendações frequentemente entravam em conflito com os próprios julgamentos dos vendedores sobre quais clientes eram os melhores alvos, os trabalhadores apenas simbolicamente cumpriam as recomendações.</a:t>
            </a:r>
            <a:br>
              <a:rPr lang="pt-BR" dirty="0"/>
            </a:br>
            <a:endParaRPr lang="pt-BR" dirty="0"/>
          </a:p>
          <a:p>
            <a:pPr marL="171450" indent="-171450" rtl="0">
              <a:buFontTx/>
              <a:buChar char="-"/>
            </a:pPr>
            <a:r>
              <a:rPr lang="pt-BR" dirty="0"/>
              <a:t>ENTREGADORES DE COMIDA: plataformas de entrega de alimentos restringiam informações sobre turnos </a:t>
            </a:r>
            <a:r>
              <a:rPr lang="pt-BR" dirty="0" err="1"/>
              <a:t>disponíveise</a:t>
            </a:r>
            <a:r>
              <a:rPr lang="pt-BR" dirty="0"/>
              <a:t> pedidos de entrega, então os motoristas só </a:t>
            </a:r>
            <a:r>
              <a:rPr lang="pt-BR" dirty="0" err="1"/>
              <a:t>conseguiamescolher</a:t>
            </a:r>
            <a:r>
              <a:rPr lang="pt-BR" dirty="0"/>
              <a:t> entre as opções apresentadas a </a:t>
            </a:r>
            <a:r>
              <a:rPr lang="pt-BR" dirty="0" err="1"/>
              <a:t>elespelas</a:t>
            </a:r>
            <a:r>
              <a:rPr lang="pt-BR" dirty="0"/>
              <a:t> interfaces algorítmicas, sem compreender </a:t>
            </a:r>
            <a:r>
              <a:rPr lang="pt-BR" dirty="0" err="1"/>
              <a:t>totalmenteque</a:t>
            </a:r>
            <a:r>
              <a:rPr lang="pt-BR" dirty="0"/>
              <a:t> tipo de informação estava sendo restringida</a:t>
            </a:r>
          </a:p>
          <a:p>
            <a:pPr marL="171450" indent="-171450" rtl="0">
              <a:buFontTx/>
              <a:buChar char="-"/>
            </a:pPr>
            <a:endParaRPr lang="pt-BR" dirty="0"/>
          </a:p>
        </p:txBody>
      </p:sp>
      <p:sp>
        <p:nvSpPr>
          <p:cNvPr id="4" name="Espaço Reservado para o Número do Slide 3"/>
          <p:cNvSpPr>
            <a:spLocks noGrp="1"/>
          </p:cNvSpPr>
          <p:nvPr>
            <p:ph type="sldNum" sz="quarter" idx="5"/>
          </p:nvPr>
        </p:nvSpPr>
        <p:spPr/>
        <p:txBody>
          <a:bodyPr rtlCol="0"/>
          <a:lstStyle>
            <a:defPPr>
              <a:defRPr lang="pt-BR"/>
            </a:defPPr>
          </a:lstStyle>
          <a:p>
            <a:pPr rtl="0"/>
            <a:fld id="{F97DC217-DF71-1A49-B3EA-559F1F43B0FF}" type="slidenum">
              <a:rPr lang="pt-BR" smtClean="0"/>
              <a:t>23</a:t>
            </a:fld>
            <a:endParaRPr lang="pt-BR" dirty="0"/>
          </a:p>
        </p:txBody>
      </p:sp>
    </p:spTree>
    <p:extLst>
      <p:ext uri="{BB962C8B-B14F-4D97-AF65-F5344CB8AC3E}">
        <p14:creationId xmlns:p14="http://schemas.microsoft.com/office/powerpoint/2010/main" val="422113767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o Slide 1"/>
          <p:cNvSpPr>
            <a:spLocks noGrp="1" noRot="1" noChangeAspect="1"/>
          </p:cNvSpPr>
          <p:nvPr>
            <p:ph type="sldImg"/>
          </p:nvPr>
        </p:nvSpPr>
        <p:spPr/>
      </p:sp>
      <p:sp>
        <p:nvSpPr>
          <p:cNvPr id="3" name="Espaço Reservado para Notas 2"/>
          <p:cNvSpPr>
            <a:spLocks noGrp="1"/>
          </p:cNvSpPr>
          <p:nvPr>
            <p:ph type="body" idx="1"/>
          </p:nvPr>
        </p:nvSpPr>
        <p:spPr/>
        <p:txBody>
          <a:bodyPr rtlCol="0"/>
          <a:lstStyle>
            <a:defPPr>
              <a:defRPr lang="pt-BR"/>
            </a:defPPr>
          </a:lstStyle>
          <a:p>
            <a:pPr marL="0" indent="0" rtl="0">
              <a:buFontTx/>
              <a:buNone/>
            </a:pPr>
            <a:endParaRPr lang="pt-BR" dirty="0"/>
          </a:p>
        </p:txBody>
      </p:sp>
      <p:sp>
        <p:nvSpPr>
          <p:cNvPr id="4" name="Espaço Reservado para o Número do Slide 3"/>
          <p:cNvSpPr>
            <a:spLocks noGrp="1"/>
          </p:cNvSpPr>
          <p:nvPr>
            <p:ph type="sldNum" sz="quarter" idx="5"/>
          </p:nvPr>
        </p:nvSpPr>
        <p:spPr/>
        <p:txBody>
          <a:bodyPr rtlCol="0"/>
          <a:lstStyle>
            <a:defPPr>
              <a:defRPr lang="pt-BR"/>
            </a:defPPr>
          </a:lstStyle>
          <a:p>
            <a:pPr rtl="0"/>
            <a:fld id="{F97DC217-DF71-1A49-B3EA-559F1F43B0FF}" type="slidenum">
              <a:rPr lang="pt-BR" smtClean="0"/>
              <a:t>24</a:t>
            </a:fld>
            <a:endParaRPr lang="pt-BR" dirty="0"/>
          </a:p>
        </p:txBody>
      </p:sp>
    </p:spTree>
    <p:extLst>
      <p:ext uri="{BB962C8B-B14F-4D97-AF65-F5344CB8AC3E}">
        <p14:creationId xmlns:p14="http://schemas.microsoft.com/office/powerpoint/2010/main" val="338241947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o Slide 1"/>
          <p:cNvSpPr>
            <a:spLocks noGrp="1" noRot="1" noChangeAspect="1"/>
          </p:cNvSpPr>
          <p:nvPr>
            <p:ph type="sldImg"/>
          </p:nvPr>
        </p:nvSpPr>
        <p:spPr/>
      </p:sp>
      <p:sp>
        <p:nvSpPr>
          <p:cNvPr id="3" name="Espaço Reservado para Notas 2"/>
          <p:cNvSpPr>
            <a:spLocks noGrp="1"/>
          </p:cNvSpPr>
          <p:nvPr>
            <p:ph type="body" idx="1"/>
          </p:nvPr>
        </p:nvSpPr>
        <p:spPr/>
        <p:txBody>
          <a:bodyPr rtlCol="0"/>
          <a:lstStyle>
            <a:defPPr>
              <a:defRPr lang="pt-BR"/>
            </a:defPPr>
          </a:lstStyle>
          <a:p>
            <a:pPr marL="171450" indent="-171450" rtl="0">
              <a:buFontTx/>
              <a:buChar char="-"/>
            </a:pPr>
            <a:endParaRPr lang="pt-BR" dirty="0"/>
          </a:p>
        </p:txBody>
      </p:sp>
      <p:sp>
        <p:nvSpPr>
          <p:cNvPr id="4" name="Espaço Reservado para o Número do Slide 3"/>
          <p:cNvSpPr>
            <a:spLocks noGrp="1"/>
          </p:cNvSpPr>
          <p:nvPr>
            <p:ph type="sldNum" sz="quarter" idx="5"/>
          </p:nvPr>
        </p:nvSpPr>
        <p:spPr/>
        <p:txBody>
          <a:bodyPr rtlCol="0"/>
          <a:lstStyle>
            <a:defPPr>
              <a:defRPr lang="pt-BR"/>
            </a:defPPr>
          </a:lstStyle>
          <a:p>
            <a:pPr rtl="0"/>
            <a:fld id="{F97DC217-DF71-1A49-B3EA-559F1F43B0FF}" type="slidenum">
              <a:rPr lang="pt-BR" smtClean="0"/>
              <a:t>25</a:t>
            </a:fld>
            <a:endParaRPr lang="pt-BR" dirty="0"/>
          </a:p>
        </p:txBody>
      </p:sp>
    </p:spTree>
    <p:extLst>
      <p:ext uri="{BB962C8B-B14F-4D97-AF65-F5344CB8AC3E}">
        <p14:creationId xmlns:p14="http://schemas.microsoft.com/office/powerpoint/2010/main" val="370873921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o Slide 1"/>
          <p:cNvSpPr>
            <a:spLocks noGrp="1" noRot="1" noChangeAspect="1"/>
          </p:cNvSpPr>
          <p:nvPr>
            <p:ph type="sldImg"/>
          </p:nvPr>
        </p:nvSpPr>
        <p:spPr/>
      </p:sp>
      <p:sp>
        <p:nvSpPr>
          <p:cNvPr id="3" name="Espaço Reservado para Notas 2"/>
          <p:cNvSpPr>
            <a:spLocks noGrp="1"/>
          </p:cNvSpPr>
          <p:nvPr>
            <p:ph type="body" idx="1"/>
          </p:nvPr>
        </p:nvSpPr>
        <p:spPr/>
        <p:txBody>
          <a:bodyPr rtlCol="0"/>
          <a:lstStyle>
            <a:defPPr>
              <a:defRPr lang="pt-BR"/>
            </a:defPPr>
          </a:lstStyle>
          <a:p>
            <a:pPr marL="171450" indent="-171450" rtl="0">
              <a:buFontTx/>
              <a:buChar char="-"/>
            </a:pPr>
            <a:r>
              <a:rPr lang="pt-BR" dirty="0"/>
              <a:t>CURADORIA ALGORÍTMICA (POSTAGENS EM REDES SOCIAIS). Os empregadores tendem a externalizar o trabalho de curadoria, que normalmente é feito </a:t>
            </a:r>
            <a:r>
              <a:rPr lang="pt-BR" dirty="0" err="1"/>
              <a:t>portrabalhadores</a:t>
            </a:r>
            <a:r>
              <a:rPr lang="pt-BR" dirty="0"/>
              <a:t> temporários, que foram caracterizados </a:t>
            </a:r>
            <a:r>
              <a:rPr lang="pt-BR" dirty="0" err="1"/>
              <a:t>como“trabalhadores</a:t>
            </a:r>
            <a:r>
              <a:rPr lang="pt-BR" dirty="0"/>
              <a:t> fantasmas” ou “trabalhadores de multidão</a:t>
            </a:r>
            <a:br>
              <a:rPr lang="pt-BR" dirty="0"/>
            </a:br>
            <a:br>
              <a:rPr lang="pt-BR" dirty="0"/>
            </a:br>
            <a:r>
              <a:rPr lang="pt-BR" dirty="0"/>
              <a:t>Da mesma forma, as principais plataformas de mídia social tendem a terceirizar a curadoria de postagens de mídia social para empresas subcontratadas, onde trabalhadores com baixa remuneração e sem benefícios excluem manualmente o conteúdo ofensivo.</a:t>
            </a:r>
            <a:br>
              <a:rPr lang="pt-BR" dirty="0"/>
            </a:br>
            <a:endParaRPr lang="pt-BR" dirty="0"/>
          </a:p>
          <a:p>
            <a:pPr marL="171450" indent="-171450" rtl="0">
              <a:buFontTx/>
              <a:buChar char="-"/>
            </a:pPr>
            <a:r>
              <a:rPr lang="pt-BR" dirty="0"/>
              <a:t>CORRETAGEM ALGORÍTMICA: Os empregadores, portanto, podem contratar “</a:t>
            </a:r>
            <a:r>
              <a:rPr lang="pt-BR" dirty="0" err="1"/>
              <a:t>treinadores,explicadores</a:t>
            </a:r>
            <a:r>
              <a:rPr lang="pt-BR" dirty="0"/>
              <a:t> e sustentadores” algorítmicos e “tradutores de dados” </a:t>
            </a:r>
            <a:r>
              <a:rPr lang="pt-BR" dirty="0" err="1"/>
              <a:t>paratraduzir</a:t>
            </a:r>
            <a:r>
              <a:rPr lang="pt-BR" dirty="0"/>
              <a:t>, treinar e vender a outros trabalhadores os </a:t>
            </a:r>
            <a:r>
              <a:rPr lang="pt-BR" dirty="0" err="1"/>
              <a:t>méritosdos</a:t>
            </a:r>
            <a:r>
              <a:rPr lang="pt-BR" dirty="0"/>
              <a:t> algoritmos</a:t>
            </a:r>
            <a:br>
              <a:rPr lang="pt-BR" dirty="0"/>
            </a:br>
            <a:endParaRPr lang="pt-BR" dirty="0"/>
          </a:p>
          <a:p>
            <a:pPr marL="171450" indent="-171450" rtl="0">
              <a:buFontTx/>
              <a:buChar char="-"/>
            </a:pPr>
            <a:r>
              <a:rPr lang="pt-BR" dirty="0"/>
              <a:t>ARTICULAÇÃO ALGORÍTMICA: Por exemplo, muitas organizações “orientadas por </a:t>
            </a:r>
            <a:r>
              <a:rPr lang="pt-BR" dirty="0" err="1"/>
              <a:t>dados”desenvolveram</a:t>
            </a:r>
            <a:r>
              <a:rPr lang="pt-BR" dirty="0"/>
              <a:t> novas divisões de </a:t>
            </a:r>
            <a:r>
              <a:rPr lang="pt-BR" dirty="0" err="1"/>
              <a:t>trabalhoentre</a:t>
            </a:r>
            <a:r>
              <a:rPr lang="pt-BR" dirty="0"/>
              <a:t> desenvolvedores de algoritmos, engenheiros de </a:t>
            </a:r>
            <a:r>
              <a:rPr lang="pt-BR" dirty="0" err="1"/>
              <a:t>plataforma,engenheiros</a:t>
            </a:r>
            <a:r>
              <a:rPr lang="pt-BR" dirty="0"/>
              <a:t> não-algorítmicos, designers de interface de usuário, </a:t>
            </a:r>
            <a:r>
              <a:rPr lang="pt-BR" dirty="0" err="1"/>
              <a:t>engenheirosde</a:t>
            </a:r>
            <a:r>
              <a:rPr lang="pt-BR" dirty="0"/>
              <a:t> teste de usuário, desenvolvedores de produtos e equipe de suporte </a:t>
            </a:r>
            <a:r>
              <a:rPr lang="pt-BR" dirty="0" err="1"/>
              <a:t>detecnologia</a:t>
            </a:r>
            <a:r>
              <a:rPr lang="pt-BR" dirty="0"/>
              <a:t> da informação. </a:t>
            </a:r>
          </a:p>
          <a:p>
            <a:pPr marL="171450" indent="-171450" rtl="0">
              <a:buFontTx/>
              <a:buChar char="-"/>
            </a:pPr>
            <a:endParaRPr lang="pt-BR" dirty="0"/>
          </a:p>
          <a:p>
            <a:pPr marL="171450" indent="-171450" rtl="0">
              <a:buFontTx/>
              <a:buChar char="-"/>
            </a:pPr>
            <a:r>
              <a:rPr lang="pt-BR" dirty="0"/>
              <a:t>Membros </a:t>
            </a:r>
            <a:r>
              <a:rPr lang="pt-BR" dirty="0" err="1"/>
              <a:t>decada</a:t>
            </a:r>
            <a:r>
              <a:rPr lang="pt-BR" dirty="0"/>
              <a:t> um desses grupos realizaram um extenso trabalho de articulação para integrar seu próprio trabalho </a:t>
            </a:r>
            <a:r>
              <a:rPr lang="pt-BR" dirty="0" err="1"/>
              <a:t>especializadocom</a:t>
            </a:r>
            <a:r>
              <a:rPr lang="pt-BR" dirty="0"/>
              <a:t> o trabalho jurisdicional de outros grupos. Da mesma forma, consultores digitais e gerentes de projeto se </a:t>
            </a:r>
            <a:r>
              <a:rPr lang="pt-BR" dirty="0" err="1"/>
              <a:t>envolveramem</a:t>
            </a:r>
            <a:r>
              <a:rPr lang="pt-BR" dirty="0"/>
              <a:t> tal trabalho de articulação integrativa, pois desenvolveram e mantiveram sistemas algorítmicos efluxos de trabalho</a:t>
            </a:r>
          </a:p>
        </p:txBody>
      </p:sp>
      <p:sp>
        <p:nvSpPr>
          <p:cNvPr id="4" name="Espaço Reservado para o Número do Slide 3"/>
          <p:cNvSpPr>
            <a:spLocks noGrp="1"/>
          </p:cNvSpPr>
          <p:nvPr>
            <p:ph type="sldNum" sz="quarter" idx="5"/>
          </p:nvPr>
        </p:nvSpPr>
        <p:spPr/>
        <p:txBody>
          <a:bodyPr rtlCol="0"/>
          <a:lstStyle>
            <a:defPPr>
              <a:defRPr lang="pt-BR"/>
            </a:defPPr>
          </a:lstStyle>
          <a:p>
            <a:pPr rtl="0"/>
            <a:fld id="{F97DC217-DF71-1A49-B3EA-559F1F43B0FF}" type="slidenum">
              <a:rPr lang="pt-BR" smtClean="0"/>
              <a:t>26</a:t>
            </a:fld>
            <a:endParaRPr lang="pt-BR" dirty="0"/>
          </a:p>
        </p:txBody>
      </p:sp>
    </p:spTree>
    <p:extLst>
      <p:ext uri="{BB962C8B-B14F-4D97-AF65-F5344CB8AC3E}">
        <p14:creationId xmlns:p14="http://schemas.microsoft.com/office/powerpoint/2010/main" val="390351006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o Slide 1"/>
          <p:cNvSpPr>
            <a:spLocks noGrp="1" noRot="1" noChangeAspect="1"/>
          </p:cNvSpPr>
          <p:nvPr>
            <p:ph type="sldImg"/>
          </p:nvPr>
        </p:nvSpPr>
        <p:spPr/>
      </p:sp>
      <p:sp>
        <p:nvSpPr>
          <p:cNvPr id="3" name="Espaço Reservado para Notas 2"/>
          <p:cNvSpPr>
            <a:spLocks noGrp="1"/>
          </p:cNvSpPr>
          <p:nvPr>
            <p:ph type="body" idx="1"/>
          </p:nvPr>
        </p:nvSpPr>
        <p:spPr/>
        <p:txBody>
          <a:bodyPr rtlCol="0"/>
          <a:lstStyle>
            <a:defPPr>
              <a:defRPr lang="pt-BR"/>
            </a:defPPr>
          </a:lstStyle>
          <a:p>
            <a:pPr marL="171450" indent="-171450" rtl="0">
              <a:buFontTx/>
              <a:buChar char="-"/>
            </a:pPr>
            <a:r>
              <a:rPr lang="pt-BR" dirty="0"/>
              <a:t>RESISTÊNCIA INDIVIDUAL: não cooperação, alavancagem de </a:t>
            </a:r>
            <a:r>
              <a:rPr lang="pt-BR" dirty="0" err="1"/>
              <a:t>algoritmose</a:t>
            </a:r>
            <a:r>
              <a:rPr lang="pt-BR" dirty="0"/>
              <a:t> negociação pessoal com clientes.</a:t>
            </a:r>
            <a:br>
              <a:rPr lang="pt-BR" dirty="0"/>
            </a:br>
            <a:br>
              <a:rPr lang="pt-BR" dirty="0"/>
            </a:br>
            <a:r>
              <a:rPr lang="pt-BR" dirty="0"/>
              <a:t>NÃO-COOPERAÇÃO: </a:t>
            </a:r>
            <a:r>
              <a:rPr lang="pt-BR" dirty="0" err="1"/>
              <a:t>Mollick</a:t>
            </a:r>
            <a:r>
              <a:rPr lang="pt-BR" dirty="0"/>
              <a:t> e </a:t>
            </a:r>
            <a:r>
              <a:rPr lang="pt-BR" dirty="0" err="1"/>
              <a:t>Rothbard</a:t>
            </a:r>
            <a:r>
              <a:rPr lang="pt-BR" dirty="0"/>
              <a:t> (2014) mostram que os trabalhadores de </a:t>
            </a:r>
            <a:r>
              <a:rPr lang="pt-BR" dirty="0" err="1"/>
              <a:t>umaempresa</a:t>
            </a:r>
            <a:r>
              <a:rPr lang="pt-BR" dirty="0"/>
              <a:t> de vendas resistiram à gamificação interativa projetado por seu empregador ao se recusar a aprender as </a:t>
            </a:r>
            <a:r>
              <a:rPr lang="pt-BR" dirty="0" err="1"/>
              <a:t>regrasdo</a:t>
            </a:r>
            <a:r>
              <a:rPr lang="pt-BR" dirty="0"/>
              <a:t> jogo, sugerindo que os jogos eram injustos </a:t>
            </a:r>
            <a:r>
              <a:rPr lang="pt-BR" dirty="0" err="1"/>
              <a:t>enão</a:t>
            </a:r>
            <a:r>
              <a:rPr lang="pt-BR" dirty="0"/>
              <a:t> jogando os jogos em seu trabalho diário.</a:t>
            </a:r>
          </a:p>
          <a:p>
            <a:pPr marL="171450" indent="-171450" rtl="0">
              <a:buFontTx/>
              <a:buChar char="-"/>
            </a:pPr>
            <a:endParaRPr lang="pt-BR" dirty="0"/>
          </a:p>
          <a:p>
            <a:pPr marL="171450" indent="-171450" rtl="0">
              <a:buFontTx/>
              <a:buChar char="-"/>
            </a:pPr>
            <a:r>
              <a:rPr lang="pt-BR" dirty="0"/>
              <a:t>MANIPULAÇÃO: Eles podem fazer engenharia reversado algoritmo que produziu a classificação para </a:t>
            </a:r>
            <a:r>
              <a:rPr lang="pt-BR" dirty="0" err="1"/>
              <a:t>poderpriorizar</a:t>
            </a:r>
            <a:r>
              <a:rPr lang="pt-BR" dirty="0"/>
              <a:t> as atividades que parecem impactar a pontuação</a:t>
            </a:r>
            <a:br>
              <a:rPr lang="pt-BR" dirty="0"/>
            </a:br>
            <a:br>
              <a:rPr lang="pt-BR" dirty="0"/>
            </a:br>
            <a:r>
              <a:rPr lang="pt-BR" dirty="0"/>
              <a:t>AIRBNB: alguns anfitriões do </a:t>
            </a:r>
            <a:r>
              <a:rPr lang="pt-BR" dirty="0" err="1"/>
              <a:t>Airbnb</a:t>
            </a:r>
            <a:r>
              <a:rPr lang="pt-BR" dirty="0"/>
              <a:t> </a:t>
            </a:r>
            <a:r>
              <a:rPr lang="pt-BR" dirty="0" err="1"/>
              <a:t>participaramde</a:t>
            </a:r>
            <a:r>
              <a:rPr lang="pt-BR" dirty="0"/>
              <a:t> fóruns online, leram a documentação técnica da empresa e monitoraram os perfis e </a:t>
            </a:r>
            <a:r>
              <a:rPr lang="pt-BR" dirty="0" err="1"/>
              <a:t>asclassificações</a:t>
            </a:r>
            <a:r>
              <a:rPr lang="pt-BR" dirty="0"/>
              <a:t> dos concorrentes para descobrir quais características ou </a:t>
            </a:r>
            <a:r>
              <a:rPr lang="pt-BR" dirty="0" err="1"/>
              <a:t>comportamentospareciam</a:t>
            </a:r>
            <a:r>
              <a:rPr lang="pt-BR" dirty="0"/>
              <a:t> influenciar suas classificações.</a:t>
            </a:r>
            <a:br>
              <a:rPr lang="pt-BR" dirty="0"/>
            </a:br>
            <a:endParaRPr lang="pt-BR" dirty="0"/>
          </a:p>
          <a:p>
            <a:pPr marL="171450" indent="-171450" rtl="0">
              <a:buFontTx/>
              <a:buChar char="-"/>
            </a:pPr>
            <a:r>
              <a:rPr lang="pt-BR" dirty="0"/>
              <a:t>NEGOCIAÇÃO DIRETA COM CLIENTES: vendedores contataram compradores </a:t>
            </a:r>
            <a:r>
              <a:rPr lang="pt-BR" dirty="0" err="1"/>
              <a:t>quehaviam</a:t>
            </a:r>
            <a:r>
              <a:rPr lang="pt-BR" dirty="0"/>
              <a:t> deixado uma avaliação negativa e tentaram </a:t>
            </a:r>
            <a:r>
              <a:rPr lang="pt-BR" dirty="0" err="1"/>
              <a:t>convencê-losa</a:t>
            </a:r>
            <a:r>
              <a:rPr lang="pt-BR" dirty="0"/>
              <a:t> retirá-la (</a:t>
            </a:r>
            <a:r>
              <a:rPr lang="pt-BR" dirty="0" err="1"/>
              <a:t>Curchod</a:t>
            </a:r>
            <a:r>
              <a:rPr lang="pt-BR" dirty="0"/>
              <a:t> et al., 2019). </a:t>
            </a:r>
            <a:br>
              <a:rPr lang="pt-BR" dirty="0"/>
            </a:br>
            <a:br>
              <a:rPr lang="pt-BR" dirty="0"/>
            </a:br>
            <a:r>
              <a:rPr lang="pt-BR" dirty="0"/>
              <a:t>Em </a:t>
            </a:r>
            <a:r>
              <a:rPr lang="pt-BR" dirty="0" err="1"/>
              <a:t>ummercado</a:t>
            </a:r>
            <a:r>
              <a:rPr lang="pt-BR" dirty="0"/>
              <a:t> de trabalho online, os contratados preventivamente </a:t>
            </a:r>
            <a:r>
              <a:rPr lang="pt-BR" dirty="0" err="1"/>
              <a:t>pediamaos</a:t>
            </a:r>
            <a:r>
              <a:rPr lang="pt-BR" dirty="0"/>
              <a:t> clientes garantias de altas classificações como parte </a:t>
            </a:r>
            <a:r>
              <a:rPr lang="pt-BR" dirty="0" err="1"/>
              <a:t>dostermos</a:t>
            </a:r>
            <a:r>
              <a:rPr lang="pt-BR" dirty="0"/>
              <a:t> dos contratos, em vez de permitir que os </a:t>
            </a:r>
            <a:r>
              <a:rPr lang="pt-BR" dirty="0" err="1"/>
              <a:t>clientessimplesmente</a:t>
            </a:r>
            <a:r>
              <a:rPr lang="pt-BR" dirty="0"/>
              <a:t> classificassem o trabalho no final dos projetos;</a:t>
            </a:r>
            <a:br>
              <a:rPr lang="pt-BR" dirty="0"/>
            </a:br>
            <a:endParaRPr lang="pt-BR" dirty="0"/>
          </a:p>
          <a:p>
            <a:pPr marL="171450" indent="-171450" rtl="0">
              <a:buFontTx/>
              <a:buChar char="-"/>
            </a:pPr>
            <a:r>
              <a:rPr lang="pt-BR" dirty="0"/>
              <a:t>ORGANIZAÇÃO VIA PLATAFORMA:</a:t>
            </a:r>
            <a:br>
              <a:rPr lang="pt-BR" dirty="0"/>
            </a:br>
            <a:br>
              <a:rPr lang="pt-BR" dirty="0"/>
            </a:br>
            <a:r>
              <a:rPr lang="pt-BR" dirty="0"/>
              <a:t>DENUNCIAR CONTRATANTES: Acadêmicos e organizadores também criaram plataformas dedicadas para permitir que os trabalhadores avaliem e sinalizem solicitantes que os trataram mal.</a:t>
            </a:r>
            <a:br>
              <a:rPr lang="pt-BR" dirty="0"/>
            </a:br>
            <a:br>
              <a:rPr lang="pt-BR" dirty="0"/>
            </a:br>
            <a:r>
              <a:rPr lang="pt-BR" dirty="0"/>
              <a:t>AJUDA MÚTUA: Em outros casos, os trabalhadores usaram fóruns on-line para compartilhar recursos e identificar clientes ou empregos desejáveis; eles forneceram orientação uns aos </a:t>
            </a:r>
            <a:r>
              <a:rPr lang="pt-BR" dirty="0" err="1"/>
              <a:t>outrossobre</a:t>
            </a:r>
            <a:r>
              <a:rPr lang="pt-BR" dirty="0"/>
              <a:t> como antecipar ou evitar a </a:t>
            </a:r>
            <a:r>
              <a:rPr lang="pt-BR" dirty="0" err="1"/>
              <a:t>disciplina;como</a:t>
            </a:r>
            <a:r>
              <a:rPr lang="pt-BR" dirty="0"/>
              <a:t> recuperar o acesso quando bloqueados de </a:t>
            </a:r>
            <a:r>
              <a:rPr lang="pt-BR" dirty="0" err="1"/>
              <a:t>plataformas;como</a:t>
            </a:r>
            <a:r>
              <a:rPr lang="pt-BR" dirty="0"/>
              <a:t> organizar finanças, impostos e apólices de seguro; e como suavizar os ganhos e </a:t>
            </a:r>
            <a:r>
              <a:rPr lang="pt-BR" dirty="0" err="1"/>
              <a:t>maximizarsua</a:t>
            </a:r>
            <a:r>
              <a:rPr lang="pt-BR" dirty="0"/>
              <a:t> renda alternando entre diversas plataformas.</a:t>
            </a:r>
            <a:br>
              <a:rPr lang="pt-BR" dirty="0"/>
            </a:br>
            <a:endParaRPr lang="pt-BR" dirty="0"/>
          </a:p>
          <a:p>
            <a:pPr marL="171450" indent="-171450" rtl="0">
              <a:buFontTx/>
              <a:buChar char="-"/>
            </a:pPr>
            <a:r>
              <a:rPr lang="pt-BR" dirty="0"/>
              <a:t>DISCURSO PÚBLICO: </a:t>
            </a:r>
            <a:r>
              <a:rPr lang="pt-BR" dirty="0" err="1"/>
              <a:t>Trabalhadoressujeitos</a:t>
            </a:r>
            <a:r>
              <a:rPr lang="pt-BR" dirty="0"/>
              <a:t> ao controle técnico e burocrático </a:t>
            </a:r>
            <a:r>
              <a:rPr lang="pt-BR" dirty="0" err="1"/>
              <a:t>têmhistoricamente</a:t>
            </a:r>
            <a:r>
              <a:rPr lang="pt-BR" dirty="0"/>
              <a:t> mobilizado outros ao elaborar discursos (Kaplan, 2008), para provocar indignação e esperança ao descrever as condições existentes como injustas e </a:t>
            </a:r>
            <a:r>
              <a:rPr lang="pt-BR" dirty="0" err="1"/>
              <a:t>passíveisde</a:t>
            </a:r>
            <a:r>
              <a:rPr lang="pt-BR" dirty="0"/>
              <a:t> mudança usando ação coletiva</a:t>
            </a:r>
            <a:br>
              <a:rPr lang="pt-BR" dirty="0"/>
            </a:br>
            <a:endParaRPr lang="pt-BR" dirty="0"/>
          </a:p>
          <a:p>
            <a:pPr marL="0" indent="0" rtl="0">
              <a:buFontTx/>
              <a:buNone/>
            </a:pPr>
            <a:r>
              <a:rPr lang="pt-BR" dirty="0"/>
              <a:t>DENÚNCIA DA DISCRIMINAÇÃO: Primeiro, os trabalhadores resistiram coletivamente ao controle </a:t>
            </a:r>
            <a:r>
              <a:rPr lang="pt-BR" dirty="0" err="1"/>
              <a:t>algorítmicoao</a:t>
            </a:r>
            <a:r>
              <a:rPr lang="pt-BR" dirty="0"/>
              <a:t> se envolverem em críticas públicas aos sistemas </a:t>
            </a:r>
            <a:r>
              <a:rPr lang="pt-BR" dirty="0" err="1"/>
              <a:t>algorítmicos,criticando</a:t>
            </a:r>
            <a:r>
              <a:rPr lang="pt-BR" dirty="0"/>
              <a:t> como os algoritmos poderiam levar </a:t>
            </a:r>
            <a:r>
              <a:rPr lang="pt-BR" dirty="0" err="1"/>
              <a:t>àreprodução</a:t>
            </a:r>
            <a:r>
              <a:rPr lang="pt-BR" dirty="0"/>
              <a:t> ou reforço de desigualdades sociais e raciais devido a dados de treinamento tendenciosos</a:t>
            </a:r>
            <a:br>
              <a:rPr lang="pt-BR" dirty="0"/>
            </a:br>
            <a:br>
              <a:rPr lang="pt-BR" dirty="0"/>
            </a:br>
            <a:r>
              <a:rPr lang="pt-BR" dirty="0"/>
              <a:t>CÓDIGO DE ÉTICA: ativistas e cientistas da </a:t>
            </a:r>
            <a:r>
              <a:rPr lang="pt-BR" dirty="0" err="1"/>
              <a:t>computaçãocomeçaram</a:t>
            </a:r>
            <a:r>
              <a:rPr lang="pt-BR" dirty="0"/>
              <a:t> a desenvolver novos códigos profissionais de </a:t>
            </a:r>
            <a:r>
              <a:rPr lang="pt-BR" dirty="0" err="1"/>
              <a:t>éticae</a:t>
            </a:r>
            <a:r>
              <a:rPr lang="pt-BR" dirty="0"/>
              <a:t> documentação para sistemas computacionais</a:t>
            </a:r>
            <a:br>
              <a:rPr lang="pt-BR" dirty="0"/>
            </a:br>
            <a:endParaRPr lang="pt-BR" dirty="0"/>
          </a:p>
          <a:p>
            <a:pPr marL="0" indent="0" rtl="0">
              <a:buFontTx/>
              <a:buNone/>
            </a:pPr>
            <a:r>
              <a:rPr lang="pt-BR" dirty="0"/>
              <a:t>- MOBILIZAÇÃO POR QUESTÕES LEGAIS: Trabalhadores e defensores já </a:t>
            </a:r>
            <a:r>
              <a:rPr lang="pt-BR" dirty="0" err="1"/>
              <a:t>criaramoportunidades</a:t>
            </a:r>
            <a:r>
              <a:rPr lang="pt-BR" dirty="0"/>
              <a:t> políticas para contestar o controle técnico e burocrático usando um clima </a:t>
            </a:r>
            <a:r>
              <a:rPr lang="pt-BR" dirty="0" err="1"/>
              <a:t>deadministração</a:t>
            </a:r>
            <a:r>
              <a:rPr lang="pt-BR" dirty="0"/>
              <a:t> solidária e rivais vulneráveis ​​</a:t>
            </a:r>
            <a:r>
              <a:rPr lang="pt-BR" dirty="0" err="1"/>
              <a:t>paraalterar</a:t>
            </a:r>
            <a:r>
              <a:rPr lang="pt-BR" dirty="0"/>
              <a:t> leis de acordo com seus próprios interesses, </a:t>
            </a:r>
            <a:r>
              <a:rPr lang="pt-BR" dirty="0" err="1"/>
              <a:t>habilmenteenquadrar</a:t>
            </a:r>
            <a:r>
              <a:rPr lang="pt-BR" dirty="0"/>
              <a:t> seus projetos em termos que provavelmente sejam atraentes </a:t>
            </a:r>
            <a:r>
              <a:rPr lang="pt-BR" dirty="0" err="1"/>
              <a:t>paragovernos</a:t>
            </a:r>
            <a:r>
              <a:rPr lang="pt-BR" dirty="0"/>
              <a:t> e elites, e batalhar com rivais </a:t>
            </a:r>
            <a:r>
              <a:rPr lang="pt-BR" dirty="0" err="1"/>
              <a:t>paragerar</a:t>
            </a:r>
            <a:r>
              <a:rPr lang="pt-BR" dirty="0"/>
              <a:t> apoio político do Estado para legislação favorável</a:t>
            </a:r>
            <a:br>
              <a:rPr lang="pt-BR" dirty="0"/>
            </a:br>
            <a:endParaRPr lang="pt-BR" dirty="0"/>
          </a:p>
          <a:p>
            <a:pPr marL="0" indent="0" rtl="0">
              <a:buFontTx/>
              <a:buNone/>
            </a:pPr>
            <a:r>
              <a:rPr lang="pt-BR" dirty="0"/>
              <a:t>PRIVACIDADE E VIGILÂNCIA: Em relação à política do local de trabalho, eles resistiram à falta de privacidade associada à gravação algorítmica negociando acordos sindicais com os empregadores sobre como e quando os empregadores podem rastrear os funcionários e usar os dados de rastreamento para disciplinar os funcionários.</a:t>
            </a:r>
            <a:br>
              <a:rPr lang="pt-BR" dirty="0"/>
            </a:br>
            <a:br>
              <a:rPr lang="pt-BR" dirty="0"/>
            </a:br>
            <a:r>
              <a:rPr lang="pt-BR" dirty="0"/>
              <a:t>SEREM RECONHECIDOS COMO FUNCIONÁRIOS: Um segundo desenvolvimento importante está relacionado </a:t>
            </a:r>
            <a:r>
              <a:rPr lang="pt-BR" dirty="0" err="1"/>
              <a:t>aostatus</a:t>
            </a:r>
            <a:r>
              <a:rPr lang="pt-BR" dirty="0"/>
              <a:t> atual de emprego dos trabalhadores sob controle algorítmico. A maioria das plataformas tem contado </a:t>
            </a:r>
            <a:r>
              <a:rPr lang="pt-BR" dirty="0" err="1"/>
              <a:t>quaseexclusivamente</a:t>
            </a:r>
            <a:r>
              <a:rPr lang="pt-BR" dirty="0"/>
              <a:t> com contratados independentes como </a:t>
            </a:r>
            <a:r>
              <a:rPr lang="pt-BR" dirty="0" err="1"/>
              <a:t>suaforça</a:t>
            </a:r>
            <a:r>
              <a:rPr lang="pt-BR" dirty="0"/>
              <a:t> de trabalho primária (</a:t>
            </a:r>
            <a:r>
              <a:rPr lang="pt-BR" dirty="0" err="1"/>
              <a:t>Rosenblat</a:t>
            </a:r>
            <a:r>
              <a:rPr lang="pt-BR" dirty="0"/>
              <a:t>, 2018; </a:t>
            </a:r>
            <a:r>
              <a:rPr lang="pt-BR" dirty="0" err="1"/>
              <a:t>Vallas</a:t>
            </a:r>
            <a:r>
              <a:rPr lang="pt-BR" dirty="0"/>
              <a:t> &amp; Schor,2020). Os trabalhadores têm desafiado cada vez mais </a:t>
            </a:r>
            <a:r>
              <a:rPr lang="pt-BR" dirty="0" err="1"/>
              <a:t>essaclassificação</a:t>
            </a:r>
            <a:r>
              <a:rPr lang="pt-BR" dirty="0"/>
              <a:t> legal, argumentando que eles deveriam </a:t>
            </a:r>
            <a:r>
              <a:rPr lang="pt-BR" dirty="0" err="1"/>
              <a:t>serconsiderados</a:t>
            </a:r>
            <a:r>
              <a:rPr lang="pt-BR" dirty="0"/>
              <a:t> como funcionários em vez de </a:t>
            </a:r>
            <a:r>
              <a:rPr lang="pt-BR" dirty="0" err="1"/>
              <a:t>contratadosindependentes</a:t>
            </a:r>
            <a:r>
              <a:rPr lang="pt-BR" dirty="0"/>
              <a:t>.</a:t>
            </a:r>
            <a:br>
              <a:rPr lang="pt-BR" dirty="0"/>
            </a:br>
            <a:br>
              <a:rPr lang="pt-BR" dirty="0"/>
            </a:br>
            <a:r>
              <a:rPr lang="pt-BR" dirty="0"/>
              <a:t>PROPRIEDADE DOS PRÓPRIOS DADOS: ativistas começaram a se envolver em um conjunto </a:t>
            </a:r>
            <a:r>
              <a:rPr lang="pt-BR" dirty="0" err="1"/>
              <a:t>deiniciativas</a:t>
            </a:r>
            <a:r>
              <a:rPr lang="pt-BR" dirty="0"/>
              <a:t> regulatórias relacionadas à pressão pela </a:t>
            </a:r>
            <a:r>
              <a:rPr lang="pt-BR" dirty="0" err="1"/>
              <a:t>propriedadedos</a:t>
            </a:r>
            <a:r>
              <a:rPr lang="pt-BR" dirty="0"/>
              <a:t> dados dos trabalhadores.</a:t>
            </a:r>
          </a:p>
          <a:p>
            <a:pPr marL="0" indent="0" rtl="0">
              <a:buFontTx/>
              <a:buNone/>
            </a:pPr>
            <a:br>
              <a:rPr lang="pt-BR" dirty="0"/>
            </a:br>
            <a:br>
              <a:rPr lang="pt-BR" dirty="0"/>
            </a:br>
            <a:endParaRPr lang="pt-BR" dirty="0"/>
          </a:p>
        </p:txBody>
      </p:sp>
      <p:sp>
        <p:nvSpPr>
          <p:cNvPr id="4" name="Espaço Reservado para o Número do Slide 3"/>
          <p:cNvSpPr>
            <a:spLocks noGrp="1"/>
          </p:cNvSpPr>
          <p:nvPr>
            <p:ph type="sldNum" sz="quarter" idx="5"/>
          </p:nvPr>
        </p:nvSpPr>
        <p:spPr/>
        <p:txBody>
          <a:bodyPr rtlCol="0"/>
          <a:lstStyle>
            <a:defPPr>
              <a:defRPr lang="pt-BR"/>
            </a:defPPr>
          </a:lstStyle>
          <a:p>
            <a:pPr rtl="0"/>
            <a:fld id="{F97DC217-DF71-1A49-B3EA-559F1F43B0FF}" type="slidenum">
              <a:rPr lang="pt-BR" smtClean="0"/>
              <a:t>27</a:t>
            </a:fld>
            <a:endParaRPr lang="pt-BR" dirty="0"/>
          </a:p>
        </p:txBody>
      </p:sp>
    </p:spTree>
    <p:extLst>
      <p:ext uri="{BB962C8B-B14F-4D97-AF65-F5344CB8AC3E}">
        <p14:creationId xmlns:p14="http://schemas.microsoft.com/office/powerpoint/2010/main" val="226810858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o Slide 1"/>
          <p:cNvSpPr>
            <a:spLocks noGrp="1" noRot="1" noChangeAspect="1"/>
          </p:cNvSpPr>
          <p:nvPr>
            <p:ph type="sldImg"/>
          </p:nvPr>
        </p:nvSpPr>
        <p:spPr/>
      </p:sp>
      <p:sp>
        <p:nvSpPr>
          <p:cNvPr id="3" name="Espaço Reservado para Notas 2"/>
          <p:cNvSpPr>
            <a:spLocks noGrp="1"/>
          </p:cNvSpPr>
          <p:nvPr>
            <p:ph type="body" idx="1"/>
          </p:nvPr>
        </p:nvSpPr>
        <p:spPr/>
        <p:txBody>
          <a:bodyPr rtlCol="0"/>
          <a:lstStyle>
            <a:defPPr>
              <a:defRPr lang="pt-BR"/>
            </a:defPPr>
          </a:lstStyle>
          <a:p>
            <a:pPr rtl="0"/>
            <a:endParaRPr lang="pt-BR" dirty="0"/>
          </a:p>
        </p:txBody>
      </p:sp>
      <p:sp>
        <p:nvSpPr>
          <p:cNvPr id="4" name="Espaço Reservado para o Número do Slide 3"/>
          <p:cNvSpPr>
            <a:spLocks noGrp="1"/>
          </p:cNvSpPr>
          <p:nvPr>
            <p:ph type="sldNum" sz="quarter" idx="5"/>
          </p:nvPr>
        </p:nvSpPr>
        <p:spPr/>
        <p:txBody>
          <a:bodyPr rtlCol="0"/>
          <a:lstStyle>
            <a:defPPr>
              <a:defRPr lang="pt-BR"/>
            </a:defPPr>
          </a:lstStyle>
          <a:p>
            <a:pPr rtl="0"/>
            <a:fld id="{F97DC217-DF71-1A49-B3EA-559F1F43B0FF}" type="slidenum">
              <a:rPr lang="pt-BR" smtClean="0"/>
              <a:t>28</a:t>
            </a:fld>
            <a:endParaRPr lang="pt-BR" dirty="0"/>
          </a:p>
        </p:txBody>
      </p:sp>
    </p:spTree>
    <p:extLst>
      <p:ext uri="{BB962C8B-B14F-4D97-AF65-F5344CB8AC3E}">
        <p14:creationId xmlns:p14="http://schemas.microsoft.com/office/powerpoint/2010/main" val="3990086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Slide de Título">
    <p:spTree>
      <p:nvGrpSpPr>
        <p:cNvPr id="1" name=""/>
        <p:cNvGrpSpPr/>
        <p:nvPr/>
      </p:nvGrpSpPr>
      <p:grpSpPr>
        <a:xfrm>
          <a:off x="0" y="0"/>
          <a:ext cx="0" cy="0"/>
          <a:chOff x="0" y="0"/>
          <a:chExt cx="0" cy="0"/>
        </a:xfrm>
      </p:grpSpPr>
      <p:sp>
        <p:nvSpPr>
          <p:cNvPr id="4" name="Retângulo 3">
            <a:extLst>
              <a:ext uri="{FF2B5EF4-FFF2-40B4-BE49-F238E27FC236}">
                <a16:creationId xmlns:a16="http://schemas.microsoft.com/office/drawing/2014/main" id="{9AC79249-FDC0-364D-A734-AE1DE1605D28}"/>
              </a:ext>
              <a:ext uri="{C183D7F6-B498-43B3-948B-1728B52AA6E4}">
                <adec:decorative xmlns:adec="http://schemas.microsoft.com/office/drawing/2017/decorative" val="1"/>
              </a:ext>
            </a:extLst>
          </p:cNvPr>
          <p:cNvSpPr/>
          <p:nvPr userDrawn="1"/>
        </p:nvSpPr>
        <p:spPr>
          <a:xfrm>
            <a:off x="0" y="4572000"/>
            <a:ext cx="12192000" cy="2286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pt-BR"/>
            </a:defPPr>
          </a:lstStyle>
          <a:p>
            <a:pPr algn="ctr" rtl="0"/>
            <a:endParaRPr lang="pt-BR" dirty="0"/>
          </a:p>
        </p:txBody>
      </p:sp>
      <p:grpSp>
        <p:nvGrpSpPr>
          <p:cNvPr id="7" name="Grupo 6">
            <a:extLst>
              <a:ext uri="{FF2B5EF4-FFF2-40B4-BE49-F238E27FC236}">
                <a16:creationId xmlns:a16="http://schemas.microsoft.com/office/drawing/2014/main" id="{13537B6D-42A5-F449-2691-321A167F7C08}"/>
              </a:ext>
              <a:ext uri="{C183D7F6-B498-43B3-948B-1728B52AA6E4}">
                <adec:decorative xmlns:adec="http://schemas.microsoft.com/office/drawing/2017/decorative" val="1"/>
              </a:ext>
            </a:extLst>
          </p:cNvPr>
          <p:cNvGrpSpPr/>
          <p:nvPr userDrawn="1"/>
        </p:nvGrpSpPr>
        <p:grpSpPr>
          <a:xfrm>
            <a:off x="0" y="-3419"/>
            <a:ext cx="12192000" cy="6861419"/>
            <a:chOff x="0" y="-3419"/>
            <a:chExt cx="12192000" cy="6861419"/>
          </a:xfrm>
        </p:grpSpPr>
        <p:sp>
          <p:nvSpPr>
            <p:cNvPr id="5" name="Oval 4">
              <a:extLst>
                <a:ext uri="{FF2B5EF4-FFF2-40B4-BE49-F238E27FC236}">
                  <a16:creationId xmlns:a16="http://schemas.microsoft.com/office/drawing/2014/main" id="{902465C8-266D-104C-9C49-323DF4A8277E}"/>
                </a:ext>
              </a:extLst>
            </p:cNvPr>
            <p:cNvSpPr/>
            <p:nvPr userDrawn="1"/>
          </p:nvSpPr>
          <p:spPr>
            <a:xfrm>
              <a:off x="583746" y="4960030"/>
              <a:ext cx="1551214" cy="1551214"/>
            </a:xfrm>
            <a:prstGeom prst="ellipse">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pt-BR"/>
              </a:defPPr>
            </a:lstStyle>
            <a:p>
              <a:pPr algn="ctr" rtl="0"/>
              <a:endParaRPr lang="pt-BR" dirty="0"/>
            </a:p>
          </p:txBody>
        </p:sp>
        <p:sp>
          <p:nvSpPr>
            <p:cNvPr id="11" name="Forma Livre 10">
              <a:extLst>
                <a:ext uri="{FF2B5EF4-FFF2-40B4-BE49-F238E27FC236}">
                  <a16:creationId xmlns:a16="http://schemas.microsoft.com/office/drawing/2014/main" id="{37979A1C-BF60-B345-A664-2E4F7A3461EB}"/>
                </a:ext>
              </a:extLst>
            </p:cNvPr>
            <p:cNvSpPr/>
            <p:nvPr userDrawn="1"/>
          </p:nvSpPr>
          <p:spPr>
            <a:xfrm>
              <a:off x="1" y="4571999"/>
              <a:ext cx="1118508" cy="1118508"/>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pt-BR"/>
              </a:defPPr>
            </a:lstStyle>
            <a:p>
              <a:pPr algn="ctr" rtl="0"/>
              <a:endParaRPr lang="pt-BR" dirty="0"/>
            </a:p>
          </p:txBody>
        </p:sp>
        <p:sp>
          <p:nvSpPr>
            <p:cNvPr id="9" name="Forma Livre 8">
              <a:extLst>
                <a:ext uri="{FF2B5EF4-FFF2-40B4-BE49-F238E27FC236}">
                  <a16:creationId xmlns:a16="http://schemas.microsoft.com/office/drawing/2014/main" id="{58080B3E-915C-2D4C-8608-596E1BFD6387}"/>
                </a:ext>
              </a:extLst>
            </p:cNvPr>
            <p:cNvSpPr/>
            <p:nvPr userDrawn="1"/>
          </p:nvSpPr>
          <p:spPr>
            <a:xfrm>
              <a:off x="1" y="5739492"/>
              <a:ext cx="1118508" cy="1118508"/>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pt-BR"/>
              </a:defPPr>
            </a:lstStyle>
            <a:p>
              <a:pPr algn="ctr" rtl="0"/>
              <a:endParaRPr lang="pt-BR" dirty="0"/>
            </a:p>
          </p:txBody>
        </p:sp>
        <p:grpSp>
          <p:nvGrpSpPr>
            <p:cNvPr id="6" name="Grupo 5">
              <a:extLst>
                <a:ext uri="{FF2B5EF4-FFF2-40B4-BE49-F238E27FC236}">
                  <a16:creationId xmlns:a16="http://schemas.microsoft.com/office/drawing/2014/main" id="{F15FBB50-09C8-B64E-AE57-67C5E70810CB}"/>
                </a:ext>
              </a:extLst>
            </p:cNvPr>
            <p:cNvGrpSpPr/>
            <p:nvPr userDrawn="1"/>
          </p:nvGrpSpPr>
          <p:grpSpPr>
            <a:xfrm>
              <a:off x="8264427" y="-3419"/>
              <a:ext cx="3927573" cy="3165022"/>
              <a:chOff x="9857014" y="13834"/>
              <a:chExt cx="2334986" cy="1881641"/>
            </a:xfrm>
          </p:grpSpPr>
          <p:sp>
            <p:nvSpPr>
              <p:cNvPr id="15" name="Forma Livre 14">
                <a:extLst>
                  <a:ext uri="{FF2B5EF4-FFF2-40B4-BE49-F238E27FC236}">
                    <a16:creationId xmlns:a16="http://schemas.microsoft.com/office/drawing/2014/main" id="{EFBF1E52-11FA-DC48-B7AD-75734232FFE8}"/>
                  </a:ext>
                </a:extLst>
              </p:cNvPr>
              <p:cNvSpPr/>
              <p:nvPr userDrawn="1"/>
            </p:nvSpPr>
            <p:spPr>
              <a:xfrm rot="5400000" flipH="1" flipV="1">
                <a:off x="10667433" y="370908"/>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pt-BR"/>
                </a:defPPr>
              </a:lstStyle>
              <a:p>
                <a:pPr algn="ctr" rtl="0"/>
                <a:endParaRPr lang="pt-BR" dirty="0"/>
              </a:p>
            </p:txBody>
          </p:sp>
          <p:sp>
            <p:nvSpPr>
              <p:cNvPr id="16" name="Forma Livre 15">
                <a:extLst>
                  <a:ext uri="{FF2B5EF4-FFF2-40B4-BE49-F238E27FC236}">
                    <a16:creationId xmlns:a16="http://schemas.microsoft.com/office/drawing/2014/main" id="{4850B620-49F5-3748-84AF-682555D52792}"/>
                  </a:ext>
                </a:extLst>
              </p:cNvPr>
              <p:cNvSpPr/>
              <p:nvPr userDrawn="1"/>
            </p:nvSpPr>
            <p:spPr>
              <a:xfrm rot="16200000" flipV="1">
                <a:off x="9499940" y="370908"/>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pt-BR"/>
                </a:defPPr>
              </a:lstStyle>
              <a:p>
                <a:pPr algn="ctr" rtl="0"/>
                <a:endParaRPr lang="pt-BR" dirty="0"/>
              </a:p>
            </p:txBody>
          </p:sp>
        </p:grpSp>
        <p:sp>
          <p:nvSpPr>
            <p:cNvPr id="22" name="Forma Livre 21">
              <a:extLst>
                <a:ext uri="{FF2B5EF4-FFF2-40B4-BE49-F238E27FC236}">
                  <a16:creationId xmlns:a16="http://schemas.microsoft.com/office/drawing/2014/main" id="{BC68F289-2744-2F48-893A-3F17911625C8}"/>
                </a:ext>
              </a:extLst>
            </p:cNvPr>
            <p:cNvSpPr/>
            <p:nvPr userDrawn="1"/>
          </p:nvSpPr>
          <p:spPr>
            <a:xfrm>
              <a:off x="0" y="-1"/>
              <a:ext cx="1167493" cy="1167493"/>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pt-BR"/>
              </a:defPPr>
            </a:lstStyle>
            <a:p>
              <a:pPr algn="ctr" rtl="0"/>
              <a:endParaRPr lang="pt-BR" dirty="0"/>
            </a:p>
          </p:txBody>
        </p:sp>
        <p:sp>
          <p:nvSpPr>
            <p:cNvPr id="28" name="Forma Livre 27">
              <a:extLst>
                <a:ext uri="{FF2B5EF4-FFF2-40B4-BE49-F238E27FC236}">
                  <a16:creationId xmlns:a16="http://schemas.microsoft.com/office/drawing/2014/main" id="{9E240E8A-950E-7946-826C-415CB5DACA43}"/>
                </a:ext>
              </a:extLst>
            </p:cNvPr>
            <p:cNvSpPr/>
            <p:nvPr userDrawn="1"/>
          </p:nvSpPr>
          <p:spPr>
            <a:xfrm>
              <a:off x="11024507" y="4580708"/>
              <a:ext cx="1167493" cy="2277292"/>
            </a:xfrm>
            <a:custGeom>
              <a:avLst/>
              <a:gdLst>
                <a:gd name="connsiteX0" fmla="*/ 1167473 w 1167493"/>
                <a:gd name="connsiteY0" fmla="*/ 0 h 2272167"/>
                <a:gd name="connsiteX1" fmla="*/ 1167493 w 1167493"/>
                <a:gd name="connsiteY1" fmla="*/ 0 h 2272167"/>
                <a:gd name="connsiteX2" fmla="*/ 1167493 w 1167493"/>
                <a:gd name="connsiteY2" fmla="*/ 492960 h 2272167"/>
                <a:gd name="connsiteX3" fmla="*/ 1167493 w 1167493"/>
                <a:gd name="connsiteY3" fmla="*/ 720385 h 2272167"/>
                <a:gd name="connsiteX4" fmla="*/ 1167493 w 1167493"/>
                <a:gd name="connsiteY4" fmla="*/ 2272167 h 2272167"/>
                <a:gd name="connsiteX5" fmla="*/ 0 w 1167493"/>
                <a:gd name="connsiteY5" fmla="*/ 2272167 h 2272167"/>
                <a:gd name="connsiteX6" fmla="*/ 0 w 1167493"/>
                <a:gd name="connsiteY6" fmla="*/ 1898074 h 2272167"/>
                <a:gd name="connsiteX7" fmla="*/ 0 w 1167493"/>
                <a:gd name="connsiteY7" fmla="*/ 1271597 h 2272167"/>
                <a:gd name="connsiteX8" fmla="*/ 0 w 1167493"/>
                <a:gd name="connsiteY8" fmla="*/ 1177688 h 2272167"/>
                <a:gd name="connsiteX9" fmla="*/ 1048124 w 1167493"/>
                <a:gd name="connsiteY9" fmla="*/ 6080 h 2272167"/>
                <a:gd name="connsiteX10" fmla="*/ 1167473 w 1167493"/>
                <a:gd name="connsiteY10" fmla="*/ 0 h 2272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67493" h="2272167">
                  <a:moveTo>
                    <a:pt x="1167473" y="0"/>
                  </a:moveTo>
                  <a:lnTo>
                    <a:pt x="1167493" y="0"/>
                  </a:lnTo>
                  <a:lnTo>
                    <a:pt x="1167493" y="492960"/>
                  </a:lnTo>
                  <a:lnTo>
                    <a:pt x="1167493" y="720385"/>
                  </a:lnTo>
                  <a:lnTo>
                    <a:pt x="1167493" y="2272167"/>
                  </a:lnTo>
                  <a:lnTo>
                    <a:pt x="0" y="2272167"/>
                  </a:lnTo>
                  <a:lnTo>
                    <a:pt x="0" y="1898074"/>
                  </a:lnTo>
                  <a:lnTo>
                    <a:pt x="0" y="1271597"/>
                  </a:lnTo>
                  <a:lnTo>
                    <a:pt x="0" y="1177688"/>
                  </a:lnTo>
                  <a:cubicBezTo>
                    <a:pt x="0" y="567919"/>
                    <a:pt x="459408" y="66389"/>
                    <a:pt x="1048124" y="6080"/>
                  </a:cubicBezTo>
                  <a:lnTo>
                    <a:pt x="1167473"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pt-BR"/>
              </a:defPPr>
            </a:lstStyle>
            <a:p>
              <a:pPr algn="ctr" rtl="0"/>
              <a:endParaRPr lang="pt-BR" dirty="0"/>
            </a:p>
          </p:txBody>
        </p:sp>
      </p:grpSp>
      <p:sp>
        <p:nvSpPr>
          <p:cNvPr id="2" name="Título 1">
            <a:extLst>
              <a:ext uri="{FF2B5EF4-FFF2-40B4-BE49-F238E27FC236}">
                <a16:creationId xmlns:a16="http://schemas.microsoft.com/office/drawing/2014/main" id="{494248F2-5264-4601-AA0B-6C092F77F2DD}"/>
              </a:ext>
            </a:extLst>
          </p:cNvPr>
          <p:cNvSpPr>
            <a:spLocks noGrp="1"/>
          </p:cNvSpPr>
          <p:nvPr>
            <p:ph type="ctrTitle" hasCustomPrompt="1"/>
          </p:nvPr>
        </p:nvSpPr>
        <p:spPr>
          <a:xfrm>
            <a:off x="1167493" y="232913"/>
            <a:ext cx="7096933" cy="3830130"/>
          </a:xfrm>
        </p:spPr>
        <p:txBody>
          <a:bodyPr rtlCol="0" anchor="b">
            <a:noAutofit/>
          </a:bodyPr>
          <a:lstStyle>
            <a:lvl1pPr algn="l">
              <a:defRPr lang="pt-BR" sz="6000" b="1">
                <a:latin typeface="+mj-lt"/>
              </a:defRPr>
            </a:lvl1pPr>
          </a:lstStyle>
          <a:p>
            <a:pPr rtl="0"/>
            <a:r>
              <a:rPr lang="pt-BR"/>
              <a:t>Clique para adicionar um título</a:t>
            </a:r>
          </a:p>
        </p:txBody>
      </p:sp>
    </p:spTree>
    <p:extLst>
      <p:ext uri="{BB962C8B-B14F-4D97-AF65-F5344CB8AC3E}">
        <p14:creationId xmlns:p14="http://schemas.microsoft.com/office/powerpoint/2010/main" val="29164985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grpSp>
        <p:nvGrpSpPr>
          <p:cNvPr id="13" name="Grupo 12">
            <a:extLst>
              <a:ext uri="{FF2B5EF4-FFF2-40B4-BE49-F238E27FC236}">
                <a16:creationId xmlns:a16="http://schemas.microsoft.com/office/drawing/2014/main" id="{AC10D125-AB73-D276-4947-94204736A30D}"/>
              </a:ext>
              <a:ext uri="{C183D7F6-B498-43B3-948B-1728B52AA6E4}">
                <adec:decorative xmlns:adec="http://schemas.microsoft.com/office/drawing/2017/decorative" val="1"/>
              </a:ext>
            </a:extLst>
          </p:cNvPr>
          <p:cNvGrpSpPr/>
          <p:nvPr userDrawn="1"/>
        </p:nvGrpSpPr>
        <p:grpSpPr>
          <a:xfrm>
            <a:off x="1" y="0"/>
            <a:ext cx="12191999" cy="6858000"/>
            <a:chOff x="1" y="0"/>
            <a:chExt cx="12191999" cy="6858000"/>
          </a:xfrm>
        </p:grpSpPr>
        <p:sp>
          <p:nvSpPr>
            <p:cNvPr id="4" name="Forma Livre 3">
              <a:extLst>
                <a:ext uri="{FF2B5EF4-FFF2-40B4-BE49-F238E27FC236}">
                  <a16:creationId xmlns:a16="http://schemas.microsoft.com/office/drawing/2014/main" id="{6A7F6A3F-E1DD-A246-9A6D-5F9B18BA2588}"/>
                </a:ext>
                <a:ext uri="{C183D7F6-B498-43B3-948B-1728B52AA6E4}">
                  <adec:decorative xmlns:adec="http://schemas.microsoft.com/office/drawing/2017/decorative" val="1"/>
                </a:ext>
              </a:extLst>
            </p:cNvPr>
            <p:cNvSpPr/>
            <p:nvPr userDrawn="1"/>
          </p:nvSpPr>
          <p:spPr>
            <a:xfrm flipH="1">
              <a:off x="8580896" y="1"/>
              <a:ext cx="3611104" cy="3611104"/>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pt-BR"/>
              </a:defPPr>
            </a:lstStyle>
            <a:p>
              <a:pPr algn="ctr" rtl="0"/>
              <a:endParaRPr lang="pt-BR" dirty="0"/>
            </a:p>
          </p:txBody>
        </p:sp>
        <p:sp>
          <p:nvSpPr>
            <p:cNvPr id="5" name="Forma Livre 4">
              <a:extLst>
                <a:ext uri="{FF2B5EF4-FFF2-40B4-BE49-F238E27FC236}">
                  <a16:creationId xmlns:a16="http://schemas.microsoft.com/office/drawing/2014/main" id="{055FD0FC-C8FF-6741-A364-A29CDC6F9495}"/>
                </a:ext>
                <a:ext uri="{C183D7F6-B498-43B3-948B-1728B52AA6E4}">
                  <adec:decorative xmlns:adec="http://schemas.microsoft.com/office/drawing/2017/decorative" val="1"/>
                </a:ext>
              </a:extLst>
            </p:cNvPr>
            <p:cNvSpPr/>
            <p:nvPr userDrawn="1"/>
          </p:nvSpPr>
          <p:spPr>
            <a:xfrm flipH="1">
              <a:off x="8580896"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pt-BR"/>
              </a:defPPr>
            </a:lstStyle>
            <a:p>
              <a:pPr algn="ctr" rtl="0"/>
              <a:endParaRPr lang="pt-BR" dirty="0">
                <a:latin typeface="+mn-lt"/>
              </a:endParaRPr>
            </a:p>
          </p:txBody>
        </p:sp>
        <p:sp>
          <p:nvSpPr>
            <p:cNvPr id="6" name="Forma Livre 5">
              <a:extLst>
                <a:ext uri="{FF2B5EF4-FFF2-40B4-BE49-F238E27FC236}">
                  <a16:creationId xmlns:a16="http://schemas.microsoft.com/office/drawing/2014/main" id="{D11C9832-A021-954E-A34F-2988D1189AE9}"/>
                </a:ext>
                <a:ext uri="{C183D7F6-B498-43B3-948B-1728B52AA6E4}">
                  <adec:decorative xmlns:adec="http://schemas.microsoft.com/office/drawing/2017/decorative" val="1"/>
                </a:ext>
              </a:extLst>
            </p:cNvPr>
            <p:cNvSpPr/>
            <p:nvPr userDrawn="1"/>
          </p:nvSpPr>
          <p:spPr>
            <a:xfrm>
              <a:off x="1" y="0"/>
              <a:ext cx="933856" cy="933856"/>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pt-BR"/>
              </a:defPPr>
            </a:lstStyle>
            <a:p>
              <a:pPr algn="ctr" rtl="0"/>
              <a:endParaRPr lang="pt-BR" dirty="0"/>
            </a:p>
          </p:txBody>
        </p:sp>
        <p:grpSp>
          <p:nvGrpSpPr>
            <p:cNvPr id="9" name="Grupo 8">
              <a:extLst>
                <a:ext uri="{FF2B5EF4-FFF2-40B4-BE49-F238E27FC236}">
                  <a16:creationId xmlns:a16="http://schemas.microsoft.com/office/drawing/2014/main" id="{9861BC34-DFBF-2D4F-B463-FCFBC08391FF}"/>
                </a:ext>
                <a:ext uri="{C183D7F6-B498-43B3-948B-1728B52AA6E4}">
                  <adec:decorative xmlns:adec="http://schemas.microsoft.com/office/drawing/2017/decorative" val="1"/>
                </a:ext>
              </a:extLst>
            </p:cNvPr>
            <p:cNvGrpSpPr/>
            <p:nvPr userDrawn="1"/>
          </p:nvGrpSpPr>
          <p:grpSpPr>
            <a:xfrm>
              <a:off x="8082092" y="5590903"/>
              <a:ext cx="1572380" cy="1267097"/>
              <a:chOff x="7413403" y="4976359"/>
              <a:chExt cx="2334986" cy="1881641"/>
            </a:xfrm>
          </p:grpSpPr>
          <p:sp>
            <p:nvSpPr>
              <p:cNvPr id="7" name="Forma Livre 6">
                <a:extLst>
                  <a:ext uri="{FF2B5EF4-FFF2-40B4-BE49-F238E27FC236}">
                    <a16:creationId xmlns:a16="http://schemas.microsoft.com/office/drawing/2014/main" id="{55C37C19-F268-4A43-A0D4-3B1B38D48952}"/>
                  </a:ext>
                </a:extLst>
              </p:cNvPr>
              <p:cNvSpPr/>
              <p:nvPr userDrawn="1"/>
            </p:nvSpPr>
            <p:spPr>
              <a:xfrm rot="5400000" flipH="1" flipV="1">
                <a:off x="8223822"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pt-BR"/>
                </a:defPPr>
              </a:lstStyle>
              <a:p>
                <a:pPr algn="ctr" rtl="0"/>
                <a:endParaRPr lang="pt-BR" dirty="0">
                  <a:latin typeface="+mn-lt"/>
                </a:endParaRPr>
              </a:p>
            </p:txBody>
          </p:sp>
          <p:sp>
            <p:nvSpPr>
              <p:cNvPr id="8" name="Forma Livre 7">
                <a:extLst>
                  <a:ext uri="{FF2B5EF4-FFF2-40B4-BE49-F238E27FC236}">
                    <a16:creationId xmlns:a16="http://schemas.microsoft.com/office/drawing/2014/main" id="{E4F760E5-9D5D-E44F-AEBF-20CA8DE87D11}"/>
                  </a:ext>
                </a:extLst>
              </p:cNvPr>
              <p:cNvSpPr/>
              <p:nvPr userDrawn="1"/>
            </p:nvSpPr>
            <p:spPr>
              <a:xfrm rot="16200000" flipV="1">
                <a:off x="7056329"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pt-BR"/>
                </a:defPPr>
              </a:lstStyle>
              <a:p>
                <a:pPr algn="ctr" rtl="0"/>
                <a:endParaRPr lang="pt-BR" dirty="0">
                  <a:latin typeface="+mn-lt"/>
                </a:endParaRPr>
              </a:p>
            </p:txBody>
          </p:sp>
        </p:grpSp>
      </p:grpSp>
      <p:sp>
        <p:nvSpPr>
          <p:cNvPr id="2" name="Título 1">
            <a:extLst>
              <a:ext uri="{FF2B5EF4-FFF2-40B4-BE49-F238E27FC236}">
                <a16:creationId xmlns:a16="http://schemas.microsoft.com/office/drawing/2014/main" id="{3CD97974-B93C-4C96-B3F6-F69E3D6DE6CA}"/>
              </a:ext>
            </a:extLst>
          </p:cNvPr>
          <p:cNvSpPr>
            <a:spLocks noGrp="1"/>
          </p:cNvSpPr>
          <p:nvPr>
            <p:ph type="title" hasCustomPrompt="1"/>
          </p:nvPr>
        </p:nvSpPr>
        <p:spPr>
          <a:xfrm>
            <a:off x="1158864" y="102021"/>
            <a:ext cx="9779183" cy="1744415"/>
          </a:xfrm>
        </p:spPr>
        <p:txBody>
          <a:bodyPr rtlCol="0" anchor="b">
            <a:noAutofit/>
          </a:bodyPr>
          <a:lstStyle>
            <a:lvl1pPr>
              <a:defRPr lang="pt-BR" sz="4200" b="1">
                <a:latin typeface="+mj-lt"/>
              </a:defRPr>
            </a:lvl1pPr>
          </a:lstStyle>
          <a:p>
            <a:pPr rtl="0"/>
            <a:r>
              <a:rPr lang="pt-BR"/>
              <a:t>Clique para adicionar um título</a:t>
            </a:r>
          </a:p>
        </p:txBody>
      </p:sp>
      <p:sp>
        <p:nvSpPr>
          <p:cNvPr id="3" name="Espaço Reservado para Conteúdo 2">
            <a:extLst>
              <a:ext uri="{FF2B5EF4-FFF2-40B4-BE49-F238E27FC236}">
                <a16:creationId xmlns:a16="http://schemas.microsoft.com/office/drawing/2014/main" id="{8A6FC6F2-80B4-49A7-9448-33FE2DF0E967}"/>
              </a:ext>
            </a:extLst>
          </p:cNvPr>
          <p:cNvSpPr>
            <a:spLocks noGrp="1"/>
          </p:cNvSpPr>
          <p:nvPr>
            <p:ph idx="1" hasCustomPrompt="1"/>
          </p:nvPr>
        </p:nvSpPr>
        <p:spPr>
          <a:xfrm>
            <a:off x="1158865" y="2017467"/>
            <a:ext cx="9779182" cy="3366815"/>
          </a:xfrm>
        </p:spPr>
        <p:txBody>
          <a:bodyPr rtlCol="0">
            <a:normAutofit/>
          </a:bodyPr>
          <a:lstStyle>
            <a:lvl1pPr marL="0" indent="0">
              <a:buNone/>
              <a:defRPr lang="pt-BR">
                <a:latin typeface="+mn-lt"/>
              </a:defRPr>
            </a:lvl1pPr>
            <a:lvl2pPr marL="457200" indent="0">
              <a:buNone/>
              <a:defRPr lang="pt-BR">
                <a:latin typeface="+mn-lt"/>
              </a:defRPr>
            </a:lvl2pPr>
            <a:lvl3pPr marL="914400" indent="0">
              <a:buNone/>
              <a:defRPr lang="pt-BR">
                <a:latin typeface="+mn-lt"/>
              </a:defRPr>
            </a:lvl3pPr>
            <a:lvl4pPr marL="1371600" indent="0">
              <a:buNone/>
              <a:defRPr lang="pt-BR">
                <a:latin typeface="+mn-lt"/>
              </a:defRPr>
            </a:lvl4pPr>
            <a:lvl5pPr marL="1828800" indent="0">
              <a:buNone/>
              <a:defRPr lang="pt-BR">
                <a:latin typeface="+mn-lt"/>
              </a:defRPr>
            </a:lvl5pPr>
          </a:lstStyle>
          <a:p>
            <a:pPr lvl="0" rtl="0"/>
            <a:r>
              <a:rPr lang="pt-BR"/>
              <a:t>Clique para adicionar o texto</a:t>
            </a:r>
          </a:p>
          <a:p>
            <a:pPr lvl="1" rtl="0"/>
            <a:r>
              <a:rPr lang="pt-BR"/>
              <a:t>Segundo nível</a:t>
            </a:r>
          </a:p>
          <a:p>
            <a:pPr lvl="2" rtl="0"/>
            <a:r>
              <a:rPr lang="pt-BR"/>
              <a:t>Terceiro nível</a:t>
            </a:r>
          </a:p>
          <a:p>
            <a:pPr lvl="3" rtl="0"/>
            <a:r>
              <a:rPr lang="pt-BR"/>
              <a:t>Quarto nível</a:t>
            </a:r>
          </a:p>
          <a:p>
            <a:pPr lvl="4" rtl="0"/>
            <a:r>
              <a:rPr lang="pt-BR"/>
              <a:t>Quinto nível</a:t>
            </a:r>
          </a:p>
        </p:txBody>
      </p:sp>
      <p:sp>
        <p:nvSpPr>
          <p:cNvPr id="10" name="Espaço Reservado para Data 3">
            <a:extLst>
              <a:ext uri="{FF2B5EF4-FFF2-40B4-BE49-F238E27FC236}">
                <a16:creationId xmlns:a16="http://schemas.microsoft.com/office/drawing/2014/main" id="{7536C149-3EFE-A94E-902D-57CED00B2C0F}"/>
              </a:ext>
            </a:extLst>
          </p:cNvPr>
          <p:cNvSpPr>
            <a:spLocks noGrp="1"/>
          </p:cNvSpPr>
          <p:nvPr>
            <p:ph type="dt" sz="half" idx="2"/>
          </p:nvPr>
        </p:nvSpPr>
        <p:spPr>
          <a:xfrm>
            <a:off x="381000" y="6356350"/>
            <a:ext cx="2743200" cy="365125"/>
          </a:xfrm>
          <a:prstGeom prst="rect">
            <a:avLst/>
          </a:prstGeom>
        </p:spPr>
        <p:txBody>
          <a:bodyPr vert="horz" lIns="91440" tIns="45720" rIns="91440" bIns="45720" rtlCol="0" anchor="ctr">
            <a:noAutofit/>
          </a:bodyPr>
          <a:lstStyle>
            <a:lvl1pPr algn="l">
              <a:defRPr lang="pt-BR" sz="1200">
                <a:solidFill>
                  <a:schemeClr val="accent3"/>
                </a:solidFill>
                <a:latin typeface="+mn-lt"/>
              </a:defRPr>
            </a:lvl1pPr>
          </a:lstStyle>
          <a:p>
            <a:pPr rtl="0"/>
            <a:r>
              <a:rPr lang="pt-BR"/>
              <a:t>8/9/20XX</a:t>
            </a:r>
          </a:p>
        </p:txBody>
      </p:sp>
      <p:sp>
        <p:nvSpPr>
          <p:cNvPr id="11" name="Espaço Reservado para Rodapé 4">
            <a:extLst>
              <a:ext uri="{FF2B5EF4-FFF2-40B4-BE49-F238E27FC236}">
                <a16:creationId xmlns:a16="http://schemas.microsoft.com/office/drawing/2014/main" id="{53CA1E78-F17D-F34D-9F81-0DBF44F378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lang="pt-BR" sz="1200">
                <a:solidFill>
                  <a:schemeClr val="accent3"/>
                </a:solidFill>
                <a:latin typeface="+mn-lt"/>
              </a:defRPr>
            </a:lvl1pPr>
          </a:lstStyle>
          <a:p>
            <a:pPr rtl="0"/>
            <a:endParaRPr lang="pt-BR" dirty="0"/>
          </a:p>
        </p:txBody>
      </p:sp>
      <p:sp>
        <p:nvSpPr>
          <p:cNvPr id="12" name="Espaço Reservado para o Número do Slide 5">
            <a:extLst>
              <a:ext uri="{FF2B5EF4-FFF2-40B4-BE49-F238E27FC236}">
                <a16:creationId xmlns:a16="http://schemas.microsoft.com/office/drawing/2014/main" id="{1FE54918-A625-F64F-A42E-A427E9B2D489}"/>
              </a:ext>
            </a:extLst>
          </p:cNvPr>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lang="pt-BR" sz="1200">
                <a:solidFill>
                  <a:schemeClr val="accent2"/>
                </a:solidFill>
                <a:latin typeface="+mn-lt"/>
              </a:defRPr>
            </a:lvl1pPr>
          </a:lstStyle>
          <a:p>
            <a:pPr rtl="0"/>
            <a:fld id="{294A09A9-5501-47C1-A89A-A340965A2BE2}" type="slidenum">
              <a:rPr lang="pt-BR" smtClean="0"/>
              <a:pPr rtl="0"/>
              <a:t>‹nº›</a:t>
            </a:fld>
            <a:endParaRPr lang="pt-BR" dirty="0"/>
          </a:p>
        </p:txBody>
      </p:sp>
    </p:spTree>
    <p:extLst>
      <p:ext uri="{BB962C8B-B14F-4D97-AF65-F5344CB8AC3E}">
        <p14:creationId xmlns:p14="http://schemas.microsoft.com/office/powerpoint/2010/main" val="27822712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Título e Imagem à Direita">
    <p:spTree>
      <p:nvGrpSpPr>
        <p:cNvPr id="1" name=""/>
        <p:cNvGrpSpPr/>
        <p:nvPr/>
      </p:nvGrpSpPr>
      <p:grpSpPr>
        <a:xfrm>
          <a:off x="0" y="0"/>
          <a:ext cx="0" cy="0"/>
          <a:chOff x="0" y="0"/>
          <a:chExt cx="0" cy="0"/>
        </a:xfrm>
      </p:grpSpPr>
      <p:grpSp>
        <p:nvGrpSpPr>
          <p:cNvPr id="13" name="Grupo 12">
            <a:extLst>
              <a:ext uri="{FF2B5EF4-FFF2-40B4-BE49-F238E27FC236}">
                <a16:creationId xmlns:a16="http://schemas.microsoft.com/office/drawing/2014/main" id="{AC10D125-AB73-D276-4947-94204736A30D}"/>
              </a:ext>
              <a:ext uri="{C183D7F6-B498-43B3-948B-1728B52AA6E4}">
                <adec:decorative xmlns:adec="http://schemas.microsoft.com/office/drawing/2017/decorative" val="1"/>
              </a:ext>
            </a:extLst>
          </p:cNvPr>
          <p:cNvGrpSpPr/>
          <p:nvPr userDrawn="1"/>
        </p:nvGrpSpPr>
        <p:grpSpPr>
          <a:xfrm flipH="1">
            <a:off x="1" y="0"/>
            <a:ext cx="12191999" cy="6858000"/>
            <a:chOff x="1" y="0"/>
            <a:chExt cx="12191999" cy="6858000"/>
          </a:xfrm>
        </p:grpSpPr>
        <p:sp>
          <p:nvSpPr>
            <p:cNvPr id="4" name="Forma Livre 3">
              <a:extLst>
                <a:ext uri="{FF2B5EF4-FFF2-40B4-BE49-F238E27FC236}">
                  <a16:creationId xmlns:a16="http://schemas.microsoft.com/office/drawing/2014/main" id="{6A7F6A3F-E1DD-A246-9A6D-5F9B18BA2588}"/>
                </a:ext>
                <a:ext uri="{C183D7F6-B498-43B3-948B-1728B52AA6E4}">
                  <adec:decorative xmlns:adec="http://schemas.microsoft.com/office/drawing/2017/decorative" val="1"/>
                </a:ext>
              </a:extLst>
            </p:cNvPr>
            <p:cNvSpPr/>
            <p:nvPr userDrawn="1"/>
          </p:nvSpPr>
          <p:spPr>
            <a:xfrm flipH="1">
              <a:off x="8580896" y="1"/>
              <a:ext cx="3611104" cy="3611104"/>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pt-BR"/>
              </a:defPPr>
            </a:lstStyle>
            <a:p>
              <a:pPr algn="ctr" rtl="0"/>
              <a:endParaRPr lang="pt-BR" dirty="0"/>
            </a:p>
          </p:txBody>
        </p:sp>
        <p:sp>
          <p:nvSpPr>
            <p:cNvPr id="5" name="Forma Livre 4">
              <a:extLst>
                <a:ext uri="{FF2B5EF4-FFF2-40B4-BE49-F238E27FC236}">
                  <a16:creationId xmlns:a16="http://schemas.microsoft.com/office/drawing/2014/main" id="{055FD0FC-C8FF-6741-A364-A29CDC6F9495}"/>
                </a:ext>
                <a:ext uri="{C183D7F6-B498-43B3-948B-1728B52AA6E4}">
                  <adec:decorative xmlns:adec="http://schemas.microsoft.com/office/drawing/2017/decorative" val="1"/>
                </a:ext>
              </a:extLst>
            </p:cNvPr>
            <p:cNvSpPr/>
            <p:nvPr userDrawn="1"/>
          </p:nvSpPr>
          <p:spPr>
            <a:xfrm flipH="1">
              <a:off x="8580896"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pt-BR"/>
              </a:defPPr>
            </a:lstStyle>
            <a:p>
              <a:pPr algn="ctr" rtl="0"/>
              <a:endParaRPr lang="pt-BR" dirty="0">
                <a:latin typeface="+mn-lt"/>
              </a:endParaRPr>
            </a:p>
          </p:txBody>
        </p:sp>
        <p:sp>
          <p:nvSpPr>
            <p:cNvPr id="6" name="Forma Livre 5">
              <a:extLst>
                <a:ext uri="{FF2B5EF4-FFF2-40B4-BE49-F238E27FC236}">
                  <a16:creationId xmlns:a16="http://schemas.microsoft.com/office/drawing/2014/main" id="{D11C9832-A021-954E-A34F-2988D1189AE9}"/>
                </a:ext>
                <a:ext uri="{C183D7F6-B498-43B3-948B-1728B52AA6E4}">
                  <adec:decorative xmlns:adec="http://schemas.microsoft.com/office/drawing/2017/decorative" val="1"/>
                </a:ext>
              </a:extLst>
            </p:cNvPr>
            <p:cNvSpPr/>
            <p:nvPr userDrawn="1"/>
          </p:nvSpPr>
          <p:spPr>
            <a:xfrm>
              <a:off x="1" y="0"/>
              <a:ext cx="933856" cy="933856"/>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pt-BR"/>
              </a:defPPr>
            </a:lstStyle>
            <a:p>
              <a:pPr algn="ctr" rtl="0"/>
              <a:endParaRPr lang="pt-BR" dirty="0"/>
            </a:p>
          </p:txBody>
        </p:sp>
        <p:grpSp>
          <p:nvGrpSpPr>
            <p:cNvPr id="9" name="Grupo 8">
              <a:extLst>
                <a:ext uri="{FF2B5EF4-FFF2-40B4-BE49-F238E27FC236}">
                  <a16:creationId xmlns:a16="http://schemas.microsoft.com/office/drawing/2014/main" id="{9861BC34-DFBF-2D4F-B463-FCFBC08391FF}"/>
                </a:ext>
                <a:ext uri="{C183D7F6-B498-43B3-948B-1728B52AA6E4}">
                  <adec:decorative xmlns:adec="http://schemas.microsoft.com/office/drawing/2017/decorative" val="1"/>
                </a:ext>
              </a:extLst>
            </p:cNvPr>
            <p:cNvGrpSpPr/>
            <p:nvPr userDrawn="1"/>
          </p:nvGrpSpPr>
          <p:grpSpPr>
            <a:xfrm>
              <a:off x="8082092" y="5590903"/>
              <a:ext cx="1572380" cy="1267097"/>
              <a:chOff x="7413403" y="4976359"/>
              <a:chExt cx="2334986" cy="1881641"/>
            </a:xfrm>
          </p:grpSpPr>
          <p:sp>
            <p:nvSpPr>
              <p:cNvPr id="7" name="Forma Livre 6">
                <a:extLst>
                  <a:ext uri="{FF2B5EF4-FFF2-40B4-BE49-F238E27FC236}">
                    <a16:creationId xmlns:a16="http://schemas.microsoft.com/office/drawing/2014/main" id="{55C37C19-F268-4A43-A0D4-3B1B38D48952}"/>
                  </a:ext>
                </a:extLst>
              </p:cNvPr>
              <p:cNvSpPr/>
              <p:nvPr userDrawn="1"/>
            </p:nvSpPr>
            <p:spPr>
              <a:xfrm rot="5400000" flipH="1" flipV="1">
                <a:off x="8223822"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pt-BR"/>
                </a:defPPr>
              </a:lstStyle>
              <a:p>
                <a:pPr algn="ctr" rtl="0"/>
                <a:endParaRPr lang="pt-BR" dirty="0">
                  <a:latin typeface="+mn-lt"/>
                </a:endParaRPr>
              </a:p>
            </p:txBody>
          </p:sp>
          <p:sp>
            <p:nvSpPr>
              <p:cNvPr id="8" name="Forma Livre 7">
                <a:extLst>
                  <a:ext uri="{FF2B5EF4-FFF2-40B4-BE49-F238E27FC236}">
                    <a16:creationId xmlns:a16="http://schemas.microsoft.com/office/drawing/2014/main" id="{E4F760E5-9D5D-E44F-AEBF-20CA8DE87D11}"/>
                  </a:ext>
                </a:extLst>
              </p:cNvPr>
              <p:cNvSpPr/>
              <p:nvPr userDrawn="1"/>
            </p:nvSpPr>
            <p:spPr>
              <a:xfrm rot="16200000" flipV="1">
                <a:off x="7056329"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pt-BR"/>
                </a:defPPr>
              </a:lstStyle>
              <a:p>
                <a:pPr algn="ctr" rtl="0"/>
                <a:endParaRPr lang="pt-BR" dirty="0">
                  <a:latin typeface="+mn-lt"/>
                </a:endParaRPr>
              </a:p>
            </p:txBody>
          </p:sp>
        </p:grpSp>
      </p:grpSp>
      <p:sp>
        <p:nvSpPr>
          <p:cNvPr id="2" name="Título 1">
            <a:extLst>
              <a:ext uri="{FF2B5EF4-FFF2-40B4-BE49-F238E27FC236}">
                <a16:creationId xmlns:a16="http://schemas.microsoft.com/office/drawing/2014/main" id="{3CD97974-B93C-4C96-B3F6-F69E3D6DE6CA}"/>
              </a:ext>
            </a:extLst>
          </p:cNvPr>
          <p:cNvSpPr>
            <a:spLocks noGrp="1"/>
          </p:cNvSpPr>
          <p:nvPr>
            <p:ph type="title" hasCustomPrompt="1"/>
          </p:nvPr>
        </p:nvSpPr>
        <p:spPr>
          <a:xfrm>
            <a:off x="1167492" y="1371600"/>
            <a:ext cx="5486400" cy="4114800"/>
          </a:xfrm>
        </p:spPr>
        <p:txBody>
          <a:bodyPr rtlCol="0" anchor="ctr" anchorCtr="0">
            <a:noAutofit/>
          </a:bodyPr>
          <a:lstStyle>
            <a:lvl1pPr>
              <a:defRPr lang="pt-BR" sz="6000" b="1">
                <a:latin typeface="+mj-lt"/>
              </a:defRPr>
            </a:lvl1pPr>
          </a:lstStyle>
          <a:p>
            <a:pPr rtl="0"/>
            <a:r>
              <a:rPr lang="pt-BR"/>
              <a:t>Clique para adicionar um título</a:t>
            </a:r>
          </a:p>
        </p:txBody>
      </p:sp>
      <p:sp>
        <p:nvSpPr>
          <p:cNvPr id="15" name="Espaço Reservado para Imagem 14">
            <a:extLst>
              <a:ext uri="{FF2B5EF4-FFF2-40B4-BE49-F238E27FC236}">
                <a16:creationId xmlns:a16="http://schemas.microsoft.com/office/drawing/2014/main" id="{3124234B-E1C4-2616-9993-A23142AA69B2}"/>
              </a:ext>
            </a:extLst>
          </p:cNvPr>
          <p:cNvSpPr>
            <a:spLocks noGrp="1"/>
          </p:cNvSpPr>
          <p:nvPr>
            <p:ph type="pic" sz="quarter" idx="10"/>
          </p:nvPr>
        </p:nvSpPr>
        <p:spPr>
          <a:xfrm>
            <a:off x="7183438" y="1168400"/>
            <a:ext cx="4500562" cy="4521200"/>
          </a:xfrm>
          <a:prstGeom prst="ellipse">
            <a:avLst/>
          </a:prstGeom>
          <a:solidFill>
            <a:schemeClr val="accent2"/>
          </a:solidFill>
        </p:spPr>
        <p:txBody>
          <a:bodyPr rtlCol="0"/>
          <a:lstStyle>
            <a:lvl1pPr marL="0" indent="0" algn="ctr">
              <a:buNone/>
              <a:defRPr lang="pt-BR" sz="2000"/>
            </a:lvl1pPr>
          </a:lstStyle>
          <a:p>
            <a:pPr rtl="0"/>
            <a:r>
              <a:rPr lang="pt-BR"/>
              <a:t>Clique no ícone para adicionar uma imagem</a:t>
            </a:r>
          </a:p>
        </p:txBody>
      </p:sp>
      <p:sp>
        <p:nvSpPr>
          <p:cNvPr id="10" name="Espaço Reservado para Data 3">
            <a:extLst>
              <a:ext uri="{FF2B5EF4-FFF2-40B4-BE49-F238E27FC236}">
                <a16:creationId xmlns:a16="http://schemas.microsoft.com/office/drawing/2014/main" id="{7536C149-3EFE-A94E-902D-57CED00B2C0F}"/>
              </a:ext>
            </a:extLst>
          </p:cNvPr>
          <p:cNvSpPr>
            <a:spLocks noGrp="1"/>
          </p:cNvSpPr>
          <p:nvPr>
            <p:ph type="dt" sz="half" idx="2"/>
          </p:nvPr>
        </p:nvSpPr>
        <p:spPr>
          <a:xfrm>
            <a:off x="381000" y="6356350"/>
            <a:ext cx="2743200" cy="365125"/>
          </a:xfrm>
          <a:prstGeom prst="rect">
            <a:avLst/>
          </a:prstGeom>
        </p:spPr>
        <p:txBody>
          <a:bodyPr vert="horz" lIns="91440" tIns="45720" rIns="91440" bIns="45720" rtlCol="0" anchor="ctr">
            <a:noAutofit/>
          </a:bodyPr>
          <a:lstStyle>
            <a:lvl1pPr algn="l">
              <a:defRPr lang="pt-BR" sz="1200">
                <a:solidFill>
                  <a:schemeClr val="accent3"/>
                </a:solidFill>
                <a:latin typeface="+mn-lt"/>
              </a:defRPr>
            </a:lvl1pPr>
          </a:lstStyle>
          <a:p>
            <a:pPr rtl="0"/>
            <a:r>
              <a:rPr lang="pt-BR"/>
              <a:t>8/9/20XX</a:t>
            </a:r>
          </a:p>
        </p:txBody>
      </p:sp>
      <p:sp>
        <p:nvSpPr>
          <p:cNvPr id="11" name="Espaço Reservado para Rodapé 4">
            <a:extLst>
              <a:ext uri="{FF2B5EF4-FFF2-40B4-BE49-F238E27FC236}">
                <a16:creationId xmlns:a16="http://schemas.microsoft.com/office/drawing/2014/main" id="{53CA1E78-F17D-F34D-9F81-0DBF44F378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lang="pt-BR" sz="1200">
                <a:solidFill>
                  <a:schemeClr val="accent3"/>
                </a:solidFill>
                <a:latin typeface="+mn-lt"/>
              </a:defRPr>
            </a:lvl1pPr>
          </a:lstStyle>
          <a:p>
            <a:pPr rtl="0"/>
            <a:endParaRPr lang="pt-BR" dirty="0"/>
          </a:p>
        </p:txBody>
      </p:sp>
      <p:sp>
        <p:nvSpPr>
          <p:cNvPr id="12" name="Espaço Reservado para o Número do Slide 5">
            <a:extLst>
              <a:ext uri="{FF2B5EF4-FFF2-40B4-BE49-F238E27FC236}">
                <a16:creationId xmlns:a16="http://schemas.microsoft.com/office/drawing/2014/main" id="{1FE54918-A625-F64F-A42E-A427E9B2D489}"/>
              </a:ext>
            </a:extLst>
          </p:cNvPr>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lang="pt-BR" sz="1200">
                <a:solidFill>
                  <a:schemeClr val="accent2"/>
                </a:solidFill>
                <a:latin typeface="+mn-lt"/>
              </a:defRPr>
            </a:lvl1pPr>
          </a:lstStyle>
          <a:p>
            <a:pPr rtl="0"/>
            <a:fld id="{294A09A9-5501-47C1-A89A-A340965A2BE2}" type="slidenum">
              <a:rPr lang="pt-BR" smtClean="0"/>
              <a:pPr rtl="0"/>
              <a:t>‹nº›</a:t>
            </a:fld>
            <a:endParaRPr lang="pt-BR" dirty="0"/>
          </a:p>
        </p:txBody>
      </p:sp>
    </p:spTree>
    <p:extLst>
      <p:ext uri="{BB962C8B-B14F-4D97-AF65-F5344CB8AC3E}">
        <p14:creationId xmlns:p14="http://schemas.microsoft.com/office/powerpoint/2010/main" val="24912667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Título e Imagem à Esquerda">
    <p:spTree>
      <p:nvGrpSpPr>
        <p:cNvPr id="1" name=""/>
        <p:cNvGrpSpPr/>
        <p:nvPr/>
      </p:nvGrpSpPr>
      <p:grpSpPr>
        <a:xfrm>
          <a:off x="0" y="0"/>
          <a:ext cx="0" cy="0"/>
          <a:chOff x="0" y="0"/>
          <a:chExt cx="0" cy="0"/>
        </a:xfrm>
      </p:grpSpPr>
      <p:grpSp>
        <p:nvGrpSpPr>
          <p:cNvPr id="13" name="Grupo 12">
            <a:extLst>
              <a:ext uri="{FF2B5EF4-FFF2-40B4-BE49-F238E27FC236}">
                <a16:creationId xmlns:a16="http://schemas.microsoft.com/office/drawing/2014/main" id="{AC10D125-AB73-D276-4947-94204736A30D}"/>
              </a:ext>
              <a:ext uri="{C183D7F6-B498-43B3-948B-1728B52AA6E4}">
                <adec:decorative xmlns:adec="http://schemas.microsoft.com/office/drawing/2017/decorative" val="1"/>
              </a:ext>
            </a:extLst>
          </p:cNvPr>
          <p:cNvGrpSpPr/>
          <p:nvPr userDrawn="1"/>
        </p:nvGrpSpPr>
        <p:grpSpPr>
          <a:xfrm>
            <a:off x="1" y="0"/>
            <a:ext cx="12191999" cy="6858000"/>
            <a:chOff x="1" y="0"/>
            <a:chExt cx="12191999" cy="6858000"/>
          </a:xfrm>
        </p:grpSpPr>
        <p:sp>
          <p:nvSpPr>
            <p:cNvPr id="4" name="Forma Livre 3">
              <a:extLst>
                <a:ext uri="{FF2B5EF4-FFF2-40B4-BE49-F238E27FC236}">
                  <a16:creationId xmlns:a16="http://schemas.microsoft.com/office/drawing/2014/main" id="{6A7F6A3F-E1DD-A246-9A6D-5F9B18BA2588}"/>
                </a:ext>
                <a:ext uri="{C183D7F6-B498-43B3-948B-1728B52AA6E4}">
                  <adec:decorative xmlns:adec="http://schemas.microsoft.com/office/drawing/2017/decorative" val="1"/>
                </a:ext>
              </a:extLst>
            </p:cNvPr>
            <p:cNvSpPr/>
            <p:nvPr userDrawn="1"/>
          </p:nvSpPr>
          <p:spPr>
            <a:xfrm flipH="1">
              <a:off x="8580896" y="1"/>
              <a:ext cx="3611104" cy="3611104"/>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pt-BR"/>
              </a:defPPr>
            </a:lstStyle>
            <a:p>
              <a:pPr algn="ctr" rtl="0"/>
              <a:endParaRPr lang="pt-BR" dirty="0"/>
            </a:p>
          </p:txBody>
        </p:sp>
        <p:sp>
          <p:nvSpPr>
            <p:cNvPr id="5" name="Forma Livre 4">
              <a:extLst>
                <a:ext uri="{FF2B5EF4-FFF2-40B4-BE49-F238E27FC236}">
                  <a16:creationId xmlns:a16="http://schemas.microsoft.com/office/drawing/2014/main" id="{055FD0FC-C8FF-6741-A364-A29CDC6F9495}"/>
                </a:ext>
                <a:ext uri="{C183D7F6-B498-43B3-948B-1728B52AA6E4}">
                  <adec:decorative xmlns:adec="http://schemas.microsoft.com/office/drawing/2017/decorative" val="1"/>
                </a:ext>
              </a:extLst>
            </p:cNvPr>
            <p:cNvSpPr/>
            <p:nvPr userDrawn="1"/>
          </p:nvSpPr>
          <p:spPr>
            <a:xfrm flipH="1">
              <a:off x="8580896"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pt-BR"/>
              </a:defPPr>
            </a:lstStyle>
            <a:p>
              <a:pPr algn="ctr" rtl="0"/>
              <a:endParaRPr lang="pt-BR" dirty="0">
                <a:latin typeface="+mn-lt"/>
              </a:endParaRPr>
            </a:p>
          </p:txBody>
        </p:sp>
        <p:sp>
          <p:nvSpPr>
            <p:cNvPr id="6" name="Forma Livre 5">
              <a:extLst>
                <a:ext uri="{FF2B5EF4-FFF2-40B4-BE49-F238E27FC236}">
                  <a16:creationId xmlns:a16="http://schemas.microsoft.com/office/drawing/2014/main" id="{D11C9832-A021-954E-A34F-2988D1189AE9}"/>
                </a:ext>
                <a:ext uri="{C183D7F6-B498-43B3-948B-1728B52AA6E4}">
                  <adec:decorative xmlns:adec="http://schemas.microsoft.com/office/drawing/2017/decorative" val="1"/>
                </a:ext>
              </a:extLst>
            </p:cNvPr>
            <p:cNvSpPr/>
            <p:nvPr userDrawn="1"/>
          </p:nvSpPr>
          <p:spPr>
            <a:xfrm>
              <a:off x="1" y="0"/>
              <a:ext cx="933856" cy="933856"/>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pt-BR"/>
              </a:defPPr>
            </a:lstStyle>
            <a:p>
              <a:pPr algn="ctr" rtl="0"/>
              <a:endParaRPr lang="pt-BR" dirty="0"/>
            </a:p>
          </p:txBody>
        </p:sp>
        <p:grpSp>
          <p:nvGrpSpPr>
            <p:cNvPr id="9" name="Grupo 8">
              <a:extLst>
                <a:ext uri="{FF2B5EF4-FFF2-40B4-BE49-F238E27FC236}">
                  <a16:creationId xmlns:a16="http://schemas.microsoft.com/office/drawing/2014/main" id="{9861BC34-DFBF-2D4F-B463-FCFBC08391FF}"/>
                </a:ext>
                <a:ext uri="{C183D7F6-B498-43B3-948B-1728B52AA6E4}">
                  <adec:decorative xmlns:adec="http://schemas.microsoft.com/office/drawing/2017/decorative" val="1"/>
                </a:ext>
              </a:extLst>
            </p:cNvPr>
            <p:cNvGrpSpPr/>
            <p:nvPr userDrawn="1"/>
          </p:nvGrpSpPr>
          <p:grpSpPr>
            <a:xfrm>
              <a:off x="8082092" y="5590903"/>
              <a:ext cx="1572380" cy="1267097"/>
              <a:chOff x="7413403" y="4976359"/>
              <a:chExt cx="2334986" cy="1881641"/>
            </a:xfrm>
          </p:grpSpPr>
          <p:sp>
            <p:nvSpPr>
              <p:cNvPr id="7" name="Forma Livre 6">
                <a:extLst>
                  <a:ext uri="{FF2B5EF4-FFF2-40B4-BE49-F238E27FC236}">
                    <a16:creationId xmlns:a16="http://schemas.microsoft.com/office/drawing/2014/main" id="{55C37C19-F268-4A43-A0D4-3B1B38D48952}"/>
                  </a:ext>
                </a:extLst>
              </p:cNvPr>
              <p:cNvSpPr/>
              <p:nvPr userDrawn="1"/>
            </p:nvSpPr>
            <p:spPr>
              <a:xfrm rot="5400000" flipH="1" flipV="1">
                <a:off x="8223822"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pt-BR"/>
                </a:defPPr>
              </a:lstStyle>
              <a:p>
                <a:pPr algn="ctr" rtl="0"/>
                <a:endParaRPr lang="pt-BR" dirty="0">
                  <a:latin typeface="+mn-lt"/>
                </a:endParaRPr>
              </a:p>
            </p:txBody>
          </p:sp>
          <p:sp>
            <p:nvSpPr>
              <p:cNvPr id="8" name="Forma Livre 7">
                <a:extLst>
                  <a:ext uri="{FF2B5EF4-FFF2-40B4-BE49-F238E27FC236}">
                    <a16:creationId xmlns:a16="http://schemas.microsoft.com/office/drawing/2014/main" id="{E4F760E5-9D5D-E44F-AEBF-20CA8DE87D11}"/>
                  </a:ext>
                </a:extLst>
              </p:cNvPr>
              <p:cNvSpPr/>
              <p:nvPr userDrawn="1"/>
            </p:nvSpPr>
            <p:spPr>
              <a:xfrm rot="16200000" flipV="1">
                <a:off x="7056329"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pt-BR"/>
                </a:defPPr>
              </a:lstStyle>
              <a:p>
                <a:pPr algn="ctr" rtl="0"/>
                <a:endParaRPr lang="pt-BR" dirty="0">
                  <a:latin typeface="+mn-lt"/>
                </a:endParaRPr>
              </a:p>
            </p:txBody>
          </p:sp>
        </p:grpSp>
      </p:grpSp>
      <p:sp>
        <p:nvSpPr>
          <p:cNvPr id="2" name="Título 1">
            <a:extLst>
              <a:ext uri="{FF2B5EF4-FFF2-40B4-BE49-F238E27FC236}">
                <a16:creationId xmlns:a16="http://schemas.microsoft.com/office/drawing/2014/main" id="{3CD97974-B93C-4C96-B3F6-F69E3D6DE6CA}"/>
              </a:ext>
            </a:extLst>
          </p:cNvPr>
          <p:cNvSpPr>
            <a:spLocks noGrp="1"/>
          </p:cNvSpPr>
          <p:nvPr>
            <p:ph type="title" hasCustomPrompt="1"/>
          </p:nvPr>
        </p:nvSpPr>
        <p:spPr>
          <a:xfrm>
            <a:off x="5943600" y="457200"/>
            <a:ext cx="5120640" cy="3200400"/>
          </a:xfrm>
        </p:spPr>
        <p:txBody>
          <a:bodyPr rtlCol="0" anchor="b" anchorCtr="0">
            <a:noAutofit/>
          </a:bodyPr>
          <a:lstStyle>
            <a:lvl1pPr>
              <a:defRPr lang="pt-BR" sz="6000" b="1">
                <a:latin typeface="+mj-lt"/>
              </a:defRPr>
            </a:lvl1pPr>
          </a:lstStyle>
          <a:p>
            <a:pPr rtl="0"/>
            <a:r>
              <a:rPr lang="pt-BR"/>
              <a:t>Clique para adicionar um título</a:t>
            </a:r>
          </a:p>
        </p:txBody>
      </p:sp>
      <p:sp>
        <p:nvSpPr>
          <p:cNvPr id="3" name="Subtítulo 2">
            <a:extLst>
              <a:ext uri="{FF2B5EF4-FFF2-40B4-BE49-F238E27FC236}">
                <a16:creationId xmlns:a16="http://schemas.microsoft.com/office/drawing/2014/main" id="{8763DBBF-E63D-81E5-E7CE-32F6F2C2F935}"/>
              </a:ext>
            </a:extLst>
          </p:cNvPr>
          <p:cNvSpPr>
            <a:spLocks noGrp="1"/>
          </p:cNvSpPr>
          <p:nvPr>
            <p:ph type="subTitle" idx="1" hasCustomPrompt="1"/>
          </p:nvPr>
        </p:nvSpPr>
        <p:spPr>
          <a:xfrm>
            <a:off x="5943598" y="3657600"/>
            <a:ext cx="5120640" cy="1828800"/>
          </a:xfrm>
        </p:spPr>
        <p:txBody>
          <a:bodyPr rtlCol="0" anchor="t" anchorCtr="0">
            <a:noAutofit/>
          </a:bodyPr>
          <a:lstStyle>
            <a:lvl1pPr marL="0" indent="0" algn="l">
              <a:buNone/>
              <a:defRPr lang="pt-BR" sz="3200">
                <a:latin typeface="+mn-lt"/>
              </a:defRPr>
            </a:lvl1pPr>
            <a:lvl2pPr marL="457200" indent="0" algn="ctr">
              <a:buNone/>
              <a:defRPr lang="pt-BR" sz="2000"/>
            </a:lvl2pPr>
            <a:lvl3pPr marL="914400" indent="0" algn="ctr">
              <a:buNone/>
              <a:defRPr lang="pt-BR" sz="1800"/>
            </a:lvl3pPr>
            <a:lvl4pPr marL="1371600" indent="0" algn="ctr">
              <a:buNone/>
              <a:defRPr lang="pt-BR" sz="1600"/>
            </a:lvl4pPr>
            <a:lvl5pPr marL="1828800" indent="0" algn="ctr">
              <a:buNone/>
              <a:defRPr lang="pt-BR" sz="1600"/>
            </a:lvl5pPr>
            <a:lvl6pPr marL="2286000" indent="0" algn="ctr">
              <a:buNone/>
              <a:defRPr lang="pt-BR" sz="1600"/>
            </a:lvl6pPr>
            <a:lvl7pPr marL="2743200" indent="0" algn="ctr">
              <a:buNone/>
              <a:defRPr lang="pt-BR" sz="1600"/>
            </a:lvl7pPr>
            <a:lvl8pPr marL="3200400" indent="0" algn="ctr">
              <a:buNone/>
              <a:defRPr lang="pt-BR" sz="1600"/>
            </a:lvl8pPr>
            <a:lvl9pPr marL="3657600" indent="0" algn="ctr">
              <a:buNone/>
              <a:defRPr lang="pt-BR" sz="1600"/>
            </a:lvl9pPr>
          </a:lstStyle>
          <a:p>
            <a:pPr rtl="0"/>
            <a:r>
              <a:rPr lang="pt-BR"/>
              <a:t>Clique para adicionar um subtítulo</a:t>
            </a:r>
          </a:p>
        </p:txBody>
      </p:sp>
      <p:sp>
        <p:nvSpPr>
          <p:cNvPr id="15" name="Espaço Reservado para Imagem 14">
            <a:extLst>
              <a:ext uri="{FF2B5EF4-FFF2-40B4-BE49-F238E27FC236}">
                <a16:creationId xmlns:a16="http://schemas.microsoft.com/office/drawing/2014/main" id="{64033732-ADA1-C540-7276-3FF5CDEF2C5E}"/>
              </a:ext>
            </a:extLst>
          </p:cNvPr>
          <p:cNvSpPr>
            <a:spLocks noGrp="1"/>
          </p:cNvSpPr>
          <p:nvPr>
            <p:ph type="pic" sz="quarter" idx="10"/>
          </p:nvPr>
        </p:nvSpPr>
        <p:spPr>
          <a:xfrm>
            <a:off x="904238" y="1157224"/>
            <a:ext cx="4500562" cy="4521200"/>
          </a:xfrm>
          <a:prstGeom prst="ellipse">
            <a:avLst/>
          </a:prstGeom>
          <a:solidFill>
            <a:schemeClr val="accent2"/>
          </a:solidFill>
        </p:spPr>
        <p:txBody>
          <a:bodyPr rtlCol="0"/>
          <a:lstStyle>
            <a:lvl1pPr marL="0" indent="0" algn="ctr">
              <a:buNone/>
              <a:defRPr lang="pt-BR" sz="2000"/>
            </a:lvl1pPr>
          </a:lstStyle>
          <a:p>
            <a:pPr rtl="0"/>
            <a:r>
              <a:rPr lang="pt-BR"/>
              <a:t>Clique no ícone para adicionar uma imagem</a:t>
            </a:r>
          </a:p>
        </p:txBody>
      </p:sp>
      <p:sp>
        <p:nvSpPr>
          <p:cNvPr id="10" name="Espaço Reservado para Data 3">
            <a:extLst>
              <a:ext uri="{FF2B5EF4-FFF2-40B4-BE49-F238E27FC236}">
                <a16:creationId xmlns:a16="http://schemas.microsoft.com/office/drawing/2014/main" id="{7536C149-3EFE-A94E-902D-57CED00B2C0F}"/>
              </a:ext>
            </a:extLst>
          </p:cNvPr>
          <p:cNvSpPr>
            <a:spLocks noGrp="1"/>
          </p:cNvSpPr>
          <p:nvPr>
            <p:ph type="dt" sz="half" idx="2"/>
          </p:nvPr>
        </p:nvSpPr>
        <p:spPr>
          <a:xfrm>
            <a:off x="381000" y="6356350"/>
            <a:ext cx="2743200" cy="365125"/>
          </a:xfrm>
          <a:prstGeom prst="rect">
            <a:avLst/>
          </a:prstGeom>
        </p:spPr>
        <p:txBody>
          <a:bodyPr vert="horz" lIns="91440" tIns="45720" rIns="91440" bIns="45720" rtlCol="0" anchor="ctr">
            <a:noAutofit/>
          </a:bodyPr>
          <a:lstStyle>
            <a:lvl1pPr algn="l">
              <a:defRPr lang="pt-BR" sz="1200">
                <a:solidFill>
                  <a:schemeClr val="accent3"/>
                </a:solidFill>
                <a:latin typeface="+mn-lt"/>
              </a:defRPr>
            </a:lvl1pPr>
          </a:lstStyle>
          <a:p>
            <a:pPr rtl="0"/>
            <a:r>
              <a:rPr lang="pt-BR"/>
              <a:t>8/9/20XX</a:t>
            </a:r>
          </a:p>
        </p:txBody>
      </p:sp>
      <p:sp>
        <p:nvSpPr>
          <p:cNvPr id="11" name="Espaço Reservado para Rodapé 4">
            <a:extLst>
              <a:ext uri="{FF2B5EF4-FFF2-40B4-BE49-F238E27FC236}">
                <a16:creationId xmlns:a16="http://schemas.microsoft.com/office/drawing/2014/main" id="{53CA1E78-F17D-F34D-9F81-0DBF44F378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lang="pt-BR" sz="1200">
                <a:solidFill>
                  <a:schemeClr val="accent3"/>
                </a:solidFill>
                <a:latin typeface="+mn-lt"/>
              </a:defRPr>
            </a:lvl1pPr>
          </a:lstStyle>
          <a:p>
            <a:pPr rtl="0"/>
            <a:endParaRPr lang="pt-BR" dirty="0"/>
          </a:p>
        </p:txBody>
      </p:sp>
      <p:sp>
        <p:nvSpPr>
          <p:cNvPr id="12" name="Espaço Reservado para o Número do Slide 5">
            <a:extLst>
              <a:ext uri="{FF2B5EF4-FFF2-40B4-BE49-F238E27FC236}">
                <a16:creationId xmlns:a16="http://schemas.microsoft.com/office/drawing/2014/main" id="{1FE54918-A625-F64F-A42E-A427E9B2D489}"/>
              </a:ext>
            </a:extLst>
          </p:cNvPr>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lang="pt-BR" sz="1200">
                <a:solidFill>
                  <a:schemeClr val="accent2"/>
                </a:solidFill>
                <a:latin typeface="+mn-lt"/>
              </a:defRPr>
            </a:lvl1pPr>
          </a:lstStyle>
          <a:p>
            <a:pPr rtl="0"/>
            <a:fld id="{294A09A9-5501-47C1-A89A-A340965A2BE2}" type="slidenum">
              <a:rPr lang="pt-BR" smtClean="0"/>
              <a:pPr rtl="0"/>
              <a:t>‹nº›</a:t>
            </a:fld>
            <a:endParaRPr lang="pt-BR" dirty="0"/>
          </a:p>
        </p:txBody>
      </p:sp>
    </p:spTree>
    <p:extLst>
      <p:ext uri="{BB962C8B-B14F-4D97-AF65-F5344CB8AC3E}">
        <p14:creationId xmlns:p14="http://schemas.microsoft.com/office/powerpoint/2010/main" val="38238562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ítulo e conteúdo 2">
    <p:spTree>
      <p:nvGrpSpPr>
        <p:cNvPr id="1" name=""/>
        <p:cNvGrpSpPr/>
        <p:nvPr/>
      </p:nvGrpSpPr>
      <p:grpSpPr>
        <a:xfrm>
          <a:off x="0" y="0"/>
          <a:ext cx="0" cy="0"/>
          <a:chOff x="0" y="0"/>
          <a:chExt cx="0" cy="0"/>
        </a:xfrm>
      </p:grpSpPr>
      <p:grpSp>
        <p:nvGrpSpPr>
          <p:cNvPr id="2" name="Grupo 1">
            <a:extLst>
              <a:ext uri="{FF2B5EF4-FFF2-40B4-BE49-F238E27FC236}">
                <a16:creationId xmlns:a16="http://schemas.microsoft.com/office/drawing/2014/main" id="{CCEDB282-8288-C81F-52B5-048A3E80C931}"/>
              </a:ext>
              <a:ext uri="{C183D7F6-B498-43B3-948B-1728B52AA6E4}">
                <adec:decorative xmlns:adec="http://schemas.microsoft.com/office/drawing/2017/decorative" val="1"/>
              </a:ext>
            </a:extLst>
          </p:cNvPr>
          <p:cNvGrpSpPr/>
          <p:nvPr userDrawn="1"/>
        </p:nvGrpSpPr>
        <p:grpSpPr>
          <a:xfrm>
            <a:off x="0" y="-1"/>
            <a:ext cx="12208822" cy="6858003"/>
            <a:chOff x="0" y="-1"/>
            <a:chExt cx="12208822" cy="6858003"/>
          </a:xfrm>
        </p:grpSpPr>
        <p:sp>
          <p:nvSpPr>
            <p:cNvPr id="7" name="Retângulo 6">
              <a:extLst>
                <a:ext uri="{FF2B5EF4-FFF2-40B4-BE49-F238E27FC236}">
                  <a16:creationId xmlns:a16="http://schemas.microsoft.com/office/drawing/2014/main" id="{2A62587F-7496-384A-AF40-18FC8CF0709D}"/>
                </a:ext>
              </a:extLst>
            </p:cNvPr>
            <p:cNvSpPr/>
            <p:nvPr userDrawn="1"/>
          </p:nvSpPr>
          <p:spPr>
            <a:xfrm>
              <a:off x="0" y="2286002"/>
              <a:ext cx="12208822" cy="4572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pt-BR"/>
              </a:defPPr>
            </a:lstStyle>
            <a:p>
              <a:pPr algn="ctr" rtl="0"/>
              <a:endParaRPr lang="pt-BR" dirty="0"/>
            </a:p>
          </p:txBody>
        </p:sp>
        <p:sp>
          <p:nvSpPr>
            <p:cNvPr id="12" name="Forma Livre 11">
              <a:extLst>
                <a:ext uri="{FF2B5EF4-FFF2-40B4-BE49-F238E27FC236}">
                  <a16:creationId xmlns:a16="http://schemas.microsoft.com/office/drawing/2014/main" id="{84DB028B-A475-224B-B675-A15A56CAD0BF}"/>
                </a:ext>
              </a:extLst>
            </p:cNvPr>
            <p:cNvSpPr/>
            <p:nvPr userDrawn="1"/>
          </p:nvSpPr>
          <p:spPr>
            <a:xfrm flipH="1">
              <a:off x="8597718"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pt-BR"/>
              </a:defPPr>
            </a:lstStyle>
            <a:p>
              <a:pPr algn="ctr" rtl="0"/>
              <a:endParaRPr lang="pt-BR" dirty="0"/>
            </a:p>
          </p:txBody>
        </p:sp>
        <p:sp>
          <p:nvSpPr>
            <p:cNvPr id="14" name="Forma Livre 13">
              <a:extLst>
                <a:ext uri="{FF2B5EF4-FFF2-40B4-BE49-F238E27FC236}">
                  <a16:creationId xmlns:a16="http://schemas.microsoft.com/office/drawing/2014/main" id="{61C34955-105B-4D4D-B51D-754C5D38A85D}"/>
                </a:ext>
              </a:extLst>
            </p:cNvPr>
            <p:cNvSpPr/>
            <p:nvPr userDrawn="1"/>
          </p:nvSpPr>
          <p:spPr>
            <a:xfrm>
              <a:off x="1" y="0"/>
              <a:ext cx="933856" cy="933856"/>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pt-BR"/>
              </a:defPPr>
            </a:lstStyle>
            <a:p>
              <a:pPr algn="ctr" rtl="0"/>
              <a:endParaRPr lang="pt-BR" dirty="0"/>
            </a:p>
          </p:txBody>
        </p:sp>
        <p:sp>
          <p:nvSpPr>
            <p:cNvPr id="15" name="Forma Livre 14">
              <a:extLst>
                <a:ext uri="{FF2B5EF4-FFF2-40B4-BE49-F238E27FC236}">
                  <a16:creationId xmlns:a16="http://schemas.microsoft.com/office/drawing/2014/main" id="{2734DEB1-EC02-2E42-9292-4ADD115060A5}"/>
                </a:ext>
              </a:extLst>
            </p:cNvPr>
            <p:cNvSpPr/>
            <p:nvPr userDrawn="1"/>
          </p:nvSpPr>
          <p:spPr>
            <a:xfrm rot="5400000" flipH="1" flipV="1">
              <a:off x="10344100" y="438098"/>
              <a:ext cx="2285999" cy="1409801"/>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pt-BR"/>
              </a:defPPr>
            </a:lstStyle>
            <a:p>
              <a:pPr algn="ctr" rtl="0"/>
              <a:endParaRPr lang="pt-BR" dirty="0"/>
            </a:p>
          </p:txBody>
        </p:sp>
      </p:grpSp>
      <p:sp>
        <p:nvSpPr>
          <p:cNvPr id="13" name="Título 1">
            <a:extLst>
              <a:ext uri="{FF2B5EF4-FFF2-40B4-BE49-F238E27FC236}">
                <a16:creationId xmlns:a16="http://schemas.microsoft.com/office/drawing/2014/main" id="{5E932F0D-7FC3-634B-932C-3625C16C8DE2}"/>
              </a:ext>
            </a:extLst>
          </p:cNvPr>
          <p:cNvSpPr>
            <a:spLocks noGrp="1"/>
          </p:cNvSpPr>
          <p:nvPr>
            <p:ph type="title" hasCustomPrompt="1"/>
          </p:nvPr>
        </p:nvSpPr>
        <p:spPr>
          <a:xfrm>
            <a:off x="1167492" y="45085"/>
            <a:ext cx="9779183" cy="1600835"/>
          </a:xfrm>
        </p:spPr>
        <p:txBody>
          <a:bodyPr rtlCol="0" anchor="b">
            <a:noAutofit/>
          </a:bodyPr>
          <a:lstStyle>
            <a:lvl1pPr>
              <a:defRPr lang="pt-BR" sz="4200" b="1">
                <a:latin typeface="+mj-lt"/>
              </a:defRPr>
            </a:lvl1pPr>
          </a:lstStyle>
          <a:p>
            <a:pPr rtl="0"/>
            <a:r>
              <a:rPr lang="pt-BR"/>
              <a:t>Clique para adicionar um título</a:t>
            </a:r>
          </a:p>
        </p:txBody>
      </p:sp>
      <p:sp>
        <p:nvSpPr>
          <p:cNvPr id="3" name="Espaço Reservado para Conteúdo 2">
            <a:extLst>
              <a:ext uri="{FF2B5EF4-FFF2-40B4-BE49-F238E27FC236}">
                <a16:creationId xmlns:a16="http://schemas.microsoft.com/office/drawing/2014/main" id="{CA1EED44-783E-8705-4119-D7E9F7D4F2B4}"/>
              </a:ext>
            </a:extLst>
          </p:cNvPr>
          <p:cNvSpPr>
            <a:spLocks noGrp="1"/>
          </p:cNvSpPr>
          <p:nvPr>
            <p:ph idx="14" hasCustomPrompt="1"/>
          </p:nvPr>
        </p:nvSpPr>
        <p:spPr>
          <a:xfrm>
            <a:off x="1166087" y="2652713"/>
            <a:ext cx="9780587" cy="3436936"/>
          </a:xfrm>
        </p:spPr>
        <p:txBody>
          <a:bodyPr rtlCol="0">
            <a:normAutofit/>
          </a:bodyPr>
          <a:lstStyle>
            <a:lvl1pPr marL="342900" indent="-283464">
              <a:spcBef>
                <a:spcPts val="1000"/>
              </a:spcBef>
              <a:buFont typeface="Arial" panose="020B0604020202020204" pitchFamily="34" charset="0"/>
              <a:buChar char="•"/>
              <a:defRPr lang="pt-BR" sz="2000">
                <a:solidFill>
                  <a:schemeClr val="bg1"/>
                </a:solidFill>
                <a:latin typeface="+mn-lt"/>
              </a:defRPr>
            </a:lvl1pPr>
            <a:lvl2pPr marL="566928" indent="-283464">
              <a:spcBef>
                <a:spcPts val="1000"/>
              </a:spcBef>
              <a:buFont typeface="Arial" panose="020B0604020202020204" pitchFamily="34" charset="0"/>
              <a:buChar char="•"/>
              <a:defRPr lang="pt-BR" sz="2000">
                <a:solidFill>
                  <a:schemeClr val="bg1"/>
                </a:solidFill>
                <a:latin typeface="+mn-lt"/>
              </a:defRPr>
            </a:lvl2pPr>
            <a:lvl3pPr marL="850392" indent="-283464">
              <a:spcBef>
                <a:spcPts val="1000"/>
              </a:spcBef>
              <a:buFont typeface="Arial" panose="020B0604020202020204" pitchFamily="34" charset="0"/>
              <a:buChar char="•"/>
              <a:defRPr lang="pt-BR" sz="2000">
                <a:solidFill>
                  <a:schemeClr val="bg1"/>
                </a:solidFill>
                <a:latin typeface="+mn-lt"/>
              </a:defRPr>
            </a:lvl3pPr>
            <a:lvl4pPr marL="1097280" indent="-283464">
              <a:spcBef>
                <a:spcPts val="1000"/>
              </a:spcBef>
              <a:buFont typeface="Arial" panose="020B0604020202020204" pitchFamily="34" charset="0"/>
              <a:buChar char="•"/>
              <a:defRPr lang="pt-BR" sz="2000">
                <a:solidFill>
                  <a:schemeClr val="bg1"/>
                </a:solidFill>
                <a:latin typeface="+mn-lt"/>
              </a:defRPr>
            </a:lvl4pPr>
            <a:lvl5pPr marL="1371600" indent="-283464">
              <a:spcBef>
                <a:spcPts val="1000"/>
              </a:spcBef>
              <a:buFont typeface="Arial" panose="020B0604020202020204" pitchFamily="34" charset="0"/>
              <a:buChar char="•"/>
              <a:defRPr lang="pt-BR" sz="2000">
                <a:solidFill>
                  <a:schemeClr val="bg1"/>
                </a:solidFill>
                <a:latin typeface="+mn-lt"/>
              </a:defRPr>
            </a:lvl5pPr>
          </a:lstStyle>
          <a:p>
            <a:pPr lvl="0" rtl="0"/>
            <a:r>
              <a:rPr lang="pt-BR"/>
              <a:t>Clique para adicionar o texto</a:t>
            </a:r>
          </a:p>
          <a:p>
            <a:pPr lvl="1" rtl="0"/>
            <a:r>
              <a:rPr lang="pt-BR"/>
              <a:t>Segundo nível</a:t>
            </a:r>
          </a:p>
          <a:p>
            <a:pPr lvl="2" rtl="0"/>
            <a:r>
              <a:rPr lang="pt-BR"/>
              <a:t>Terceiro nível</a:t>
            </a:r>
          </a:p>
          <a:p>
            <a:pPr lvl="3" rtl="0"/>
            <a:r>
              <a:rPr lang="pt-BR"/>
              <a:t>Quarto nível</a:t>
            </a:r>
          </a:p>
          <a:p>
            <a:pPr lvl="4" rtl="0"/>
            <a:r>
              <a:rPr lang="pt-BR"/>
              <a:t>Quinto nível</a:t>
            </a:r>
          </a:p>
        </p:txBody>
      </p:sp>
      <p:sp>
        <p:nvSpPr>
          <p:cNvPr id="4" name="Espaço Reservado para Data 3">
            <a:extLst>
              <a:ext uri="{FF2B5EF4-FFF2-40B4-BE49-F238E27FC236}">
                <a16:creationId xmlns:a16="http://schemas.microsoft.com/office/drawing/2014/main" id="{8E95D4F5-F69B-42F6-8A9D-330F696E144B}"/>
              </a:ext>
            </a:extLst>
          </p:cNvPr>
          <p:cNvSpPr>
            <a:spLocks noGrp="1"/>
          </p:cNvSpPr>
          <p:nvPr>
            <p:ph type="dt" sz="half" idx="10"/>
          </p:nvPr>
        </p:nvSpPr>
        <p:spPr/>
        <p:txBody>
          <a:bodyPr rtlCol="0">
            <a:noAutofit/>
          </a:bodyPr>
          <a:lstStyle>
            <a:lvl1pPr>
              <a:defRPr lang="pt-BR">
                <a:solidFill>
                  <a:schemeClr val="accent2"/>
                </a:solidFill>
                <a:latin typeface="+mn-lt"/>
              </a:defRPr>
            </a:lvl1pPr>
          </a:lstStyle>
          <a:p>
            <a:pPr rtl="0"/>
            <a:r>
              <a:rPr lang="pt-BR"/>
              <a:t>8/9/20XX</a:t>
            </a:r>
          </a:p>
        </p:txBody>
      </p:sp>
      <p:sp>
        <p:nvSpPr>
          <p:cNvPr id="5" name="Espaço Reservado para Rodapé 4">
            <a:extLst>
              <a:ext uri="{FF2B5EF4-FFF2-40B4-BE49-F238E27FC236}">
                <a16:creationId xmlns:a16="http://schemas.microsoft.com/office/drawing/2014/main" id="{FA79A23A-2238-4904-8692-9F2DAE8B8FC9}"/>
              </a:ext>
            </a:extLst>
          </p:cNvPr>
          <p:cNvSpPr>
            <a:spLocks noGrp="1"/>
          </p:cNvSpPr>
          <p:nvPr>
            <p:ph type="ftr" sz="quarter" idx="11"/>
          </p:nvPr>
        </p:nvSpPr>
        <p:spPr/>
        <p:txBody>
          <a:bodyPr rtlCol="0">
            <a:noAutofit/>
          </a:bodyPr>
          <a:lstStyle>
            <a:lvl1pPr>
              <a:defRPr lang="pt-BR">
                <a:solidFill>
                  <a:schemeClr val="accent2"/>
                </a:solidFill>
                <a:latin typeface="+mn-lt"/>
              </a:defRPr>
            </a:lvl1pPr>
          </a:lstStyle>
          <a:p>
            <a:pPr rtl="0"/>
            <a:endParaRPr lang="pt-BR" dirty="0"/>
          </a:p>
        </p:txBody>
      </p:sp>
      <p:sp>
        <p:nvSpPr>
          <p:cNvPr id="6" name="Espaço Reservado para o Número do Slide 5">
            <a:extLst>
              <a:ext uri="{FF2B5EF4-FFF2-40B4-BE49-F238E27FC236}">
                <a16:creationId xmlns:a16="http://schemas.microsoft.com/office/drawing/2014/main" id="{DB69FC35-DDC8-45FB-8ACB-21C15F57C1F1}"/>
              </a:ext>
            </a:extLst>
          </p:cNvPr>
          <p:cNvSpPr>
            <a:spLocks noGrp="1"/>
          </p:cNvSpPr>
          <p:nvPr>
            <p:ph type="sldNum" sz="quarter" idx="12"/>
          </p:nvPr>
        </p:nvSpPr>
        <p:spPr>
          <a:xfrm>
            <a:off x="10206318" y="6356350"/>
            <a:ext cx="1604682" cy="365125"/>
          </a:xfrm>
        </p:spPr>
        <p:txBody>
          <a:bodyPr rtlCol="0">
            <a:noAutofit/>
          </a:bodyPr>
          <a:lstStyle>
            <a:lvl1pPr>
              <a:defRPr lang="pt-BR">
                <a:solidFill>
                  <a:schemeClr val="accent3"/>
                </a:solidFill>
                <a:latin typeface="+mn-lt"/>
              </a:defRPr>
            </a:lvl1pPr>
          </a:lstStyle>
          <a:p>
            <a:pPr rtl="0"/>
            <a:fld id="{294A09A9-5501-47C1-A89A-A340965A2BE2}" type="slidenum">
              <a:rPr lang="pt-BR" smtClean="0"/>
              <a:pPr rtl="0"/>
              <a:t>‹nº›</a:t>
            </a:fld>
            <a:endParaRPr lang="pt-BR" dirty="0"/>
          </a:p>
        </p:txBody>
      </p:sp>
    </p:spTree>
    <p:extLst>
      <p:ext uri="{BB962C8B-B14F-4D97-AF65-F5344CB8AC3E}">
        <p14:creationId xmlns:p14="http://schemas.microsoft.com/office/powerpoint/2010/main" val="28831769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Título da seção">
    <p:spTree>
      <p:nvGrpSpPr>
        <p:cNvPr id="1" name=""/>
        <p:cNvGrpSpPr/>
        <p:nvPr/>
      </p:nvGrpSpPr>
      <p:grpSpPr>
        <a:xfrm>
          <a:off x="0" y="0"/>
          <a:ext cx="0" cy="0"/>
          <a:chOff x="0" y="0"/>
          <a:chExt cx="0" cy="0"/>
        </a:xfrm>
      </p:grpSpPr>
      <p:grpSp>
        <p:nvGrpSpPr>
          <p:cNvPr id="4" name="Grupo 3">
            <a:extLst>
              <a:ext uri="{FF2B5EF4-FFF2-40B4-BE49-F238E27FC236}">
                <a16:creationId xmlns:a16="http://schemas.microsoft.com/office/drawing/2014/main" id="{95FBCE6F-2AA9-31FE-8148-33B480735599}"/>
              </a:ext>
              <a:ext uri="{C183D7F6-B498-43B3-948B-1728B52AA6E4}">
                <adec:decorative xmlns:adec="http://schemas.microsoft.com/office/drawing/2017/decorative" val="1"/>
              </a:ext>
            </a:extLst>
          </p:cNvPr>
          <p:cNvGrpSpPr/>
          <p:nvPr userDrawn="1"/>
        </p:nvGrpSpPr>
        <p:grpSpPr>
          <a:xfrm>
            <a:off x="0" y="0"/>
            <a:ext cx="12192000" cy="6858000"/>
            <a:chOff x="0" y="0"/>
            <a:chExt cx="12192000" cy="6858000"/>
          </a:xfrm>
        </p:grpSpPr>
        <p:sp>
          <p:nvSpPr>
            <p:cNvPr id="23" name="Forma Livre 22">
              <a:extLst>
                <a:ext uri="{FF2B5EF4-FFF2-40B4-BE49-F238E27FC236}">
                  <a16:creationId xmlns:a16="http://schemas.microsoft.com/office/drawing/2014/main" id="{067EACEC-C2DD-EA42-8504-176673AD1F20}"/>
                </a:ext>
              </a:extLst>
            </p:cNvPr>
            <p:cNvSpPr/>
            <p:nvPr userDrawn="1"/>
          </p:nvSpPr>
          <p:spPr>
            <a:xfrm>
              <a:off x="0" y="0"/>
              <a:ext cx="8025490" cy="6858000"/>
            </a:xfrm>
            <a:custGeom>
              <a:avLst/>
              <a:gdLst>
                <a:gd name="connsiteX0" fmla="*/ 0 w 8025490"/>
                <a:gd name="connsiteY0" fmla="*/ 0 h 6858000"/>
                <a:gd name="connsiteX1" fmla="*/ 4596490 w 8025490"/>
                <a:gd name="connsiteY1" fmla="*/ 0 h 6858000"/>
                <a:gd name="connsiteX2" fmla="*/ 8025490 w 8025490"/>
                <a:gd name="connsiteY2" fmla="*/ 3429000 h 6858000"/>
                <a:gd name="connsiteX3" fmla="*/ 4596490 w 8025490"/>
                <a:gd name="connsiteY3" fmla="*/ 6858000 h 6858000"/>
                <a:gd name="connsiteX4" fmla="*/ 0 w 8025490"/>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25490" h="6858000">
                  <a:moveTo>
                    <a:pt x="0" y="0"/>
                  </a:moveTo>
                  <a:lnTo>
                    <a:pt x="4596490" y="0"/>
                  </a:lnTo>
                  <a:cubicBezTo>
                    <a:pt x="6490274" y="0"/>
                    <a:pt x="8025490" y="1535216"/>
                    <a:pt x="8025490" y="3429000"/>
                  </a:cubicBezTo>
                  <a:cubicBezTo>
                    <a:pt x="8025490" y="5322784"/>
                    <a:pt x="6490274" y="6858000"/>
                    <a:pt x="4596490" y="6858000"/>
                  </a:cubicBezTo>
                  <a:lnTo>
                    <a:pt x="0" y="685800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pt-BR"/>
              </a:defPPr>
            </a:lstStyle>
            <a:p>
              <a:pPr algn="ctr" rtl="0"/>
              <a:endParaRPr lang="pt-BR" dirty="0"/>
            </a:p>
          </p:txBody>
        </p:sp>
        <p:grpSp>
          <p:nvGrpSpPr>
            <p:cNvPr id="6" name="Grupo 5">
              <a:extLst>
                <a:ext uri="{FF2B5EF4-FFF2-40B4-BE49-F238E27FC236}">
                  <a16:creationId xmlns:a16="http://schemas.microsoft.com/office/drawing/2014/main" id="{89843C7E-5704-7A46-8974-F3BFA42E7310}"/>
                </a:ext>
              </a:extLst>
            </p:cNvPr>
            <p:cNvGrpSpPr/>
            <p:nvPr userDrawn="1"/>
          </p:nvGrpSpPr>
          <p:grpSpPr>
            <a:xfrm rot="16200000">
              <a:off x="8286528" y="2207195"/>
              <a:ext cx="3032351" cy="2443610"/>
              <a:chOff x="9857014" y="13834"/>
              <a:chExt cx="2334986" cy="1881641"/>
            </a:xfrm>
          </p:grpSpPr>
          <p:sp>
            <p:nvSpPr>
              <p:cNvPr id="15" name="Forma Livre 14">
                <a:extLst>
                  <a:ext uri="{FF2B5EF4-FFF2-40B4-BE49-F238E27FC236}">
                    <a16:creationId xmlns:a16="http://schemas.microsoft.com/office/drawing/2014/main" id="{EFBF1E52-11FA-DC48-B7AD-75734232FFE8}"/>
                  </a:ext>
                </a:extLst>
              </p:cNvPr>
              <p:cNvSpPr/>
              <p:nvPr userDrawn="1"/>
            </p:nvSpPr>
            <p:spPr>
              <a:xfrm rot="5400000" flipH="1" flipV="1">
                <a:off x="10667433" y="370908"/>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pt-BR"/>
                </a:defPPr>
              </a:lstStyle>
              <a:p>
                <a:pPr algn="ctr" rtl="0"/>
                <a:endParaRPr lang="pt-BR" dirty="0"/>
              </a:p>
            </p:txBody>
          </p:sp>
          <p:sp>
            <p:nvSpPr>
              <p:cNvPr id="16" name="Forma Livre 15">
                <a:extLst>
                  <a:ext uri="{FF2B5EF4-FFF2-40B4-BE49-F238E27FC236}">
                    <a16:creationId xmlns:a16="http://schemas.microsoft.com/office/drawing/2014/main" id="{4850B620-49F5-3748-84AF-682555D52792}"/>
                  </a:ext>
                </a:extLst>
              </p:cNvPr>
              <p:cNvSpPr/>
              <p:nvPr userDrawn="1"/>
            </p:nvSpPr>
            <p:spPr>
              <a:xfrm rot="16200000" flipV="1">
                <a:off x="9499940" y="370908"/>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pt-BR"/>
                </a:defPPr>
              </a:lstStyle>
              <a:p>
                <a:pPr algn="ctr" rtl="0"/>
                <a:endParaRPr lang="pt-BR" dirty="0"/>
              </a:p>
            </p:txBody>
          </p:sp>
        </p:grpSp>
        <p:sp>
          <p:nvSpPr>
            <p:cNvPr id="17" name="Forma Livre 16">
              <a:extLst>
                <a:ext uri="{FF2B5EF4-FFF2-40B4-BE49-F238E27FC236}">
                  <a16:creationId xmlns:a16="http://schemas.microsoft.com/office/drawing/2014/main" id="{0B179973-08D2-EF40-B516-35E75E906394}"/>
                </a:ext>
              </a:extLst>
            </p:cNvPr>
            <p:cNvSpPr/>
            <p:nvPr userDrawn="1"/>
          </p:nvSpPr>
          <p:spPr>
            <a:xfrm flipH="1">
              <a:off x="8580896" y="1"/>
              <a:ext cx="3611104" cy="3611104"/>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pt-BR"/>
              </a:defPPr>
            </a:lstStyle>
            <a:p>
              <a:pPr algn="ctr" rtl="0"/>
              <a:endParaRPr lang="pt-BR" dirty="0"/>
            </a:p>
          </p:txBody>
        </p:sp>
        <p:sp>
          <p:nvSpPr>
            <p:cNvPr id="18" name="Forma Livre 17">
              <a:extLst>
                <a:ext uri="{FF2B5EF4-FFF2-40B4-BE49-F238E27FC236}">
                  <a16:creationId xmlns:a16="http://schemas.microsoft.com/office/drawing/2014/main" id="{6C811FF3-E48A-194D-8022-65F8C3A17449}"/>
                </a:ext>
              </a:extLst>
            </p:cNvPr>
            <p:cNvSpPr/>
            <p:nvPr userDrawn="1"/>
          </p:nvSpPr>
          <p:spPr>
            <a:xfrm flipH="1">
              <a:off x="8580896"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pt-BR"/>
              </a:defPPr>
            </a:lstStyle>
            <a:p>
              <a:pPr algn="ctr" rtl="0"/>
              <a:endParaRPr lang="pt-BR" dirty="0"/>
            </a:p>
          </p:txBody>
        </p:sp>
      </p:grpSp>
      <p:sp>
        <p:nvSpPr>
          <p:cNvPr id="2" name="Título 1">
            <a:extLst>
              <a:ext uri="{FF2B5EF4-FFF2-40B4-BE49-F238E27FC236}">
                <a16:creationId xmlns:a16="http://schemas.microsoft.com/office/drawing/2014/main" id="{494248F2-5264-4601-AA0B-6C092F77F2DD}"/>
              </a:ext>
            </a:extLst>
          </p:cNvPr>
          <p:cNvSpPr>
            <a:spLocks noGrp="1"/>
          </p:cNvSpPr>
          <p:nvPr>
            <p:ph type="ctrTitle" hasCustomPrompt="1"/>
          </p:nvPr>
        </p:nvSpPr>
        <p:spPr>
          <a:xfrm>
            <a:off x="1167494" y="177553"/>
            <a:ext cx="6245912" cy="3269447"/>
          </a:xfrm>
        </p:spPr>
        <p:txBody>
          <a:bodyPr bIns="0" rtlCol="0" anchor="b">
            <a:noAutofit/>
          </a:bodyPr>
          <a:lstStyle>
            <a:lvl1pPr algn="l">
              <a:defRPr lang="pt-BR" sz="6000" b="1">
                <a:solidFill>
                  <a:schemeClr val="bg1"/>
                </a:solidFill>
                <a:latin typeface="+mj-lt"/>
              </a:defRPr>
            </a:lvl1pPr>
          </a:lstStyle>
          <a:p>
            <a:pPr rtl="0"/>
            <a:r>
              <a:rPr lang="pt-BR"/>
              <a:t>Clique para adicionar um título</a:t>
            </a:r>
          </a:p>
        </p:txBody>
      </p:sp>
      <p:sp>
        <p:nvSpPr>
          <p:cNvPr id="3" name="Subtítulo 2">
            <a:extLst>
              <a:ext uri="{FF2B5EF4-FFF2-40B4-BE49-F238E27FC236}">
                <a16:creationId xmlns:a16="http://schemas.microsoft.com/office/drawing/2014/main" id="{DCFB69D3-5632-4285-A209-9DCA67DA668C}"/>
              </a:ext>
            </a:extLst>
          </p:cNvPr>
          <p:cNvSpPr>
            <a:spLocks noGrp="1"/>
          </p:cNvSpPr>
          <p:nvPr>
            <p:ph type="subTitle" idx="1" hasCustomPrompt="1"/>
          </p:nvPr>
        </p:nvSpPr>
        <p:spPr>
          <a:xfrm>
            <a:off x="1167494" y="3492896"/>
            <a:ext cx="6245912" cy="912850"/>
          </a:xfrm>
        </p:spPr>
        <p:txBody>
          <a:bodyPr rtlCol="0" anchor="ctr" anchorCtr="0">
            <a:noAutofit/>
          </a:bodyPr>
          <a:lstStyle>
            <a:lvl1pPr marL="0" indent="0" algn="l">
              <a:buNone/>
              <a:defRPr lang="pt-BR" sz="3200">
                <a:solidFill>
                  <a:schemeClr val="bg1"/>
                </a:solidFill>
                <a:latin typeface="+mn-lt"/>
              </a:defRPr>
            </a:lvl1pPr>
            <a:lvl2pPr marL="457200" indent="0" algn="ctr">
              <a:buNone/>
              <a:defRPr lang="pt-BR" sz="2000"/>
            </a:lvl2pPr>
            <a:lvl3pPr marL="914400" indent="0" algn="ctr">
              <a:buNone/>
              <a:defRPr lang="pt-BR" sz="1800"/>
            </a:lvl3pPr>
            <a:lvl4pPr marL="1371600" indent="0" algn="ctr">
              <a:buNone/>
              <a:defRPr lang="pt-BR" sz="1600"/>
            </a:lvl4pPr>
            <a:lvl5pPr marL="1828800" indent="0" algn="ctr">
              <a:buNone/>
              <a:defRPr lang="pt-BR" sz="1600"/>
            </a:lvl5pPr>
            <a:lvl6pPr marL="2286000" indent="0" algn="ctr">
              <a:buNone/>
              <a:defRPr lang="pt-BR" sz="1600"/>
            </a:lvl6pPr>
            <a:lvl7pPr marL="2743200" indent="0" algn="ctr">
              <a:buNone/>
              <a:defRPr lang="pt-BR" sz="1600"/>
            </a:lvl7pPr>
            <a:lvl8pPr marL="3200400" indent="0" algn="ctr">
              <a:buNone/>
              <a:defRPr lang="pt-BR" sz="1600"/>
            </a:lvl8pPr>
            <a:lvl9pPr marL="3657600" indent="0" algn="ctr">
              <a:buNone/>
              <a:defRPr lang="pt-BR" sz="1600"/>
            </a:lvl9pPr>
          </a:lstStyle>
          <a:p>
            <a:pPr rtl="0"/>
            <a:r>
              <a:rPr lang="pt-BR"/>
              <a:t>Clique para adicionar um subtítulo</a:t>
            </a:r>
          </a:p>
        </p:txBody>
      </p:sp>
    </p:spTree>
    <p:extLst>
      <p:ext uri="{BB962C8B-B14F-4D97-AF65-F5344CB8AC3E}">
        <p14:creationId xmlns:p14="http://schemas.microsoft.com/office/powerpoint/2010/main" val="9865294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ítulo e Conteúdo de 2 colunas">
    <p:spTree>
      <p:nvGrpSpPr>
        <p:cNvPr id="1" name=""/>
        <p:cNvGrpSpPr/>
        <p:nvPr/>
      </p:nvGrpSpPr>
      <p:grpSpPr>
        <a:xfrm>
          <a:off x="0" y="0"/>
          <a:ext cx="0" cy="0"/>
          <a:chOff x="0" y="0"/>
          <a:chExt cx="0" cy="0"/>
        </a:xfrm>
      </p:grpSpPr>
      <p:grpSp>
        <p:nvGrpSpPr>
          <p:cNvPr id="16" name="Grupo 15">
            <a:extLst>
              <a:ext uri="{FF2B5EF4-FFF2-40B4-BE49-F238E27FC236}">
                <a16:creationId xmlns:a16="http://schemas.microsoft.com/office/drawing/2014/main" id="{14DB56B5-5DD7-95E3-52B2-EDC4B3F13058}"/>
              </a:ext>
              <a:ext uri="{C183D7F6-B498-43B3-948B-1728B52AA6E4}">
                <adec:decorative xmlns:adec="http://schemas.microsoft.com/office/drawing/2017/decorative" val="1"/>
              </a:ext>
            </a:extLst>
          </p:cNvPr>
          <p:cNvGrpSpPr/>
          <p:nvPr userDrawn="1"/>
        </p:nvGrpSpPr>
        <p:grpSpPr>
          <a:xfrm>
            <a:off x="1" y="0"/>
            <a:ext cx="12191999" cy="6858000"/>
            <a:chOff x="1" y="0"/>
            <a:chExt cx="12191999" cy="6858000"/>
          </a:xfrm>
        </p:grpSpPr>
        <p:sp>
          <p:nvSpPr>
            <p:cNvPr id="4" name="Forma Livre 3">
              <a:extLst>
                <a:ext uri="{FF2B5EF4-FFF2-40B4-BE49-F238E27FC236}">
                  <a16:creationId xmlns:a16="http://schemas.microsoft.com/office/drawing/2014/main" id="{6A7F6A3F-E1DD-A246-9A6D-5F9B18BA2588}"/>
                </a:ext>
              </a:extLst>
            </p:cNvPr>
            <p:cNvSpPr/>
            <p:nvPr userDrawn="1"/>
          </p:nvSpPr>
          <p:spPr>
            <a:xfrm flipH="1">
              <a:off x="8580896" y="1"/>
              <a:ext cx="3611104" cy="3611104"/>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pt-BR"/>
              </a:defPPr>
            </a:lstStyle>
            <a:p>
              <a:pPr algn="ctr" rtl="0"/>
              <a:endParaRPr lang="pt-BR" dirty="0"/>
            </a:p>
          </p:txBody>
        </p:sp>
        <p:sp>
          <p:nvSpPr>
            <p:cNvPr id="5" name="Forma Livre 4">
              <a:extLst>
                <a:ext uri="{FF2B5EF4-FFF2-40B4-BE49-F238E27FC236}">
                  <a16:creationId xmlns:a16="http://schemas.microsoft.com/office/drawing/2014/main" id="{055FD0FC-C8FF-6741-A364-A29CDC6F9495}"/>
                </a:ext>
              </a:extLst>
            </p:cNvPr>
            <p:cNvSpPr/>
            <p:nvPr userDrawn="1"/>
          </p:nvSpPr>
          <p:spPr>
            <a:xfrm flipH="1">
              <a:off x="8580896"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pt-BR"/>
              </a:defPPr>
            </a:lstStyle>
            <a:p>
              <a:pPr algn="ctr" rtl="0"/>
              <a:endParaRPr lang="pt-BR" dirty="0"/>
            </a:p>
          </p:txBody>
        </p:sp>
        <p:sp>
          <p:nvSpPr>
            <p:cNvPr id="6" name="Forma Livre 5">
              <a:extLst>
                <a:ext uri="{FF2B5EF4-FFF2-40B4-BE49-F238E27FC236}">
                  <a16:creationId xmlns:a16="http://schemas.microsoft.com/office/drawing/2014/main" id="{D11C9832-A021-954E-A34F-2988D1189AE9}"/>
                </a:ext>
              </a:extLst>
            </p:cNvPr>
            <p:cNvSpPr/>
            <p:nvPr userDrawn="1"/>
          </p:nvSpPr>
          <p:spPr>
            <a:xfrm>
              <a:off x="1" y="0"/>
              <a:ext cx="933856" cy="933856"/>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pt-BR"/>
              </a:defPPr>
            </a:lstStyle>
            <a:p>
              <a:pPr algn="ctr" rtl="0"/>
              <a:endParaRPr lang="pt-BR" dirty="0"/>
            </a:p>
          </p:txBody>
        </p:sp>
        <p:grpSp>
          <p:nvGrpSpPr>
            <p:cNvPr id="9" name="Grupo 8">
              <a:extLst>
                <a:ext uri="{FF2B5EF4-FFF2-40B4-BE49-F238E27FC236}">
                  <a16:creationId xmlns:a16="http://schemas.microsoft.com/office/drawing/2014/main" id="{9861BC34-DFBF-2D4F-B463-FCFBC08391FF}"/>
                </a:ext>
              </a:extLst>
            </p:cNvPr>
            <p:cNvGrpSpPr/>
            <p:nvPr userDrawn="1"/>
          </p:nvGrpSpPr>
          <p:grpSpPr>
            <a:xfrm>
              <a:off x="8082092" y="5590903"/>
              <a:ext cx="1572380" cy="1267097"/>
              <a:chOff x="7413403" y="4976359"/>
              <a:chExt cx="2334986" cy="1881641"/>
            </a:xfrm>
          </p:grpSpPr>
          <p:sp>
            <p:nvSpPr>
              <p:cNvPr id="7" name="Forma Livre 6">
                <a:extLst>
                  <a:ext uri="{FF2B5EF4-FFF2-40B4-BE49-F238E27FC236}">
                    <a16:creationId xmlns:a16="http://schemas.microsoft.com/office/drawing/2014/main" id="{55C37C19-F268-4A43-A0D4-3B1B38D48952}"/>
                  </a:ext>
                </a:extLst>
              </p:cNvPr>
              <p:cNvSpPr/>
              <p:nvPr userDrawn="1"/>
            </p:nvSpPr>
            <p:spPr>
              <a:xfrm rot="5400000" flipH="1" flipV="1">
                <a:off x="8223822"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pt-BR"/>
                </a:defPPr>
              </a:lstStyle>
              <a:p>
                <a:pPr algn="ctr" rtl="0"/>
                <a:endParaRPr lang="pt-BR" dirty="0">
                  <a:latin typeface="+mn-lt"/>
                </a:endParaRPr>
              </a:p>
            </p:txBody>
          </p:sp>
          <p:sp>
            <p:nvSpPr>
              <p:cNvPr id="8" name="Forma Livre 7">
                <a:extLst>
                  <a:ext uri="{FF2B5EF4-FFF2-40B4-BE49-F238E27FC236}">
                    <a16:creationId xmlns:a16="http://schemas.microsoft.com/office/drawing/2014/main" id="{E4F760E5-9D5D-E44F-AEBF-20CA8DE87D11}"/>
                  </a:ext>
                </a:extLst>
              </p:cNvPr>
              <p:cNvSpPr/>
              <p:nvPr userDrawn="1"/>
            </p:nvSpPr>
            <p:spPr>
              <a:xfrm rot="16200000" flipV="1">
                <a:off x="7056329"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pt-BR"/>
                </a:defPPr>
              </a:lstStyle>
              <a:p>
                <a:pPr algn="ctr" rtl="0"/>
                <a:endParaRPr lang="pt-BR" dirty="0">
                  <a:latin typeface="+mn-lt"/>
                </a:endParaRPr>
              </a:p>
            </p:txBody>
          </p:sp>
        </p:grpSp>
      </p:grpSp>
      <p:sp>
        <p:nvSpPr>
          <p:cNvPr id="2" name="Título 1">
            <a:extLst>
              <a:ext uri="{FF2B5EF4-FFF2-40B4-BE49-F238E27FC236}">
                <a16:creationId xmlns:a16="http://schemas.microsoft.com/office/drawing/2014/main" id="{3CD97974-B93C-4C96-B3F6-F69E3D6DE6CA}"/>
              </a:ext>
            </a:extLst>
          </p:cNvPr>
          <p:cNvSpPr>
            <a:spLocks noGrp="1"/>
          </p:cNvSpPr>
          <p:nvPr>
            <p:ph type="title" hasCustomPrompt="1"/>
          </p:nvPr>
        </p:nvSpPr>
        <p:spPr>
          <a:xfrm>
            <a:off x="1167492" y="136526"/>
            <a:ext cx="9601200" cy="1653371"/>
          </a:xfrm>
        </p:spPr>
        <p:txBody>
          <a:bodyPr rtlCol="0" anchor="b">
            <a:noAutofit/>
          </a:bodyPr>
          <a:lstStyle>
            <a:lvl1pPr>
              <a:defRPr lang="pt-BR" sz="4200" b="1">
                <a:latin typeface="+mj-lt"/>
              </a:defRPr>
            </a:lvl1pPr>
          </a:lstStyle>
          <a:p>
            <a:pPr rtl="0"/>
            <a:r>
              <a:rPr lang="pt-BR"/>
              <a:t>Clique para adicionar um título</a:t>
            </a:r>
          </a:p>
        </p:txBody>
      </p:sp>
      <p:sp>
        <p:nvSpPr>
          <p:cNvPr id="3" name="Espaço Reservado para Conteúdo 2">
            <a:extLst>
              <a:ext uri="{FF2B5EF4-FFF2-40B4-BE49-F238E27FC236}">
                <a16:creationId xmlns:a16="http://schemas.microsoft.com/office/drawing/2014/main" id="{8A6FC6F2-80B4-49A7-9448-33FE2DF0E967}"/>
              </a:ext>
            </a:extLst>
          </p:cNvPr>
          <p:cNvSpPr>
            <a:spLocks noGrp="1"/>
          </p:cNvSpPr>
          <p:nvPr>
            <p:ph idx="1" hasCustomPrompt="1"/>
          </p:nvPr>
        </p:nvSpPr>
        <p:spPr>
          <a:xfrm>
            <a:off x="1167493" y="2023984"/>
            <a:ext cx="4663440" cy="3332832"/>
          </a:xfrm>
        </p:spPr>
        <p:txBody>
          <a:bodyPr rtlCol="0">
            <a:normAutofit/>
          </a:bodyPr>
          <a:lstStyle>
            <a:lvl1pPr marL="0" indent="0">
              <a:spcBef>
                <a:spcPts val="1000"/>
              </a:spcBef>
              <a:buFont typeface="Arial" panose="020B0604020202020204" pitchFamily="34" charset="0"/>
              <a:buNone/>
              <a:defRPr lang="pt-BR" sz="2000">
                <a:latin typeface="+mn-lt"/>
              </a:defRPr>
            </a:lvl1pPr>
            <a:lvl2pPr marL="283464" indent="-283464">
              <a:spcBef>
                <a:spcPts val="1000"/>
              </a:spcBef>
              <a:buFont typeface="Arial" panose="020B0604020202020204" pitchFamily="34" charset="0"/>
              <a:buChar char="•"/>
              <a:defRPr lang="pt-BR" sz="2000">
                <a:latin typeface="+mn-lt"/>
              </a:defRPr>
            </a:lvl2pPr>
            <a:lvl3pPr marL="566928" indent="-283464">
              <a:spcBef>
                <a:spcPts val="1000"/>
              </a:spcBef>
              <a:buFont typeface="Arial" panose="020B0604020202020204" pitchFamily="34" charset="0"/>
              <a:buChar char="•"/>
              <a:defRPr lang="pt-BR" sz="2000">
                <a:latin typeface="+mn-lt"/>
              </a:defRPr>
            </a:lvl3pPr>
            <a:lvl4pPr marL="850392" indent="-283464">
              <a:spcBef>
                <a:spcPts val="1000"/>
              </a:spcBef>
              <a:buFont typeface="Arial" panose="020B0604020202020204" pitchFamily="34" charset="0"/>
              <a:buChar char="•"/>
              <a:defRPr lang="pt-BR" sz="2000">
                <a:latin typeface="+mn-lt"/>
              </a:defRPr>
            </a:lvl4pPr>
            <a:lvl5pPr marL="1133856" indent="-283464">
              <a:spcBef>
                <a:spcPts val="1000"/>
              </a:spcBef>
              <a:buFont typeface="Arial" panose="020B0604020202020204" pitchFamily="34" charset="0"/>
              <a:buChar char="•"/>
              <a:defRPr lang="pt-BR" sz="2000">
                <a:latin typeface="+mn-lt"/>
              </a:defRPr>
            </a:lvl5pPr>
          </a:lstStyle>
          <a:p>
            <a:pPr lvl="0" rtl="0"/>
            <a:r>
              <a:rPr lang="pt-BR"/>
              <a:t>Clique para adicionar o texto</a:t>
            </a:r>
          </a:p>
          <a:p>
            <a:pPr lvl="1" rtl="0"/>
            <a:r>
              <a:rPr lang="pt-BR"/>
              <a:t>Segundo nível</a:t>
            </a:r>
          </a:p>
          <a:p>
            <a:pPr lvl="2" rtl="0"/>
            <a:r>
              <a:rPr lang="pt-BR"/>
              <a:t>Terceiro nível</a:t>
            </a:r>
          </a:p>
          <a:p>
            <a:pPr lvl="3" rtl="0"/>
            <a:r>
              <a:rPr lang="pt-BR"/>
              <a:t>Quarto nível</a:t>
            </a:r>
          </a:p>
          <a:p>
            <a:pPr lvl="4" rtl="0"/>
            <a:r>
              <a:rPr lang="pt-BR"/>
              <a:t>Quinto nível</a:t>
            </a:r>
          </a:p>
        </p:txBody>
      </p:sp>
      <p:sp>
        <p:nvSpPr>
          <p:cNvPr id="13" name="Espaço Reservado para Conteúdo 2">
            <a:extLst>
              <a:ext uri="{FF2B5EF4-FFF2-40B4-BE49-F238E27FC236}">
                <a16:creationId xmlns:a16="http://schemas.microsoft.com/office/drawing/2014/main" id="{94CA559C-3355-DE44-ACF9-BDB6083C4225}"/>
              </a:ext>
            </a:extLst>
          </p:cNvPr>
          <p:cNvSpPr>
            <a:spLocks noGrp="1"/>
          </p:cNvSpPr>
          <p:nvPr>
            <p:ph idx="10" hasCustomPrompt="1"/>
          </p:nvPr>
        </p:nvSpPr>
        <p:spPr>
          <a:xfrm>
            <a:off x="6283235" y="2023984"/>
            <a:ext cx="4663440" cy="3332832"/>
          </a:xfrm>
        </p:spPr>
        <p:txBody>
          <a:bodyPr rtlCol="0">
            <a:normAutofit/>
          </a:bodyPr>
          <a:lstStyle>
            <a:lvl1pPr marL="0" indent="0">
              <a:spcBef>
                <a:spcPts val="1000"/>
              </a:spcBef>
              <a:buFont typeface="Arial" panose="020B0604020202020204" pitchFamily="34" charset="0"/>
              <a:buNone/>
              <a:defRPr lang="pt-BR" sz="2000">
                <a:latin typeface="+mn-lt"/>
              </a:defRPr>
            </a:lvl1pPr>
            <a:lvl2pPr marL="283464" indent="-283464">
              <a:spcBef>
                <a:spcPts val="1000"/>
              </a:spcBef>
              <a:buFont typeface="Arial" panose="020B0604020202020204" pitchFamily="34" charset="0"/>
              <a:buChar char="•"/>
              <a:defRPr lang="pt-BR" sz="2000">
                <a:latin typeface="+mn-lt"/>
              </a:defRPr>
            </a:lvl2pPr>
            <a:lvl3pPr marL="566928" indent="-283464">
              <a:spcBef>
                <a:spcPts val="1000"/>
              </a:spcBef>
              <a:buFont typeface="Arial" panose="020B0604020202020204" pitchFamily="34" charset="0"/>
              <a:buChar char="•"/>
              <a:defRPr lang="pt-BR" sz="2000">
                <a:latin typeface="+mn-lt"/>
              </a:defRPr>
            </a:lvl3pPr>
            <a:lvl4pPr marL="850392" indent="-283464">
              <a:spcBef>
                <a:spcPts val="1000"/>
              </a:spcBef>
              <a:buFont typeface="Arial" panose="020B0604020202020204" pitchFamily="34" charset="0"/>
              <a:buChar char="•"/>
              <a:defRPr lang="pt-BR" sz="2000">
                <a:latin typeface="+mn-lt"/>
              </a:defRPr>
            </a:lvl4pPr>
            <a:lvl5pPr marL="1133856" indent="-283464">
              <a:spcBef>
                <a:spcPts val="1000"/>
              </a:spcBef>
              <a:buFont typeface="Arial" panose="020B0604020202020204" pitchFamily="34" charset="0"/>
              <a:buChar char="•"/>
              <a:defRPr lang="pt-BR" sz="2000">
                <a:latin typeface="+mn-lt"/>
              </a:defRPr>
            </a:lvl5pPr>
          </a:lstStyle>
          <a:p>
            <a:pPr lvl="0" rtl="0"/>
            <a:r>
              <a:rPr lang="pt-BR"/>
              <a:t>Clique para adicionar o texto</a:t>
            </a:r>
          </a:p>
          <a:p>
            <a:pPr lvl="1" rtl="0"/>
            <a:r>
              <a:rPr lang="pt-BR"/>
              <a:t>Segundo nível</a:t>
            </a:r>
          </a:p>
          <a:p>
            <a:pPr lvl="2" rtl="0"/>
            <a:r>
              <a:rPr lang="pt-BR"/>
              <a:t>Terceiro nível</a:t>
            </a:r>
          </a:p>
          <a:p>
            <a:pPr lvl="3" rtl="0"/>
            <a:r>
              <a:rPr lang="pt-BR"/>
              <a:t>Quarto nível</a:t>
            </a:r>
          </a:p>
          <a:p>
            <a:pPr lvl="4" rtl="0"/>
            <a:r>
              <a:rPr lang="pt-BR"/>
              <a:t>Quinto nível</a:t>
            </a:r>
          </a:p>
        </p:txBody>
      </p:sp>
      <p:sp>
        <p:nvSpPr>
          <p:cNvPr id="10" name="Espaço Reservado para Data 3">
            <a:extLst>
              <a:ext uri="{FF2B5EF4-FFF2-40B4-BE49-F238E27FC236}">
                <a16:creationId xmlns:a16="http://schemas.microsoft.com/office/drawing/2014/main" id="{7536C149-3EFE-A94E-902D-57CED00B2C0F}"/>
              </a:ext>
            </a:extLst>
          </p:cNvPr>
          <p:cNvSpPr>
            <a:spLocks noGrp="1"/>
          </p:cNvSpPr>
          <p:nvPr>
            <p:ph type="dt" sz="half" idx="2"/>
          </p:nvPr>
        </p:nvSpPr>
        <p:spPr>
          <a:xfrm>
            <a:off x="381000" y="6356350"/>
            <a:ext cx="2743200" cy="365125"/>
          </a:xfrm>
          <a:prstGeom prst="rect">
            <a:avLst/>
          </a:prstGeom>
        </p:spPr>
        <p:txBody>
          <a:bodyPr vert="horz" lIns="91440" tIns="45720" rIns="91440" bIns="45720" rtlCol="0" anchor="ctr">
            <a:noAutofit/>
          </a:bodyPr>
          <a:lstStyle>
            <a:lvl1pPr algn="l">
              <a:defRPr lang="pt-BR" sz="1200">
                <a:solidFill>
                  <a:schemeClr val="accent3"/>
                </a:solidFill>
                <a:latin typeface="+mn-lt"/>
              </a:defRPr>
            </a:lvl1pPr>
          </a:lstStyle>
          <a:p>
            <a:pPr rtl="0"/>
            <a:r>
              <a:rPr lang="pt-BR"/>
              <a:t>8/9/20XX</a:t>
            </a:r>
          </a:p>
        </p:txBody>
      </p:sp>
      <p:sp>
        <p:nvSpPr>
          <p:cNvPr id="11" name="Espaço Reservado para Rodapé 4">
            <a:extLst>
              <a:ext uri="{FF2B5EF4-FFF2-40B4-BE49-F238E27FC236}">
                <a16:creationId xmlns:a16="http://schemas.microsoft.com/office/drawing/2014/main" id="{53CA1E78-F17D-F34D-9F81-0DBF44F378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lang="pt-BR" sz="1200">
                <a:solidFill>
                  <a:schemeClr val="accent3"/>
                </a:solidFill>
                <a:latin typeface="+mn-lt"/>
              </a:defRPr>
            </a:lvl1pPr>
          </a:lstStyle>
          <a:p>
            <a:pPr rtl="0"/>
            <a:endParaRPr lang="pt-BR" dirty="0"/>
          </a:p>
        </p:txBody>
      </p:sp>
      <p:sp>
        <p:nvSpPr>
          <p:cNvPr id="12" name="Espaço Reservado para o Número do Slide 5">
            <a:extLst>
              <a:ext uri="{FF2B5EF4-FFF2-40B4-BE49-F238E27FC236}">
                <a16:creationId xmlns:a16="http://schemas.microsoft.com/office/drawing/2014/main" id="{1FE54918-A625-F64F-A42E-A427E9B2D489}"/>
              </a:ext>
            </a:extLst>
          </p:cNvPr>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lang="pt-BR" sz="1200">
                <a:solidFill>
                  <a:schemeClr val="accent2"/>
                </a:solidFill>
                <a:latin typeface="+mn-lt"/>
              </a:defRPr>
            </a:lvl1pPr>
          </a:lstStyle>
          <a:p>
            <a:pPr rtl="0"/>
            <a:fld id="{294A09A9-5501-47C1-A89A-A340965A2BE2}" type="slidenum">
              <a:rPr lang="pt-BR" smtClean="0"/>
              <a:pPr rtl="0"/>
              <a:t>‹nº›</a:t>
            </a:fld>
            <a:endParaRPr lang="pt-BR" dirty="0"/>
          </a:p>
        </p:txBody>
      </p:sp>
    </p:spTree>
    <p:extLst>
      <p:ext uri="{BB962C8B-B14F-4D97-AF65-F5344CB8AC3E}">
        <p14:creationId xmlns:p14="http://schemas.microsoft.com/office/powerpoint/2010/main" val="7678435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ítulo e 2 conteúdos">
    <p:spTree>
      <p:nvGrpSpPr>
        <p:cNvPr id="1" name=""/>
        <p:cNvGrpSpPr/>
        <p:nvPr/>
      </p:nvGrpSpPr>
      <p:grpSpPr>
        <a:xfrm>
          <a:off x="0" y="0"/>
          <a:ext cx="0" cy="0"/>
          <a:chOff x="0" y="0"/>
          <a:chExt cx="0" cy="0"/>
        </a:xfrm>
      </p:grpSpPr>
      <p:grpSp>
        <p:nvGrpSpPr>
          <p:cNvPr id="6" name="Grupo 5">
            <a:extLst>
              <a:ext uri="{FF2B5EF4-FFF2-40B4-BE49-F238E27FC236}">
                <a16:creationId xmlns:a16="http://schemas.microsoft.com/office/drawing/2014/main" id="{1A0E8D4A-B13C-C7EE-5E27-278124A1276E}"/>
              </a:ext>
              <a:ext uri="{C183D7F6-B498-43B3-948B-1728B52AA6E4}">
                <adec:decorative xmlns:adec="http://schemas.microsoft.com/office/drawing/2017/decorative" val="1"/>
              </a:ext>
            </a:extLst>
          </p:cNvPr>
          <p:cNvGrpSpPr/>
          <p:nvPr userDrawn="1"/>
        </p:nvGrpSpPr>
        <p:grpSpPr>
          <a:xfrm>
            <a:off x="1" y="1"/>
            <a:ext cx="12191999" cy="6857999"/>
            <a:chOff x="1" y="1"/>
            <a:chExt cx="12191999" cy="6857999"/>
          </a:xfrm>
        </p:grpSpPr>
        <p:sp>
          <p:nvSpPr>
            <p:cNvPr id="4" name="Forma Livre 3">
              <a:extLst>
                <a:ext uri="{FF2B5EF4-FFF2-40B4-BE49-F238E27FC236}">
                  <a16:creationId xmlns:a16="http://schemas.microsoft.com/office/drawing/2014/main" id="{6A7F6A3F-E1DD-A246-9A6D-5F9B18BA2588}"/>
                </a:ext>
              </a:extLst>
            </p:cNvPr>
            <p:cNvSpPr/>
            <p:nvPr userDrawn="1"/>
          </p:nvSpPr>
          <p:spPr>
            <a:xfrm flipH="1">
              <a:off x="8580896" y="1"/>
              <a:ext cx="3611104" cy="3611104"/>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pt-BR"/>
              </a:defPPr>
            </a:lstStyle>
            <a:p>
              <a:pPr algn="ctr" rtl="0"/>
              <a:endParaRPr lang="pt-BR" dirty="0"/>
            </a:p>
          </p:txBody>
        </p:sp>
        <p:sp>
          <p:nvSpPr>
            <p:cNvPr id="5" name="Forma Livre 4">
              <a:extLst>
                <a:ext uri="{FF2B5EF4-FFF2-40B4-BE49-F238E27FC236}">
                  <a16:creationId xmlns:a16="http://schemas.microsoft.com/office/drawing/2014/main" id="{055FD0FC-C8FF-6741-A364-A29CDC6F9495}"/>
                </a:ext>
              </a:extLst>
            </p:cNvPr>
            <p:cNvSpPr/>
            <p:nvPr userDrawn="1"/>
          </p:nvSpPr>
          <p:spPr>
            <a:xfrm rot="5400000" flipH="1">
              <a:off x="1"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pt-BR"/>
              </a:defPPr>
            </a:lstStyle>
            <a:p>
              <a:pPr algn="ctr" rtl="0"/>
              <a:endParaRPr lang="pt-BR" dirty="0"/>
            </a:p>
          </p:txBody>
        </p:sp>
      </p:grpSp>
      <p:sp>
        <p:nvSpPr>
          <p:cNvPr id="2" name="Título 1">
            <a:extLst>
              <a:ext uri="{FF2B5EF4-FFF2-40B4-BE49-F238E27FC236}">
                <a16:creationId xmlns:a16="http://schemas.microsoft.com/office/drawing/2014/main" id="{3CD97974-B93C-4C96-B3F6-F69E3D6DE6CA}"/>
              </a:ext>
            </a:extLst>
          </p:cNvPr>
          <p:cNvSpPr>
            <a:spLocks noGrp="1"/>
          </p:cNvSpPr>
          <p:nvPr>
            <p:ph type="title" hasCustomPrompt="1"/>
          </p:nvPr>
        </p:nvSpPr>
        <p:spPr>
          <a:xfrm>
            <a:off x="1167492" y="69008"/>
            <a:ext cx="9779183" cy="1706563"/>
          </a:xfrm>
        </p:spPr>
        <p:txBody>
          <a:bodyPr rtlCol="0" anchor="b">
            <a:noAutofit/>
          </a:bodyPr>
          <a:lstStyle>
            <a:lvl1pPr>
              <a:defRPr lang="pt-BR" sz="4200" b="1">
                <a:solidFill>
                  <a:schemeClr val="bg1"/>
                </a:solidFill>
                <a:latin typeface="+mj-lt"/>
              </a:defRPr>
            </a:lvl1pPr>
          </a:lstStyle>
          <a:p>
            <a:pPr rtl="0"/>
            <a:r>
              <a:rPr lang="pt-BR"/>
              <a:t>Clique para adicionar um título</a:t>
            </a:r>
          </a:p>
        </p:txBody>
      </p:sp>
      <p:sp>
        <p:nvSpPr>
          <p:cNvPr id="14" name="Espaço Reservado para Conteúdo 2">
            <a:extLst>
              <a:ext uri="{FF2B5EF4-FFF2-40B4-BE49-F238E27FC236}">
                <a16:creationId xmlns:a16="http://schemas.microsoft.com/office/drawing/2014/main" id="{926B296A-EB6A-9BE9-E813-B15C46524F4D}"/>
              </a:ext>
            </a:extLst>
          </p:cNvPr>
          <p:cNvSpPr>
            <a:spLocks noGrp="1"/>
          </p:cNvSpPr>
          <p:nvPr>
            <p:ph idx="12" hasCustomPrompt="1"/>
          </p:nvPr>
        </p:nvSpPr>
        <p:spPr>
          <a:xfrm>
            <a:off x="1167493" y="2023984"/>
            <a:ext cx="4663440" cy="3332832"/>
          </a:xfrm>
        </p:spPr>
        <p:txBody>
          <a:bodyPr rtlCol="0">
            <a:normAutofit/>
          </a:bodyPr>
          <a:lstStyle>
            <a:lvl1pPr marL="530352" indent="-530352">
              <a:spcBef>
                <a:spcPts val="1000"/>
              </a:spcBef>
              <a:buFont typeface="+mj-lt"/>
              <a:buAutoNum type="arabicPeriod"/>
              <a:defRPr lang="pt-BR" sz="2000">
                <a:solidFill>
                  <a:schemeClr val="bg1"/>
                </a:solidFill>
                <a:latin typeface="+mn-lt"/>
              </a:defRPr>
            </a:lvl1pPr>
            <a:lvl2pPr marL="1097280" indent="-530352">
              <a:spcBef>
                <a:spcPts val="1000"/>
              </a:spcBef>
              <a:buFont typeface="+mj-lt"/>
              <a:buAutoNum type="alphaLcPeriod"/>
              <a:defRPr lang="pt-BR" sz="2000">
                <a:solidFill>
                  <a:schemeClr val="bg1"/>
                </a:solidFill>
                <a:latin typeface="+mn-lt"/>
              </a:defRPr>
            </a:lvl2pPr>
            <a:lvl3pPr marL="1645920" indent="-530352">
              <a:spcBef>
                <a:spcPts val="1000"/>
              </a:spcBef>
              <a:buFont typeface="+mj-lt"/>
              <a:buAutoNum type="arabicParenR"/>
              <a:defRPr lang="pt-BR" sz="2000">
                <a:solidFill>
                  <a:schemeClr val="bg1"/>
                </a:solidFill>
                <a:latin typeface="+mn-lt"/>
              </a:defRPr>
            </a:lvl3pPr>
            <a:lvl4pPr marL="1920240" indent="-530352">
              <a:spcBef>
                <a:spcPts val="1000"/>
              </a:spcBef>
              <a:buFont typeface="+mj-lt"/>
              <a:buAutoNum type="alphaLcParenR"/>
              <a:defRPr lang="pt-BR" sz="2000">
                <a:solidFill>
                  <a:schemeClr val="bg1"/>
                </a:solidFill>
                <a:latin typeface="+mn-lt"/>
              </a:defRPr>
            </a:lvl4pPr>
            <a:lvl5pPr marL="2560320" indent="-514350">
              <a:spcBef>
                <a:spcPts val="1000"/>
              </a:spcBef>
              <a:buFont typeface="+mj-lt"/>
              <a:buAutoNum type="romanLcPeriod"/>
              <a:defRPr lang="pt-BR" sz="2000">
                <a:solidFill>
                  <a:schemeClr val="bg1"/>
                </a:solidFill>
                <a:latin typeface="+mn-lt"/>
              </a:defRPr>
            </a:lvl5pPr>
          </a:lstStyle>
          <a:p>
            <a:pPr lvl="0" rtl="0"/>
            <a:r>
              <a:rPr lang="pt-BR"/>
              <a:t>Clique para adicionar o texto</a:t>
            </a:r>
          </a:p>
          <a:p>
            <a:pPr lvl="1" rtl="0"/>
            <a:r>
              <a:rPr lang="pt-BR"/>
              <a:t>Segundo nível</a:t>
            </a:r>
          </a:p>
          <a:p>
            <a:pPr lvl="2" rtl="0"/>
            <a:r>
              <a:rPr lang="pt-BR"/>
              <a:t>Terceiro nível</a:t>
            </a:r>
          </a:p>
          <a:p>
            <a:pPr lvl="3" rtl="0"/>
            <a:r>
              <a:rPr lang="pt-BR"/>
              <a:t>Quarto nível</a:t>
            </a:r>
          </a:p>
          <a:p>
            <a:pPr lvl="4" rtl="0"/>
            <a:r>
              <a:rPr lang="pt-BR"/>
              <a:t>Quinto nível</a:t>
            </a:r>
          </a:p>
        </p:txBody>
      </p:sp>
      <p:sp>
        <p:nvSpPr>
          <p:cNvPr id="9" name="Espaço Reservado para Conteúdo 2">
            <a:extLst>
              <a:ext uri="{FF2B5EF4-FFF2-40B4-BE49-F238E27FC236}">
                <a16:creationId xmlns:a16="http://schemas.microsoft.com/office/drawing/2014/main" id="{9435B7D5-E7F8-1267-8942-3C97BE836B98}"/>
              </a:ext>
            </a:extLst>
          </p:cNvPr>
          <p:cNvSpPr>
            <a:spLocks noGrp="1"/>
          </p:cNvSpPr>
          <p:nvPr>
            <p:ph idx="11" hasCustomPrompt="1"/>
          </p:nvPr>
        </p:nvSpPr>
        <p:spPr>
          <a:xfrm>
            <a:off x="6283235" y="2023984"/>
            <a:ext cx="4663440" cy="3332832"/>
          </a:xfrm>
        </p:spPr>
        <p:txBody>
          <a:bodyPr rtlCol="0">
            <a:normAutofit/>
          </a:bodyPr>
          <a:lstStyle>
            <a:lvl1pPr marL="0" indent="0">
              <a:spcBef>
                <a:spcPts val="1000"/>
              </a:spcBef>
              <a:buFont typeface="Arial" panose="020B0604020202020204" pitchFamily="34" charset="0"/>
              <a:buNone/>
              <a:defRPr lang="pt-BR" sz="2000">
                <a:solidFill>
                  <a:schemeClr val="bg1"/>
                </a:solidFill>
                <a:latin typeface="+mn-lt"/>
              </a:defRPr>
            </a:lvl1pPr>
            <a:lvl2pPr marL="283464" indent="-283464">
              <a:spcBef>
                <a:spcPts val="1000"/>
              </a:spcBef>
              <a:buFont typeface="Arial" panose="020B0604020202020204" pitchFamily="34" charset="0"/>
              <a:buChar char="•"/>
              <a:defRPr lang="pt-BR" sz="2000">
                <a:solidFill>
                  <a:schemeClr val="bg1"/>
                </a:solidFill>
                <a:latin typeface="+mn-lt"/>
              </a:defRPr>
            </a:lvl2pPr>
            <a:lvl3pPr marL="566928" indent="-283464">
              <a:spcBef>
                <a:spcPts val="1000"/>
              </a:spcBef>
              <a:buFont typeface="Arial" panose="020B0604020202020204" pitchFamily="34" charset="0"/>
              <a:buChar char="•"/>
              <a:defRPr lang="pt-BR" sz="2000">
                <a:solidFill>
                  <a:schemeClr val="bg1"/>
                </a:solidFill>
                <a:latin typeface="+mn-lt"/>
              </a:defRPr>
            </a:lvl3pPr>
            <a:lvl4pPr marL="850392" indent="-283464">
              <a:spcBef>
                <a:spcPts val="1000"/>
              </a:spcBef>
              <a:buFont typeface="Arial" panose="020B0604020202020204" pitchFamily="34" charset="0"/>
              <a:buChar char="•"/>
              <a:defRPr lang="pt-BR" sz="2000">
                <a:solidFill>
                  <a:schemeClr val="bg1"/>
                </a:solidFill>
                <a:latin typeface="+mn-lt"/>
              </a:defRPr>
            </a:lvl4pPr>
            <a:lvl5pPr marL="1133856" indent="-283464">
              <a:spcBef>
                <a:spcPts val="1000"/>
              </a:spcBef>
              <a:buFont typeface="Arial" panose="020B0604020202020204" pitchFamily="34" charset="0"/>
              <a:buChar char="•"/>
              <a:defRPr lang="pt-BR" sz="2000">
                <a:solidFill>
                  <a:schemeClr val="bg1"/>
                </a:solidFill>
                <a:latin typeface="+mn-lt"/>
              </a:defRPr>
            </a:lvl5pPr>
          </a:lstStyle>
          <a:p>
            <a:pPr lvl="0" rtl="0"/>
            <a:r>
              <a:rPr lang="pt-BR"/>
              <a:t>Clique para adicionar o texto</a:t>
            </a:r>
          </a:p>
          <a:p>
            <a:pPr lvl="1" rtl="0"/>
            <a:r>
              <a:rPr lang="pt-BR"/>
              <a:t>Segundo nível</a:t>
            </a:r>
          </a:p>
          <a:p>
            <a:pPr lvl="2" rtl="0"/>
            <a:r>
              <a:rPr lang="pt-BR"/>
              <a:t>Terceiro nível</a:t>
            </a:r>
          </a:p>
          <a:p>
            <a:pPr lvl="3" rtl="0"/>
            <a:r>
              <a:rPr lang="pt-BR"/>
              <a:t>Quarto nível</a:t>
            </a:r>
          </a:p>
          <a:p>
            <a:pPr lvl="4" rtl="0"/>
            <a:r>
              <a:rPr lang="pt-BR"/>
              <a:t>Quinto nível</a:t>
            </a:r>
          </a:p>
        </p:txBody>
      </p:sp>
      <p:sp>
        <p:nvSpPr>
          <p:cNvPr id="10" name="Espaço Reservado para Data 3">
            <a:extLst>
              <a:ext uri="{FF2B5EF4-FFF2-40B4-BE49-F238E27FC236}">
                <a16:creationId xmlns:a16="http://schemas.microsoft.com/office/drawing/2014/main" id="{7536C149-3EFE-A94E-902D-57CED00B2C0F}"/>
              </a:ext>
            </a:extLst>
          </p:cNvPr>
          <p:cNvSpPr>
            <a:spLocks noGrp="1"/>
          </p:cNvSpPr>
          <p:nvPr>
            <p:ph type="dt" sz="half" idx="2"/>
          </p:nvPr>
        </p:nvSpPr>
        <p:spPr>
          <a:xfrm>
            <a:off x="381000" y="6356350"/>
            <a:ext cx="1701018" cy="365125"/>
          </a:xfrm>
          <a:prstGeom prst="rect">
            <a:avLst/>
          </a:prstGeom>
        </p:spPr>
        <p:txBody>
          <a:bodyPr vert="horz" lIns="91440" tIns="45720" rIns="91440" bIns="45720" rtlCol="0" anchor="ctr">
            <a:noAutofit/>
          </a:bodyPr>
          <a:lstStyle>
            <a:lvl1pPr algn="l">
              <a:defRPr lang="pt-BR" sz="1200">
                <a:solidFill>
                  <a:schemeClr val="accent3"/>
                </a:solidFill>
                <a:latin typeface="+mn-lt"/>
              </a:defRPr>
            </a:lvl1pPr>
          </a:lstStyle>
          <a:p>
            <a:pPr rtl="0"/>
            <a:r>
              <a:rPr lang="pt-BR"/>
              <a:t>8/9/20XX</a:t>
            </a:r>
          </a:p>
        </p:txBody>
      </p:sp>
      <p:sp>
        <p:nvSpPr>
          <p:cNvPr id="11" name="Espaço Reservado para Rodapé 4">
            <a:extLst>
              <a:ext uri="{FF2B5EF4-FFF2-40B4-BE49-F238E27FC236}">
                <a16:creationId xmlns:a16="http://schemas.microsoft.com/office/drawing/2014/main" id="{53CA1E78-F17D-F34D-9F81-0DBF44F378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lang="pt-BR" sz="1200">
                <a:solidFill>
                  <a:schemeClr val="accent2"/>
                </a:solidFill>
                <a:latin typeface="+mn-lt"/>
              </a:defRPr>
            </a:lvl1pPr>
          </a:lstStyle>
          <a:p>
            <a:pPr rtl="0"/>
            <a:endParaRPr lang="pt-BR" dirty="0"/>
          </a:p>
        </p:txBody>
      </p:sp>
      <p:sp>
        <p:nvSpPr>
          <p:cNvPr id="12" name="Espaço Reservado para o Número do Slide 5">
            <a:extLst>
              <a:ext uri="{FF2B5EF4-FFF2-40B4-BE49-F238E27FC236}">
                <a16:creationId xmlns:a16="http://schemas.microsoft.com/office/drawing/2014/main" id="{1FE54918-A625-F64F-A42E-A427E9B2D489}"/>
              </a:ext>
            </a:extLst>
          </p:cNvPr>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lang="pt-BR" sz="1200">
                <a:solidFill>
                  <a:schemeClr val="accent2"/>
                </a:solidFill>
                <a:latin typeface="+mn-lt"/>
              </a:defRPr>
            </a:lvl1pPr>
          </a:lstStyle>
          <a:p>
            <a:pPr rtl="0"/>
            <a:fld id="{294A09A9-5501-47C1-A89A-A340965A2BE2}" type="slidenum">
              <a:rPr lang="pt-BR" smtClean="0"/>
              <a:pPr rtl="0"/>
              <a:t>‹nº›</a:t>
            </a:fld>
            <a:endParaRPr lang="pt-BR" dirty="0"/>
          </a:p>
        </p:txBody>
      </p:sp>
    </p:spTree>
    <p:extLst>
      <p:ext uri="{BB962C8B-B14F-4D97-AF65-F5344CB8AC3E}">
        <p14:creationId xmlns:p14="http://schemas.microsoft.com/office/powerpoint/2010/main" val="40204266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Gráfico ">
    <p:spTree>
      <p:nvGrpSpPr>
        <p:cNvPr id="1" name=""/>
        <p:cNvGrpSpPr/>
        <p:nvPr/>
      </p:nvGrpSpPr>
      <p:grpSpPr>
        <a:xfrm>
          <a:off x="0" y="0"/>
          <a:ext cx="0" cy="0"/>
          <a:chOff x="0" y="0"/>
          <a:chExt cx="0" cy="0"/>
        </a:xfrm>
      </p:grpSpPr>
      <p:grpSp>
        <p:nvGrpSpPr>
          <p:cNvPr id="9" name="Grupo 8">
            <a:extLst>
              <a:ext uri="{FF2B5EF4-FFF2-40B4-BE49-F238E27FC236}">
                <a16:creationId xmlns:a16="http://schemas.microsoft.com/office/drawing/2014/main" id="{ABA2A58C-57B7-834C-8F5C-3299322411B1}"/>
              </a:ext>
              <a:ext uri="{C183D7F6-B498-43B3-948B-1728B52AA6E4}">
                <adec:decorative xmlns:adec="http://schemas.microsoft.com/office/drawing/2017/decorative" val="1"/>
              </a:ext>
            </a:extLst>
          </p:cNvPr>
          <p:cNvGrpSpPr/>
          <p:nvPr userDrawn="1"/>
        </p:nvGrpSpPr>
        <p:grpSpPr>
          <a:xfrm rot="16200000">
            <a:off x="10772262" y="152641"/>
            <a:ext cx="1572380" cy="1267097"/>
            <a:chOff x="7413403" y="4976359"/>
            <a:chExt cx="2334986" cy="1881641"/>
          </a:xfrm>
        </p:grpSpPr>
        <p:sp>
          <p:nvSpPr>
            <p:cNvPr id="13" name="Forma Livre 12">
              <a:extLst>
                <a:ext uri="{FF2B5EF4-FFF2-40B4-BE49-F238E27FC236}">
                  <a16:creationId xmlns:a16="http://schemas.microsoft.com/office/drawing/2014/main" id="{801D8067-144A-FE48-AF1E-529B662DCAD3}"/>
                </a:ext>
              </a:extLst>
            </p:cNvPr>
            <p:cNvSpPr/>
            <p:nvPr userDrawn="1"/>
          </p:nvSpPr>
          <p:spPr>
            <a:xfrm rot="5400000" flipH="1" flipV="1">
              <a:off x="8223822"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pt-BR"/>
              </a:defPPr>
            </a:lstStyle>
            <a:p>
              <a:pPr algn="ctr" rtl="0"/>
              <a:endParaRPr lang="pt-BR" dirty="0"/>
            </a:p>
          </p:txBody>
        </p:sp>
        <p:sp>
          <p:nvSpPr>
            <p:cNvPr id="14" name="Forma Livre 13">
              <a:extLst>
                <a:ext uri="{FF2B5EF4-FFF2-40B4-BE49-F238E27FC236}">
                  <a16:creationId xmlns:a16="http://schemas.microsoft.com/office/drawing/2014/main" id="{2ECA7D87-C78C-C140-AA28-C0FB20209045}"/>
                </a:ext>
              </a:extLst>
            </p:cNvPr>
            <p:cNvSpPr/>
            <p:nvPr userDrawn="1"/>
          </p:nvSpPr>
          <p:spPr>
            <a:xfrm rot="16200000" flipV="1">
              <a:off x="7056329"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pt-BR"/>
              </a:defPPr>
            </a:lstStyle>
            <a:p>
              <a:pPr algn="ctr" rtl="0"/>
              <a:endParaRPr lang="pt-BR" dirty="0"/>
            </a:p>
          </p:txBody>
        </p:sp>
      </p:grpSp>
      <p:sp>
        <p:nvSpPr>
          <p:cNvPr id="2" name="Título 1">
            <a:extLst>
              <a:ext uri="{FF2B5EF4-FFF2-40B4-BE49-F238E27FC236}">
                <a16:creationId xmlns:a16="http://schemas.microsoft.com/office/drawing/2014/main" id="{3CD97974-B93C-4C96-B3F6-F69E3D6DE6CA}"/>
              </a:ext>
            </a:extLst>
          </p:cNvPr>
          <p:cNvSpPr>
            <a:spLocks noGrp="1"/>
          </p:cNvSpPr>
          <p:nvPr>
            <p:ph type="title" hasCustomPrompt="1"/>
          </p:nvPr>
        </p:nvSpPr>
        <p:spPr>
          <a:xfrm>
            <a:off x="1167492" y="136526"/>
            <a:ext cx="9779183" cy="1570038"/>
          </a:xfrm>
        </p:spPr>
        <p:txBody>
          <a:bodyPr rtlCol="0" anchor="b">
            <a:noAutofit/>
          </a:bodyPr>
          <a:lstStyle>
            <a:lvl1pPr>
              <a:defRPr lang="pt-BR" sz="4200" b="1">
                <a:latin typeface="+mj-lt"/>
              </a:defRPr>
            </a:lvl1pPr>
          </a:lstStyle>
          <a:p>
            <a:pPr rtl="0"/>
            <a:r>
              <a:rPr lang="pt-BR"/>
              <a:t>Clique para adicionar um título</a:t>
            </a:r>
          </a:p>
        </p:txBody>
      </p:sp>
      <p:sp>
        <p:nvSpPr>
          <p:cNvPr id="3" name="Espaço Reservado para Conteúdo 2">
            <a:extLst>
              <a:ext uri="{FF2B5EF4-FFF2-40B4-BE49-F238E27FC236}">
                <a16:creationId xmlns:a16="http://schemas.microsoft.com/office/drawing/2014/main" id="{8A6FC6F2-80B4-49A7-9448-33FE2DF0E967}"/>
              </a:ext>
            </a:extLst>
          </p:cNvPr>
          <p:cNvSpPr>
            <a:spLocks noGrp="1"/>
          </p:cNvSpPr>
          <p:nvPr>
            <p:ph idx="1" hasCustomPrompt="1"/>
          </p:nvPr>
        </p:nvSpPr>
        <p:spPr>
          <a:xfrm>
            <a:off x="1167493" y="2084832"/>
            <a:ext cx="9779182" cy="3366813"/>
          </a:xfrm>
        </p:spPr>
        <p:txBody>
          <a:bodyPr rtlCol="0">
            <a:noAutofit/>
          </a:bodyPr>
          <a:lstStyle>
            <a:lvl1pPr marL="0" indent="0">
              <a:buNone/>
              <a:defRPr lang="pt-BR">
                <a:latin typeface="+mn-lt"/>
              </a:defRPr>
            </a:lvl1pPr>
            <a:lvl2pPr marL="457200" indent="0">
              <a:buNone/>
              <a:defRPr lang="pt-BR">
                <a:latin typeface="+mn-lt"/>
              </a:defRPr>
            </a:lvl2pPr>
            <a:lvl3pPr marL="914400" indent="0">
              <a:buNone/>
              <a:defRPr lang="pt-BR">
                <a:latin typeface="+mn-lt"/>
              </a:defRPr>
            </a:lvl3pPr>
            <a:lvl4pPr marL="1371600" indent="0">
              <a:buNone/>
              <a:defRPr lang="pt-BR">
                <a:latin typeface="+mn-lt"/>
              </a:defRPr>
            </a:lvl4pPr>
            <a:lvl5pPr marL="1828800" indent="0">
              <a:buNone/>
              <a:defRPr lang="pt-BR">
                <a:latin typeface="+mn-lt"/>
              </a:defRPr>
            </a:lvl5pPr>
          </a:lstStyle>
          <a:p>
            <a:pPr lvl="0" rtl="0"/>
            <a:r>
              <a:rPr lang="pt-BR"/>
              <a:t>Clique para adicionar o texto</a:t>
            </a:r>
          </a:p>
          <a:p>
            <a:pPr lvl="1" rtl="0"/>
            <a:r>
              <a:rPr lang="pt-BR"/>
              <a:t>Segundo nível</a:t>
            </a:r>
          </a:p>
          <a:p>
            <a:pPr lvl="2" rtl="0"/>
            <a:r>
              <a:rPr lang="pt-BR"/>
              <a:t>Terceiro nível</a:t>
            </a:r>
          </a:p>
          <a:p>
            <a:pPr lvl="3" rtl="0"/>
            <a:r>
              <a:rPr lang="pt-BR"/>
              <a:t>Quarto nível</a:t>
            </a:r>
          </a:p>
          <a:p>
            <a:pPr lvl="4" rtl="0"/>
            <a:r>
              <a:rPr lang="pt-BR"/>
              <a:t>Quinto nível</a:t>
            </a:r>
          </a:p>
        </p:txBody>
      </p:sp>
      <p:sp>
        <p:nvSpPr>
          <p:cNvPr id="10" name="Espaço Reservado para Data 3">
            <a:extLst>
              <a:ext uri="{FF2B5EF4-FFF2-40B4-BE49-F238E27FC236}">
                <a16:creationId xmlns:a16="http://schemas.microsoft.com/office/drawing/2014/main" id="{7536C149-3EFE-A94E-902D-57CED00B2C0F}"/>
              </a:ext>
            </a:extLst>
          </p:cNvPr>
          <p:cNvSpPr>
            <a:spLocks noGrp="1"/>
          </p:cNvSpPr>
          <p:nvPr>
            <p:ph type="dt" sz="half" idx="2"/>
          </p:nvPr>
        </p:nvSpPr>
        <p:spPr>
          <a:xfrm>
            <a:off x="381000" y="6356350"/>
            <a:ext cx="1701018" cy="365125"/>
          </a:xfrm>
          <a:prstGeom prst="rect">
            <a:avLst/>
          </a:prstGeom>
        </p:spPr>
        <p:txBody>
          <a:bodyPr vert="horz" lIns="91440" tIns="45720" rIns="91440" bIns="45720" rtlCol="0" anchor="ctr">
            <a:noAutofit/>
          </a:bodyPr>
          <a:lstStyle>
            <a:lvl1pPr algn="l">
              <a:defRPr lang="pt-BR" sz="1200">
                <a:solidFill>
                  <a:schemeClr val="accent3"/>
                </a:solidFill>
                <a:latin typeface="+mn-lt"/>
              </a:defRPr>
            </a:lvl1pPr>
          </a:lstStyle>
          <a:p>
            <a:pPr rtl="0"/>
            <a:r>
              <a:rPr lang="pt-BR"/>
              <a:t>8/9/20XX</a:t>
            </a:r>
          </a:p>
        </p:txBody>
      </p:sp>
      <p:sp>
        <p:nvSpPr>
          <p:cNvPr id="11" name="Espaço Reservado para Rodapé 4">
            <a:extLst>
              <a:ext uri="{FF2B5EF4-FFF2-40B4-BE49-F238E27FC236}">
                <a16:creationId xmlns:a16="http://schemas.microsoft.com/office/drawing/2014/main" id="{53CA1E78-F17D-F34D-9F81-0DBF44F378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lang="pt-BR" sz="1200">
                <a:solidFill>
                  <a:schemeClr val="accent3"/>
                </a:solidFill>
                <a:latin typeface="+mn-lt"/>
              </a:defRPr>
            </a:lvl1pPr>
          </a:lstStyle>
          <a:p>
            <a:pPr rtl="0"/>
            <a:endParaRPr lang="pt-BR" dirty="0"/>
          </a:p>
        </p:txBody>
      </p:sp>
      <p:sp>
        <p:nvSpPr>
          <p:cNvPr id="12" name="Espaço Reservado para o Número do Slide 5">
            <a:extLst>
              <a:ext uri="{FF2B5EF4-FFF2-40B4-BE49-F238E27FC236}">
                <a16:creationId xmlns:a16="http://schemas.microsoft.com/office/drawing/2014/main" id="{1FE54918-A625-F64F-A42E-A427E9B2D489}"/>
              </a:ext>
            </a:extLst>
          </p:cNvPr>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lang="pt-BR" sz="1200">
                <a:solidFill>
                  <a:schemeClr val="accent3"/>
                </a:solidFill>
                <a:latin typeface="+mn-lt"/>
              </a:defRPr>
            </a:lvl1pPr>
          </a:lstStyle>
          <a:p>
            <a:pPr rtl="0"/>
            <a:fld id="{294A09A9-5501-47C1-A89A-A340965A2BE2}" type="slidenum">
              <a:rPr lang="pt-BR" smtClean="0"/>
              <a:pPr rtl="0"/>
              <a:t>‹nº›</a:t>
            </a:fld>
            <a:endParaRPr lang="pt-BR" dirty="0"/>
          </a:p>
        </p:txBody>
      </p:sp>
    </p:spTree>
    <p:extLst>
      <p:ext uri="{BB962C8B-B14F-4D97-AF65-F5344CB8AC3E}">
        <p14:creationId xmlns:p14="http://schemas.microsoft.com/office/powerpoint/2010/main" val="31909451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 preserve="1">
  <p:cSld name="Slide final">
    <p:spTree>
      <p:nvGrpSpPr>
        <p:cNvPr id="1" name=""/>
        <p:cNvGrpSpPr/>
        <p:nvPr/>
      </p:nvGrpSpPr>
      <p:grpSpPr>
        <a:xfrm>
          <a:off x="0" y="0"/>
          <a:ext cx="0" cy="0"/>
          <a:chOff x="0" y="0"/>
          <a:chExt cx="0" cy="0"/>
        </a:xfrm>
      </p:grpSpPr>
      <p:grpSp>
        <p:nvGrpSpPr>
          <p:cNvPr id="5" name="Grupo 4">
            <a:extLst>
              <a:ext uri="{FF2B5EF4-FFF2-40B4-BE49-F238E27FC236}">
                <a16:creationId xmlns:a16="http://schemas.microsoft.com/office/drawing/2014/main" id="{78AD52EA-B01E-8D38-D87A-BF7EB5B58A82}"/>
              </a:ext>
              <a:ext uri="{C183D7F6-B498-43B3-948B-1728B52AA6E4}">
                <adec:decorative xmlns:adec="http://schemas.microsoft.com/office/drawing/2017/decorative" val="1"/>
              </a:ext>
            </a:extLst>
          </p:cNvPr>
          <p:cNvGrpSpPr/>
          <p:nvPr userDrawn="1"/>
        </p:nvGrpSpPr>
        <p:grpSpPr>
          <a:xfrm>
            <a:off x="0" y="-1"/>
            <a:ext cx="12192001" cy="6864796"/>
            <a:chOff x="0" y="-1"/>
            <a:chExt cx="12192001" cy="6864796"/>
          </a:xfrm>
        </p:grpSpPr>
        <p:sp>
          <p:nvSpPr>
            <p:cNvPr id="4" name="Retângulo 3">
              <a:extLst>
                <a:ext uri="{FF2B5EF4-FFF2-40B4-BE49-F238E27FC236}">
                  <a16:creationId xmlns:a16="http://schemas.microsoft.com/office/drawing/2014/main" id="{9AC79249-FDC0-364D-A734-AE1DE1605D28}"/>
                </a:ext>
              </a:extLst>
            </p:cNvPr>
            <p:cNvSpPr/>
            <p:nvPr userDrawn="1"/>
          </p:nvSpPr>
          <p:spPr>
            <a:xfrm>
              <a:off x="8264426" y="0"/>
              <a:ext cx="3927574"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pt-BR"/>
              </a:defPPr>
            </a:lstStyle>
            <a:p>
              <a:pPr algn="ctr" rtl="0"/>
              <a:endParaRPr lang="pt-BR" dirty="0"/>
            </a:p>
          </p:txBody>
        </p:sp>
        <p:grpSp>
          <p:nvGrpSpPr>
            <p:cNvPr id="6" name="Grupo 5">
              <a:extLst>
                <a:ext uri="{FF2B5EF4-FFF2-40B4-BE49-F238E27FC236}">
                  <a16:creationId xmlns:a16="http://schemas.microsoft.com/office/drawing/2014/main" id="{F15FBB50-09C8-B64E-AE57-67C5E70810CB}"/>
                </a:ext>
              </a:extLst>
            </p:cNvPr>
            <p:cNvGrpSpPr/>
            <p:nvPr userDrawn="1"/>
          </p:nvGrpSpPr>
          <p:grpSpPr>
            <a:xfrm>
              <a:off x="8264427" y="3685939"/>
              <a:ext cx="3927573" cy="3178856"/>
              <a:chOff x="9857014" y="13834"/>
              <a:chExt cx="2334986" cy="1881641"/>
            </a:xfrm>
          </p:grpSpPr>
          <p:sp>
            <p:nvSpPr>
              <p:cNvPr id="15" name="Forma Livre 14">
                <a:extLst>
                  <a:ext uri="{FF2B5EF4-FFF2-40B4-BE49-F238E27FC236}">
                    <a16:creationId xmlns:a16="http://schemas.microsoft.com/office/drawing/2014/main" id="{EFBF1E52-11FA-DC48-B7AD-75734232FFE8}"/>
                  </a:ext>
                </a:extLst>
              </p:cNvPr>
              <p:cNvSpPr/>
              <p:nvPr userDrawn="1"/>
            </p:nvSpPr>
            <p:spPr>
              <a:xfrm rot="5400000" flipH="1" flipV="1">
                <a:off x="10667433" y="370908"/>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pt-BR"/>
                </a:defPPr>
              </a:lstStyle>
              <a:p>
                <a:pPr algn="ctr" rtl="0"/>
                <a:endParaRPr lang="pt-BR" dirty="0"/>
              </a:p>
            </p:txBody>
          </p:sp>
          <p:sp>
            <p:nvSpPr>
              <p:cNvPr id="16" name="Forma Livre 15">
                <a:extLst>
                  <a:ext uri="{FF2B5EF4-FFF2-40B4-BE49-F238E27FC236}">
                    <a16:creationId xmlns:a16="http://schemas.microsoft.com/office/drawing/2014/main" id="{4850B620-49F5-3748-84AF-682555D52792}"/>
                  </a:ext>
                </a:extLst>
              </p:cNvPr>
              <p:cNvSpPr/>
              <p:nvPr userDrawn="1"/>
            </p:nvSpPr>
            <p:spPr>
              <a:xfrm rot="16200000" flipV="1">
                <a:off x="9499940" y="370908"/>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pt-BR"/>
                </a:defPPr>
              </a:lstStyle>
              <a:p>
                <a:pPr algn="ctr" rtl="0"/>
                <a:endParaRPr lang="pt-BR" dirty="0"/>
              </a:p>
            </p:txBody>
          </p:sp>
        </p:grpSp>
        <p:sp>
          <p:nvSpPr>
            <p:cNvPr id="22" name="Forma Livre 21">
              <a:extLst>
                <a:ext uri="{FF2B5EF4-FFF2-40B4-BE49-F238E27FC236}">
                  <a16:creationId xmlns:a16="http://schemas.microsoft.com/office/drawing/2014/main" id="{BC68F289-2744-2F48-893A-3F17911625C8}"/>
                </a:ext>
              </a:extLst>
            </p:cNvPr>
            <p:cNvSpPr/>
            <p:nvPr userDrawn="1"/>
          </p:nvSpPr>
          <p:spPr>
            <a:xfrm>
              <a:off x="0" y="-1"/>
              <a:ext cx="1167493" cy="1167493"/>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pt-BR"/>
              </a:defPPr>
            </a:lstStyle>
            <a:p>
              <a:pPr algn="ctr" rtl="0"/>
              <a:endParaRPr lang="pt-BR" dirty="0"/>
            </a:p>
          </p:txBody>
        </p:sp>
        <p:sp>
          <p:nvSpPr>
            <p:cNvPr id="17" name="Forma Livre 16">
              <a:extLst>
                <a:ext uri="{FF2B5EF4-FFF2-40B4-BE49-F238E27FC236}">
                  <a16:creationId xmlns:a16="http://schemas.microsoft.com/office/drawing/2014/main" id="{39563C76-BC00-DE47-88F5-C24D3CE3325A}"/>
                </a:ext>
              </a:extLst>
            </p:cNvPr>
            <p:cNvSpPr/>
            <p:nvPr userDrawn="1"/>
          </p:nvSpPr>
          <p:spPr>
            <a:xfrm>
              <a:off x="10228214" y="-1"/>
              <a:ext cx="1963787" cy="3178856"/>
            </a:xfrm>
            <a:custGeom>
              <a:avLst/>
              <a:gdLst>
                <a:gd name="connsiteX0" fmla="*/ 0 w 1963787"/>
                <a:gd name="connsiteY0" fmla="*/ 0 h 3178856"/>
                <a:gd name="connsiteX1" fmla="*/ 1963787 w 1963787"/>
                <a:gd name="connsiteY1" fmla="*/ 0 h 3178856"/>
                <a:gd name="connsiteX2" fmla="*/ 1963787 w 1963787"/>
                <a:gd name="connsiteY2" fmla="*/ 1967129 h 3178856"/>
                <a:gd name="connsiteX3" fmla="*/ 1963787 w 1963787"/>
                <a:gd name="connsiteY3" fmla="*/ 2349671 h 3178856"/>
                <a:gd name="connsiteX4" fmla="*/ 1963787 w 1963787"/>
                <a:gd name="connsiteY4" fmla="*/ 3178856 h 3178856"/>
                <a:gd name="connsiteX5" fmla="*/ 1963753 w 1963787"/>
                <a:gd name="connsiteY5" fmla="*/ 3178856 h 3178856"/>
                <a:gd name="connsiteX6" fmla="*/ 1763002 w 1963787"/>
                <a:gd name="connsiteY6" fmla="*/ 3168629 h 3178856"/>
                <a:gd name="connsiteX7" fmla="*/ 0 w 1963787"/>
                <a:gd name="connsiteY7" fmla="*/ 1197921 h 3178856"/>
                <a:gd name="connsiteX8" fmla="*/ 0 w 1963787"/>
                <a:gd name="connsiteY8" fmla="*/ 1039961 h 3178856"/>
                <a:gd name="connsiteX9" fmla="*/ 0 w 1963787"/>
                <a:gd name="connsiteY9" fmla="*/ 0 h 31788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963787" h="3178856">
                  <a:moveTo>
                    <a:pt x="0" y="0"/>
                  </a:moveTo>
                  <a:lnTo>
                    <a:pt x="1963787" y="0"/>
                  </a:lnTo>
                  <a:lnTo>
                    <a:pt x="1963787" y="1967129"/>
                  </a:lnTo>
                  <a:lnTo>
                    <a:pt x="1963787" y="2349671"/>
                  </a:lnTo>
                  <a:lnTo>
                    <a:pt x="1963787" y="3178856"/>
                  </a:lnTo>
                  <a:lnTo>
                    <a:pt x="1963753" y="3178856"/>
                  </a:lnTo>
                  <a:lnTo>
                    <a:pt x="1763002" y="3168629"/>
                  </a:lnTo>
                  <a:cubicBezTo>
                    <a:pt x="772749" y="3067186"/>
                    <a:pt x="0" y="2223585"/>
                    <a:pt x="0" y="1197921"/>
                  </a:cubicBezTo>
                  <a:lnTo>
                    <a:pt x="0" y="1039961"/>
                  </a:lnTo>
                  <a:lnTo>
                    <a:pt x="0"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pt-BR"/>
              </a:defPPr>
            </a:lstStyle>
            <a:p>
              <a:pPr algn="ctr" rtl="0"/>
              <a:endParaRPr lang="pt-BR" dirty="0"/>
            </a:p>
          </p:txBody>
        </p:sp>
      </p:grpSp>
      <p:sp>
        <p:nvSpPr>
          <p:cNvPr id="2" name="Título 1">
            <a:extLst>
              <a:ext uri="{FF2B5EF4-FFF2-40B4-BE49-F238E27FC236}">
                <a16:creationId xmlns:a16="http://schemas.microsoft.com/office/drawing/2014/main" id="{494248F2-5264-4601-AA0B-6C092F77F2DD}"/>
              </a:ext>
            </a:extLst>
          </p:cNvPr>
          <p:cNvSpPr>
            <a:spLocks noGrp="1"/>
          </p:cNvSpPr>
          <p:nvPr>
            <p:ph type="ctrTitle" hasCustomPrompt="1"/>
          </p:nvPr>
        </p:nvSpPr>
        <p:spPr>
          <a:xfrm>
            <a:off x="1167494" y="252549"/>
            <a:ext cx="6220278" cy="3262811"/>
          </a:xfrm>
        </p:spPr>
        <p:txBody>
          <a:bodyPr rtlCol="0" anchor="b">
            <a:noAutofit/>
          </a:bodyPr>
          <a:lstStyle>
            <a:lvl1pPr algn="l">
              <a:defRPr lang="pt-BR" sz="6000" b="1">
                <a:latin typeface="+mj-lt"/>
              </a:defRPr>
            </a:lvl1pPr>
          </a:lstStyle>
          <a:p>
            <a:pPr rtl="0"/>
            <a:r>
              <a:rPr lang="pt-BR"/>
              <a:t>Clique para adicionar um título</a:t>
            </a:r>
          </a:p>
        </p:txBody>
      </p:sp>
      <p:sp>
        <p:nvSpPr>
          <p:cNvPr id="3" name="Subtítulo 2">
            <a:extLst>
              <a:ext uri="{FF2B5EF4-FFF2-40B4-BE49-F238E27FC236}">
                <a16:creationId xmlns:a16="http://schemas.microsoft.com/office/drawing/2014/main" id="{DCFB69D3-5632-4285-A209-9DCA67DA668C}"/>
              </a:ext>
            </a:extLst>
          </p:cNvPr>
          <p:cNvSpPr>
            <a:spLocks noGrp="1"/>
          </p:cNvSpPr>
          <p:nvPr>
            <p:ph type="subTitle" idx="1" hasCustomPrompt="1"/>
          </p:nvPr>
        </p:nvSpPr>
        <p:spPr>
          <a:xfrm>
            <a:off x="1167493" y="3685939"/>
            <a:ext cx="6220277" cy="2919512"/>
          </a:xfrm>
        </p:spPr>
        <p:txBody>
          <a:bodyPr rtlCol="0" anchor="t" anchorCtr="0">
            <a:normAutofit/>
          </a:bodyPr>
          <a:lstStyle>
            <a:lvl1pPr marL="0" indent="0" algn="l">
              <a:buNone/>
              <a:defRPr lang="pt-BR" sz="2800">
                <a:latin typeface="+mn-lt"/>
              </a:defRPr>
            </a:lvl1pPr>
            <a:lvl2pPr marL="457200" indent="0" algn="ctr">
              <a:buNone/>
              <a:defRPr lang="pt-BR" sz="2000"/>
            </a:lvl2pPr>
            <a:lvl3pPr marL="914400" indent="0" algn="ctr">
              <a:buNone/>
              <a:defRPr lang="pt-BR" sz="1800"/>
            </a:lvl3pPr>
            <a:lvl4pPr marL="1371600" indent="0" algn="ctr">
              <a:buNone/>
              <a:defRPr lang="pt-BR" sz="1600"/>
            </a:lvl4pPr>
            <a:lvl5pPr marL="1828800" indent="0" algn="ctr">
              <a:buNone/>
              <a:defRPr lang="pt-BR" sz="1600"/>
            </a:lvl5pPr>
            <a:lvl6pPr marL="2286000" indent="0" algn="ctr">
              <a:buNone/>
              <a:defRPr lang="pt-BR" sz="1600"/>
            </a:lvl6pPr>
            <a:lvl7pPr marL="2743200" indent="0" algn="ctr">
              <a:buNone/>
              <a:defRPr lang="pt-BR" sz="1600"/>
            </a:lvl7pPr>
            <a:lvl8pPr marL="3200400" indent="0" algn="ctr">
              <a:buNone/>
              <a:defRPr lang="pt-BR" sz="1600"/>
            </a:lvl8pPr>
            <a:lvl9pPr marL="3657600" indent="0" algn="ctr">
              <a:buNone/>
              <a:defRPr lang="pt-BR" sz="1600"/>
            </a:lvl9pPr>
          </a:lstStyle>
          <a:p>
            <a:pPr lvl="0" rtl="0"/>
            <a:r>
              <a:rPr lang="pt-BR"/>
              <a:t>Clique para adicionar o texto</a:t>
            </a:r>
          </a:p>
        </p:txBody>
      </p:sp>
    </p:spTree>
    <p:extLst>
      <p:ext uri="{BB962C8B-B14F-4D97-AF65-F5344CB8AC3E}">
        <p14:creationId xmlns:p14="http://schemas.microsoft.com/office/powerpoint/2010/main" val="25447069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Título 1">
            <a:extLst>
              <a:ext uri="{FF2B5EF4-FFF2-40B4-BE49-F238E27FC236}">
                <a16:creationId xmlns:a16="http://schemas.microsoft.com/office/drawing/2014/main" id="{9198F9AA-2C87-421D-97C1-B4248DFDC2C2}"/>
              </a:ext>
            </a:extLst>
          </p:cNvPr>
          <p:cNvSpPr>
            <a:spLocks noGrp="1"/>
          </p:cNvSpPr>
          <p:nvPr>
            <p:ph type="title"/>
          </p:nvPr>
        </p:nvSpPr>
        <p:spPr>
          <a:xfrm>
            <a:off x="381000" y="381000"/>
            <a:ext cx="11430000" cy="1325563"/>
          </a:xfrm>
          <a:prstGeom prst="rect">
            <a:avLst/>
          </a:prstGeom>
        </p:spPr>
        <p:txBody>
          <a:bodyPr vert="horz" lIns="91440" tIns="45720" rIns="91440" bIns="45720" rtlCol="0" anchor="ctr">
            <a:noAutofit/>
          </a:bodyPr>
          <a:lstStyle>
            <a:defPPr>
              <a:defRPr lang="pt-BR"/>
            </a:defPPr>
          </a:lstStyle>
          <a:p>
            <a:pPr rtl="0"/>
            <a:r>
              <a:rPr lang="pt-BR"/>
              <a:t>Clique para editar o estilo de título Mestre</a:t>
            </a:r>
          </a:p>
        </p:txBody>
      </p:sp>
      <p:sp>
        <p:nvSpPr>
          <p:cNvPr id="3" name="Espaço Reservado para Texto 2">
            <a:extLst>
              <a:ext uri="{FF2B5EF4-FFF2-40B4-BE49-F238E27FC236}">
                <a16:creationId xmlns:a16="http://schemas.microsoft.com/office/drawing/2014/main" id="{AE98FC63-C8D2-4CE6-A3F1-EE8ED24590C4}"/>
              </a:ext>
            </a:extLst>
          </p:cNvPr>
          <p:cNvSpPr>
            <a:spLocks noGrp="1"/>
          </p:cNvSpPr>
          <p:nvPr>
            <p:ph type="body" idx="1"/>
          </p:nvPr>
        </p:nvSpPr>
        <p:spPr>
          <a:xfrm>
            <a:off x="381000" y="1825625"/>
            <a:ext cx="11430000" cy="4351338"/>
          </a:xfrm>
          <a:prstGeom prst="rect">
            <a:avLst/>
          </a:prstGeom>
        </p:spPr>
        <p:txBody>
          <a:bodyPr vert="horz" lIns="91440" tIns="45720" rIns="91440" bIns="45720" rtlCol="0">
            <a:noAutofit/>
          </a:bodyPr>
          <a:lstStyle>
            <a:defPPr>
              <a:defRPr lang="pt-BR"/>
            </a:defPPr>
          </a:lstStyle>
          <a:p>
            <a:pPr lvl="0" rtl="0"/>
            <a:r>
              <a:rPr lang="pt-BR"/>
              <a:t>Clique para editar o texto Mestre</a:t>
            </a:r>
          </a:p>
          <a:p>
            <a:pPr lvl="1" rtl="0"/>
            <a:r>
              <a:rPr lang="pt-BR"/>
              <a:t>Segundo nível</a:t>
            </a:r>
          </a:p>
          <a:p>
            <a:pPr lvl="2" rtl="0"/>
            <a:r>
              <a:rPr lang="pt-BR"/>
              <a:t>Terceiro nível</a:t>
            </a:r>
          </a:p>
          <a:p>
            <a:pPr lvl="3" rtl="0"/>
            <a:r>
              <a:rPr lang="pt-BR"/>
              <a:t>Quarto nível</a:t>
            </a:r>
          </a:p>
          <a:p>
            <a:pPr lvl="4" rtl="0"/>
            <a:r>
              <a:rPr lang="pt-BR"/>
              <a:t>Quinto nível</a:t>
            </a:r>
          </a:p>
        </p:txBody>
      </p:sp>
      <p:sp>
        <p:nvSpPr>
          <p:cNvPr id="4" name="Espaço Reservado para Data 3">
            <a:extLst>
              <a:ext uri="{FF2B5EF4-FFF2-40B4-BE49-F238E27FC236}">
                <a16:creationId xmlns:a16="http://schemas.microsoft.com/office/drawing/2014/main" id="{EED77A09-15C2-4E47-948E-AACAFCA47D40}"/>
              </a:ext>
            </a:extLst>
          </p:cNvPr>
          <p:cNvSpPr>
            <a:spLocks noGrp="1"/>
          </p:cNvSpPr>
          <p:nvPr>
            <p:ph type="dt" sz="half" idx="2"/>
          </p:nvPr>
        </p:nvSpPr>
        <p:spPr>
          <a:xfrm>
            <a:off x="381000" y="6356350"/>
            <a:ext cx="2743200" cy="365125"/>
          </a:xfrm>
          <a:prstGeom prst="rect">
            <a:avLst/>
          </a:prstGeom>
        </p:spPr>
        <p:txBody>
          <a:bodyPr vert="horz" lIns="91440" tIns="45720" rIns="91440" bIns="45720" rtlCol="0" anchor="ctr">
            <a:noAutofit/>
          </a:bodyPr>
          <a:lstStyle>
            <a:lvl1pPr algn="l">
              <a:defRPr lang="pt-BR" sz="1200">
                <a:solidFill>
                  <a:schemeClr val="tx2"/>
                </a:solidFill>
                <a:latin typeface="+mn-lt"/>
              </a:defRPr>
            </a:lvl1pPr>
          </a:lstStyle>
          <a:p>
            <a:pPr rtl="0"/>
            <a:r>
              <a:rPr lang="pt-BR"/>
              <a:t>8/9/20XX</a:t>
            </a:r>
          </a:p>
        </p:txBody>
      </p:sp>
      <p:sp>
        <p:nvSpPr>
          <p:cNvPr id="5" name="Espaço Reservado para Rodapé 4">
            <a:extLst>
              <a:ext uri="{FF2B5EF4-FFF2-40B4-BE49-F238E27FC236}">
                <a16:creationId xmlns:a16="http://schemas.microsoft.com/office/drawing/2014/main" id="{60567522-C3B6-46EB-A361-BEC2510B00C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lang="pt-BR" sz="1200">
                <a:solidFill>
                  <a:schemeClr val="tx2"/>
                </a:solidFill>
                <a:latin typeface="+mn-lt"/>
              </a:defRPr>
            </a:lvl1pPr>
          </a:lstStyle>
          <a:p>
            <a:pPr rtl="0"/>
            <a:endParaRPr lang="pt-BR" dirty="0"/>
          </a:p>
        </p:txBody>
      </p:sp>
      <p:sp>
        <p:nvSpPr>
          <p:cNvPr id="6" name="Espaço Reservado para o Número do Slide 5">
            <a:extLst>
              <a:ext uri="{FF2B5EF4-FFF2-40B4-BE49-F238E27FC236}">
                <a16:creationId xmlns:a16="http://schemas.microsoft.com/office/drawing/2014/main" id="{CDC57CF0-034F-450D-937C-718D5AF1A059}"/>
              </a:ext>
            </a:extLst>
          </p:cNvPr>
          <p:cNvSpPr>
            <a:spLocks noGrp="1"/>
          </p:cNvSpPr>
          <p:nvPr>
            <p:ph type="sldNum" sz="quarter" idx="4"/>
          </p:nvPr>
        </p:nvSpPr>
        <p:spPr>
          <a:xfrm>
            <a:off x="9067800" y="6356350"/>
            <a:ext cx="2743200" cy="365125"/>
          </a:xfrm>
          <a:prstGeom prst="rect">
            <a:avLst/>
          </a:prstGeom>
        </p:spPr>
        <p:txBody>
          <a:bodyPr vert="horz" lIns="91440" tIns="45720" rIns="91440" bIns="45720" rtlCol="0" anchor="ctr">
            <a:noAutofit/>
          </a:bodyPr>
          <a:lstStyle>
            <a:lvl1pPr algn="r">
              <a:defRPr lang="pt-BR" sz="1200">
                <a:solidFill>
                  <a:schemeClr val="tx2"/>
                </a:solidFill>
                <a:latin typeface="+mn-lt"/>
              </a:defRPr>
            </a:lvl1pPr>
          </a:lstStyle>
          <a:p>
            <a:pPr rtl="0"/>
            <a:fld id="{294A09A9-5501-47C1-A89A-A340965A2BE2}" type="slidenum">
              <a:rPr lang="pt-BR" smtClean="0"/>
              <a:pPr rtl="0"/>
              <a:t>‹nº›</a:t>
            </a:fld>
            <a:endParaRPr lang="pt-BR" dirty="0"/>
          </a:p>
        </p:txBody>
      </p:sp>
    </p:spTree>
    <p:extLst>
      <p:ext uri="{BB962C8B-B14F-4D97-AF65-F5344CB8AC3E}">
        <p14:creationId xmlns:p14="http://schemas.microsoft.com/office/powerpoint/2010/main" val="178835397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73" r:id="rId3"/>
    <p:sldLayoutId id="2147483674" r:id="rId4"/>
    <p:sldLayoutId id="2147483671" r:id="rId5"/>
    <p:sldLayoutId id="2147483659" r:id="rId6"/>
    <p:sldLayoutId id="2147483668" r:id="rId7"/>
    <p:sldLayoutId id="2147483669" r:id="rId8"/>
    <p:sldLayoutId id="2147483661" r:id="rId9"/>
    <p:sldLayoutId id="2147483666" r:id="rId10"/>
  </p:sldLayoutIdLst>
  <p:hf sldNum="0" hdr="0" ftr="0" dt="0"/>
  <p:txStyles>
    <p:titleStyle>
      <a:lvl1pPr algn="l" defTabSz="914400" rtl="0" eaLnBrk="1" latinLnBrk="0" hangingPunct="1">
        <a:lnSpc>
          <a:spcPct val="80000"/>
        </a:lnSpc>
        <a:spcBef>
          <a:spcPct val="0"/>
        </a:spcBef>
        <a:buNone/>
        <a:defRPr lang="pt-B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lang="pt-B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lang="pt-B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lang="pt-B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lang="pt-B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lang="pt-B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lang="pt-B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lang="pt-B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lang="pt-B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lang="pt-BR" sz="1800" kern="1200">
          <a:solidFill>
            <a:schemeClr val="tx1"/>
          </a:solidFill>
          <a:latin typeface="+mn-lt"/>
          <a:ea typeface="+mn-ea"/>
          <a:cs typeface="+mn-cs"/>
        </a:defRPr>
      </a:lvl9pPr>
    </p:bodyStyle>
    <p:otherStyle>
      <a:defPPr>
        <a:defRPr lang="pt-BR"/>
      </a:defPPr>
      <a:lvl1pPr marL="0" algn="l" defTabSz="914400" rtl="0" eaLnBrk="1" latinLnBrk="0" hangingPunct="1">
        <a:defRPr lang="pt-BR" sz="1800" kern="1200">
          <a:solidFill>
            <a:schemeClr val="tx1"/>
          </a:solidFill>
          <a:latin typeface="+mn-lt"/>
          <a:ea typeface="+mn-ea"/>
          <a:cs typeface="+mn-cs"/>
        </a:defRPr>
      </a:lvl1pPr>
      <a:lvl2pPr marL="457200" algn="l" defTabSz="914400" rtl="0" eaLnBrk="1" latinLnBrk="0" hangingPunct="1">
        <a:defRPr lang="pt-BR" sz="1800" kern="1200">
          <a:solidFill>
            <a:schemeClr val="tx1"/>
          </a:solidFill>
          <a:latin typeface="+mn-lt"/>
          <a:ea typeface="+mn-ea"/>
          <a:cs typeface="+mn-cs"/>
        </a:defRPr>
      </a:lvl2pPr>
      <a:lvl3pPr marL="914400" algn="l" defTabSz="914400" rtl="0" eaLnBrk="1" latinLnBrk="0" hangingPunct="1">
        <a:defRPr lang="pt-BR" sz="1800" kern="1200">
          <a:solidFill>
            <a:schemeClr val="tx1"/>
          </a:solidFill>
          <a:latin typeface="+mn-lt"/>
          <a:ea typeface="+mn-ea"/>
          <a:cs typeface="+mn-cs"/>
        </a:defRPr>
      </a:lvl3pPr>
      <a:lvl4pPr marL="1371600" algn="l" defTabSz="914400" rtl="0" eaLnBrk="1" latinLnBrk="0" hangingPunct="1">
        <a:defRPr lang="pt-BR" sz="1800" kern="1200">
          <a:solidFill>
            <a:schemeClr val="tx1"/>
          </a:solidFill>
          <a:latin typeface="+mn-lt"/>
          <a:ea typeface="+mn-ea"/>
          <a:cs typeface="+mn-cs"/>
        </a:defRPr>
      </a:lvl4pPr>
      <a:lvl5pPr marL="1828800" algn="l" defTabSz="914400" rtl="0" eaLnBrk="1" latinLnBrk="0" hangingPunct="1">
        <a:defRPr lang="pt-BR" sz="1800" kern="1200">
          <a:solidFill>
            <a:schemeClr val="tx1"/>
          </a:solidFill>
          <a:latin typeface="+mn-lt"/>
          <a:ea typeface="+mn-ea"/>
          <a:cs typeface="+mn-cs"/>
        </a:defRPr>
      </a:lvl5pPr>
      <a:lvl6pPr marL="2286000" algn="l" defTabSz="914400" rtl="0" eaLnBrk="1" latinLnBrk="0" hangingPunct="1">
        <a:defRPr lang="pt-BR" sz="1800" kern="1200">
          <a:solidFill>
            <a:schemeClr val="tx1"/>
          </a:solidFill>
          <a:latin typeface="+mn-lt"/>
          <a:ea typeface="+mn-ea"/>
          <a:cs typeface="+mn-cs"/>
        </a:defRPr>
      </a:lvl6pPr>
      <a:lvl7pPr marL="2743200" algn="l" defTabSz="914400" rtl="0" eaLnBrk="1" latinLnBrk="0" hangingPunct="1">
        <a:defRPr lang="pt-BR" sz="1800" kern="1200">
          <a:solidFill>
            <a:schemeClr val="tx1"/>
          </a:solidFill>
          <a:latin typeface="+mn-lt"/>
          <a:ea typeface="+mn-ea"/>
          <a:cs typeface="+mn-cs"/>
        </a:defRPr>
      </a:lvl7pPr>
      <a:lvl8pPr marL="3200400" algn="l" defTabSz="914400" rtl="0" eaLnBrk="1" latinLnBrk="0" hangingPunct="1">
        <a:defRPr lang="pt-BR" sz="1800" kern="1200">
          <a:solidFill>
            <a:schemeClr val="tx1"/>
          </a:solidFill>
          <a:latin typeface="+mn-lt"/>
          <a:ea typeface="+mn-ea"/>
          <a:cs typeface="+mn-cs"/>
        </a:defRPr>
      </a:lvl8pPr>
      <a:lvl9pPr marL="3657600" algn="l" defTabSz="914400" rtl="0" eaLnBrk="1" latinLnBrk="0" hangingPunct="1">
        <a:defRPr lang="pt-B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A4A3A4"/>
          </p15:clr>
        </p15:guide>
        <p15:guide id="2" pos="3840">
          <p15:clr>
            <a:srgbClr val="A4A3A4"/>
          </p15:clr>
        </p15:guide>
        <p15:guide id="3" pos="240">
          <p15:clr>
            <a:srgbClr val="547EBF"/>
          </p15:clr>
        </p15:guide>
        <p15:guide id="4" orient="horz" pos="240">
          <p15:clr>
            <a:srgbClr val="547EBF"/>
          </p15:clr>
        </p15:guide>
        <p15:guide id="5" pos="7440">
          <p15:clr>
            <a:srgbClr val="547EBF"/>
          </p15:clr>
        </p15:guide>
        <p15:guide id="6" orient="horz" pos="4080">
          <p15:clr>
            <a:srgbClr val="547EBF"/>
          </p15:clr>
        </p15:guide>
        <p15:guide id="7" pos="3960">
          <p15:clr>
            <a:srgbClr val="547EBF"/>
          </p15:clr>
        </p15:guide>
        <p15:guide id="8" pos="3720">
          <p15:clr>
            <a:srgbClr val="547EBF"/>
          </p15:clr>
        </p15:guide>
        <p15:guide id="9" pos="2112">
          <p15:clr>
            <a:srgbClr val="547EBF"/>
          </p15:clr>
        </p15:guide>
        <p15:guide id="10" pos="1848">
          <p15:clr>
            <a:srgbClr val="547EBF"/>
          </p15:clr>
        </p15:guide>
        <p15:guide id="11" pos="5568">
          <p15:clr>
            <a:srgbClr val="547EBF"/>
          </p15:clr>
        </p15:guide>
        <p15:guide id="12" pos="5832">
          <p15:clr>
            <a:srgbClr val="547EBF"/>
          </p15:clr>
        </p15:guide>
        <p15:guide id="13" pos="4968">
          <p15:clr>
            <a:srgbClr val="9FCC3B"/>
          </p15:clr>
        </p15:guide>
        <p15:guide id="14" pos="5208">
          <p15:clr>
            <a:srgbClr val="9FCC3B"/>
          </p15:clr>
        </p15:guide>
        <p15:guide id="15" pos="2712">
          <p15:clr>
            <a:srgbClr val="9FCC3B"/>
          </p15:clr>
        </p15:guide>
        <p15:guide id="16" pos="2472">
          <p15:clr>
            <a:srgbClr val="9FCC3B"/>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xml"/><Relationship Id="rId1" Type="http://schemas.openxmlformats.org/officeDocument/2006/relationships/slideLayout" Target="../slideLayouts/slideLayout4.xml"/><Relationship Id="rId5" Type="http://schemas.openxmlformats.org/officeDocument/2006/relationships/image" Target="../media/image4.jpg"/><Relationship Id="rId4" Type="http://schemas.openxmlformats.org/officeDocument/2006/relationships/image" Target="../media/image3.jp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5.xml"/><Relationship Id="rId4" Type="http://schemas.openxmlformats.org/officeDocument/2006/relationships/image" Target="../media/image6.jp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F148DD4-4828-CE87-0C5C-42BE175E8DA5}"/>
              </a:ext>
            </a:extLst>
          </p:cNvPr>
          <p:cNvSpPr>
            <a:spLocks noGrp="1"/>
          </p:cNvSpPr>
          <p:nvPr>
            <p:ph type="title"/>
          </p:nvPr>
        </p:nvSpPr>
        <p:spPr/>
        <p:txBody>
          <a:bodyPr rtlCol="0" anchor="b">
            <a:normAutofit/>
          </a:bodyPr>
          <a:lstStyle>
            <a:defPPr>
              <a:defRPr lang="pt-BR"/>
            </a:defPPr>
          </a:lstStyle>
          <a:p>
            <a:pPr rtl="0"/>
            <a:r>
              <a:rPr lang="pt-BR" sz="4700" dirty="0"/>
              <a:t>“</a:t>
            </a:r>
            <a:r>
              <a:rPr lang="pt-BR" sz="4700" dirty="0" err="1"/>
              <a:t>Algorithms</a:t>
            </a:r>
            <a:r>
              <a:rPr lang="pt-BR" sz="4700" dirty="0"/>
              <a:t> </a:t>
            </a:r>
            <a:r>
              <a:rPr lang="pt-BR" sz="4700" dirty="0" err="1"/>
              <a:t>at</a:t>
            </a:r>
            <a:r>
              <a:rPr lang="pt-BR" sz="4700" dirty="0"/>
              <a:t> </a:t>
            </a:r>
            <a:r>
              <a:rPr lang="pt-BR" sz="4700" dirty="0" err="1"/>
              <a:t>Work</a:t>
            </a:r>
            <a:r>
              <a:rPr lang="pt-BR" sz="4700" dirty="0"/>
              <a:t>: </a:t>
            </a:r>
            <a:r>
              <a:rPr lang="pt-BR" sz="4700" dirty="0" err="1"/>
              <a:t>the</a:t>
            </a:r>
            <a:r>
              <a:rPr lang="pt-BR" sz="4700" dirty="0"/>
              <a:t> new </a:t>
            </a:r>
            <a:r>
              <a:rPr lang="pt-BR" sz="4700" dirty="0" err="1"/>
              <a:t>contested</a:t>
            </a:r>
            <a:r>
              <a:rPr lang="pt-BR" sz="4700" dirty="0"/>
              <a:t> </a:t>
            </a:r>
            <a:r>
              <a:rPr lang="pt-BR" sz="4700" dirty="0" err="1"/>
              <a:t>terrain</a:t>
            </a:r>
            <a:r>
              <a:rPr lang="pt-BR" sz="4700" dirty="0"/>
              <a:t> </a:t>
            </a:r>
            <a:r>
              <a:rPr lang="pt-BR" sz="4700" dirty="0" err="1"/>
              <a:t>of</a:t>
            </a:r>
            <a:r>
              <a:rPr lang="pt-BR" sz="4700" dirty="0"/>
              <a:t> </a:t>
            </a:r>
            <a:r>
              <a:rPr lang="pt-BR" sz="4700" dirty="0" err="1"/>
              <a:t>control</a:t>
            </a:r>
            <a:r>
              <a:rPr lang="pt-BR" sz="4700" dirty="0"/>
              <a:t>”</a:t>
            </a:r>
            <a:endParaRPr lang="pt-BR" sz="4700" b="0" i="1" dirty="0"/>
          </a:p>
        </p:txBody>
      </p:sp>
      <p:sp>
        <p:nvSpPr>
          <p:cNvPr id="15" name="Subtitle 2">
            <a:extLst>
              <a:ext uri="{FF2B5EF4-FFF2-40B4-BE49-F238E27FC236}">
                <a16:creationId xmlns:a16="http://schemas.microsoft.com/office/drawing/2014/main" id="{A8D0AE23-2C33-E30E-1B3F-A8F0D12CF2C2}"/>
              </a:ext>
            </a:extLst>
          </p:cNvPr>
          <p:cNvSpPr>
            <a:spLocks noGrp="1"/>
          </p:cNvSpPr>
          <p:nvPr>
            <p:ph type="subTitle" idx="1"/>
          </p:nvPr>
        </p:nvSpPr>
        <p:spPr/>
        <p:txBody>
          <a:bodyPr anchor="t">
            <a:normAutofit/>
          </a:bodyPr>
          <a:lstStyle/>
          <a:p>
            <a:r>
              <a:rPr lang="en-US" sz="2200" dirty="0" err="1"/>
              <a:t>Artigo</a:t>
            </a:r>
            <a:r>
              <a:rPr lang="en-US" sz="2200" dirty="0"/>
              <a:t> </a:t>
            </a:r>
            <a:r>
              <a:rPr lang="en-US" sz="2200" dirty="0" err="1"/>
              <a:t>publicado</a:t>
            </a:r>
            <a:r>
              <a:rPr lang="en-US" sz="2200" dirty="0"/>
              <a:t> </a:t>
            </a:r>
            <a:r>
              <a:rPr lang="en-US" sz="2200" dirty="0" err="1"/>
              <a:t>em</a:t>
            </a:r>
            <a:r>
              <a:rPr lang="en-US" sz="2200" dirty="0"/>
              <a:t> 2020 </a:t>
            </a:r>
            <a:r>
              <a:rPr lang="en-US" sz="2200" dirty="0" err="1"/>
              <a:t>nos</a:t>
            </a:r>
            <a:r>
              <a:rPr lang="en-US" sz="2200" dirty="0"/>
              <a:t> Anais da Academia de </a:t>
            </a:r>
            <a:r>
              <a:rPr lang="en-US" sz="2200" dirty="0" err="1"/>
              <a:t>Administração</a:t>
            </a:r>
            <a:r>
              <a:rPr lang="en-US" sz="2200" dirty="0"/>
              <a:t> - volume 1, </a:t>
            </a:r>
          </a:p>
          <a:p>
            <a:r>
              <a:rPr lang="en-US" sz="2200" b="1" dirty="0"/>
              <a:t>Por Katherine Kellogg, Melissa Valentine e </a:t>
            </a:r>
            <a:r>
              <a:rPr lang="en-US" sz="2200" b="1" dirty="0" err="1"/>
              <a:t>Angèle</a:t>
            </a:r>
            <a:r>
              <a:rPr lang="en-US" sz="2200" b="1" dirty="0"/>
              <a:t> Christin</a:t>
            </a:r>
          </a:p>
        </p:txBody>
      </p:sp>
      <p:pic>
        <p:nvPicPr>
          <p:cNvPr id="18" name="Espaço Reservado para Imagem 17">
            <a:extLst>
              <a:ext uri="{FF2B5EF4-FFF2-40B4-BE49-F238E27FC236}">
                <a16:creationId xmlns:a16="http://schemas.microsoft.com/office/drawing/2014/main" id="{25F49719-796A-27F8-B47C-F7D01AED284C}"/>
              </a:ext>
            </a:extLst>
          </p:cNvPr>
          <p:cNvPicPr>
            <a:picLocks noGrp="1" noChangeAspect="1"/>
          </p:cNvPicPr>
          <p:nvPr>
            <p:ph type="pic" sz="quarter" idx="10"/>
          </p:nvPr>
        </p:nvPicPr>
        <p:blipFill>
          <a:blip r:embed="rId3"/>
          <a:srcRect l="18893" r="18893"/>
          <a:stretch/>
        </p:blipFill>
        <p:spPr/>
      </p:pic>
    </p:spTree>
    <p:extLst>
      <p:ext uri="{BB962C8B-B14F-4D97-AF65-F5344CB8AC3E}">
        <p14:creationId xmlns:p14="http://schemas.microsoft.com/office/powerpoint/2010/main" val="366267716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12DF434-28DB-4621-A497-D62C41CE0419}"/>
              </a:ext>
            </a:extLst>
          </p:cNvPr>
          <p:cNvSpPr>
            <a:spLocks noGrp="1"/>
          </p:cNvSpPr>
          <p:nvPr>
            <p:ph type="title"/>
          </p:nvPr>
        </p:nvSpPr>
        <p:spPr>
          <a:xfrm>
            <a:off x="5943599" y="457200"/>
            <a:ext cx="5329645" cy="1554480"/>
          </a:xfrm>
        </p:spPr>
        <p:txBody>
          <a:bodyPr rtlCol="0" anchor="b">
            <a:normAutofit fontScale="90000"/>
          </a:bodyPr>
          <a:lstStyle>
            <a:defPPr>
              <a:defRPr lang="pt-BR"/>
            </a:defPPr>
          </a:lstStyle>
          <a:p>
            <a:r>
              <a:rPr lang="pt-BR" dirty="0"/>
              <a:t>Sobre as autoras</a:t>
            </a:r>
          </a:p>
        </p:txBody>
      </p:sp>
      <p:sp>
        <p:nvSpPr>
          <p:cNvPr id="3" name="Espaço Reservado para Conteúdo 2">
            <a:extLst>
              <a:ext uri="{FF2B5EF4-FFF2-40B4-BE49-F238E27FC236}">
                <a16:creationId xmlns:a16="http://schemas.microsoft.com/office/drawing/2014/main" id="{22788C46-D0BC-4307-AE55-7601A139E7CB}"/>
              </a:ext>
            </a:extLst>
          </p:cNvPr>
          <p:cNvSpPr>
            <a:spLocks noGrp="1"/>
          </p:cNvSpPr>
          <p:nvPr>
            <p:ph type="subTitle" idx="1"/>
          </p:nvPr>
        </p:nvSpPr>
        <p:spPr>
          <a:xfrm>
            <a:off x="5943598" y="2011680"/>
            <a:ext cx="5120640" cy="3474720"/>
          </a:xfrm>
        </p:spPr>
        <p:txBody>
          <a:bodyPr vert="horz" lIns="91440" tIns="45720" rIns="91440" bIns="45720" rtlCol="0" anchor="t">
            <a:normAutofit lnSpcReduction="10000"/>
          </a:bodyPr>
          <a:lstStyle>
            <a:defPPr>
              <a:defRPr lang="pt-BR"/>
            </a:defPPr>
          </a:lstStyle>
          <a:p>
            <a:r>
              <a:rPr lang="pt-BR" sz="2000" dirty="0"/>
              <a:t>Katherine Kellogg é professora no MIT e atua na promoção de tecnologias de IA generativa e preditiva junto a organizações e a trabalhadores</a:t>
            </a:r>
          </a:p>
          <a:p>
            <a:r>
              <a:rPr lang="pt-BR" sz="2000" dirty="0" err="1"/>
              <a:t>Angèle</a:t>
            </a:r>
            <a:r>
              <a:rPr lang="pt-BR" sz="2000" dirty="0"/>
              <a:t> </a:t>
            </a:r>
            <a:r>
              <a:rPr lang="pt-BR" sz="2000" dirty="0" err="1"/>
              <a:t>Christin</a:t>
            </a:r>
            <a:r>
              <a:rPr lang="pt-BR" sz="2000" dirty="0"/>
              <a:t> é professora na Universidade de Stanford e estuda a influência de algoritmos e da análise de dados nas práticas laborais</a:t>
            </a:r>
          </a:p>
          <a:p>
            <a:r>
              <a:rPr lang="pt-BR" sz="2000" dirty="0"/>
              <a:t>Melissa Valentine é professora na Universidade de Stanford e estuda o impacto da tecnologia no mundo do trabalho e em organizações</a:t>
            </a:r>
          </a:p>
        </p:txBody>
      </p:sp>
      <p:pic>
        <p:nvPicPr>
          <p:cNvPr id="8" name="Espaço Reservado para Imagem 7">
            <a:extLst>
              <a:ext uri="{FF2B5EF4-FFF2-40B4-BE49-F238E27FC236}">
                <a16:creationId xmlns:a16="http://schemas.microsoft.com/office/drawing/2014/main" id="{658094B0-3CED-806D-4099-255D147580E3}"/>
              </a:ext>
            </a:extLst>
          </p:cNvPr>
          <p:cNvPicPr>
            <a:picLocks noGrp="1" noChangeAspect="1"/>
          </p:cNvPicPr>
          <p:nvPr>
            <p:ph type="pic" sz="quarter" idx="10"/>
          </p:nvPr>
        </p:nvPicPr>
        <p:blipFill>
          <a:blip r:embed="rId3"/>
          <a:srcRect l="228" r="228"/>
          <a:stretch/>
        </p:blipFill>
        <p:spPr>
          <a:xfrm>
            <a:off x="1987384" y="1234440"/>
            <a:ext cx="2305974" cy="2316549"/>
          </a:xfrm>
        </p:spPr>
      </p:pic>
      <p:pic>
        <p:nvPicPr>
          <p:cNvPr id="7" name="Espaço Reservado para Imagem 7">
            <a:extLst>
              <a:ext uri="{FF2B5EF4-FFF2-40B4-BE49-F238E27FC236}">
                <a16:creationId xmlns:a16="http://schemas.microsoft.com/office/drawing/2014/main" id="{A4D1E355-9A7D-ABF8-8F48-4B0BAC61B650}"/>
              </a:ext>
            </a:extLst>
          </p:cNvPr>
          <p:cNvPicPr>
            <a:picLocks noChangeAspect="1"/>
          </p:cNvPicPr>
          <p:nvPr/>
        </p:nvPicPr>
        <p:blipFill>
          <a:blip r:embed="rId4"/>
          <a:srcRect t="16575" b="16575"/>
          <a:stretch/>
        </p:blipFill>
        <p:spPr>
          <a:xfrm>
            <a:off x="546149" y="3169851"/>
            <a:ext cx="2305974" cy="2316549"/>
          </a:xfrm>
          <a:prstGeom prst="ellipse">
            <a:avLst/>
          </a:prstGeom>
          <a:solidFill>
            <a:schemeClr val="accent2"/>
          </a:solidFill>
        </p:spPr>
      </p:pic>
      <p:pic>
        <p:nvPicPr>
          <p:cNvPr id="9" name="Espaço Reservado para Imagem 7">
            <a:extLst>
              <a:ext uri="{FF2B5EF4-FFF2-40B4-BE49-F238E27FC236}">
                <a16:creationId xmlns:a16="http://schemas.microsoft.com/office/drawing/2014/main" id="{71104AF5-1D50-6535-A14F-5631699819E5}"/>
              </a:ext>
            </a:extLst>
          </p:cNvPr>
          <p:cNvPicPr>
            <a:picLocks noChangeAspect="1"/>
          </p:cNvPicPr>
          <p:nvPr/>
        </p:nvPicPr>
        <p:blipFill>
          <a:blip r:embed="rId5"/>
          <a:srcRect l="228" r="228"/>
          <a:stretch/>
        </p:blipFill>
        <p:spPr>
          <a:xfrm>
            <a:off x="3428617" y="3169851"/>
            <a:ext cx="2305974" cy="2316549"/>
          </a:xfrm>
          <a:prstGeom prst="ellipse">
            <a:avLst/>
          </a:prstGeom>
          <a:solidFill>
            <a:schemeClr val="accent2"/>
          </a:solidFill>
        </p:spPr>
      </p:pic>
    </p:spTree>
    <p:extLst>
      <p:ext uri="{BB962C8B-B14F-4D97-AF65-F5344CB8AC3E}">
        <p14:creationId xmlns:p14="http://schemas.microsoft.com/office/powerpoint/2010/main" val="13256085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471FFBC-5C36-449B-05A0-A29BE9DAA6B6}"/>
              </a:ext>
            </a:extLst>
          </p:cNvPr>
          <p:cNvSpPr>
            <a:spLocks noGrp="1"/>
          </p:cNvSpPr>
          <p:nvPr>
            <p:ph type="title"/>
          </p:nvPr>
        </p:nvSpPr>
        <p:spPr/>
        <p:txBody>
          <a:bodyPr/>
          <a:lstStyle/>
          <a:p>
            <a:r>
              <a:rPr lang="pt-BR" dirty="0"/>
              <a:t>Obras de influência direta</a:t>
            </a:r>
          </a:p>
        </p:txBody>
      </p:sp>
      <p:pic>
        <p:nvPicPr>
          <p:cNvPr id="9" name="Espaço Reservado para Conteúdo 8" descr="Texto&#10;&#10;Descrição gerada automaticamente">
            <a:extLst>
              <a:ext uri="{FF2B5EF4-FFF2-40B4-BE49-F238E27FC236}">
                <a16:creationId xmlns:a16="http://schemas.microsoft.com/office/drawing/2014/main" id="{562C5ED6-E73D-92E1-2E4B-2D1595A8D90E}"/>
              </a:ext>
            </a:extLst>
          </p:cNvPr>
          <p:cNvPicPr>
            <a:picLocks noGrp="1" noChangeAspect="1"/>
          </p:cNvPicPr>
          <p:nvPr>
            <p:ph idx="14"/>
          </p:nvPr>
        </p:nvPicPr>
        <p:blipFill>
          <a:blip r:embed="rId3"/>
          <a:stretch>
            <a:fillRect/>
          </a:stretch>
        </p:blipFill>
        <p:spPr>
          <a:xfrm>
            <a:off x="1167492" y="2561273"/>
            <a:ext cx="2389701" cy="3436937"/>
          </a:xfrm>
        </p:spPr>
      </p:pic>
      <p:pic>
        <p:nvPicPr>
          <p:cNvPr id="11" name="Imagem 10" descr="Texto&#10;&#10;Descrição gerada automaticamente">
            <a:extLst>
              <a:ext uri="{FF2B5EF4-FFF2-40B4-BE49-F238E27FC236}">
                <a16:creationId xmlns:a16="http://schemas.microsoft.com/office/drawing/2014/main" id="{FEAC28AF-D51E-5D09-E458-D23AC01F8B6D}"/>
              </a:ext>
            </a:extLst>
          </p:cNvPr>
          <p:cNvPicPr>
            <a:picLocks noChangeAspect="1"/>
          </p:cNvPicPr>
          <p:nvPr/>
        </p:nvPicPr>
        <p:blipFill>
          <a:blip r:embed="rId4"/>
          <a:stretch>
            <a:fillRect/>
          </a:stretch>
        </p:blipFill>
        <p:spPr>
          <a:xfrm>
            <a:off x="6057083" y="2586333"/>
            <a:ext cx="2268855" cy="3440681"/>
          </a:xfrm>
          <a:prstGeom prst="rect">
            <a:avLst/>
          </a:prstGeom>
        </p:spPr>
      </p:pic>
    </p:spTree>
    <p:extLst>
      <p:ext uri="{BB962C8B-B14F-4D97-AF65-F5344CB8AC3E}">
        <p14:creationId xmlns:p14="http://schemas.microsoft.com/office/powerpoint/2010/main" val="37181219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ítulo 1">
            <a:extLst>
              <a:ext uri="{FF2B5EF4-FFF2-40B4-BE49-F238E27FC236}">
                <a16:creationId xmlns:a16="http://schemas.microsoft.com/office/drawing/2014/main" id="{87D10A5F-4D49-3CDD-E953-D4EC5D95898C}"/>
              </a:ext>
            </a:extLst>
          </p:cNvPr>
          <p:cNvSpPr txBox="1">
            <a:spLocks/>
          </p:cNvSpPr>
          <p:nvPr/>
        </p:nvSpPr>
        <p:spPr>
          <a:xfrm>
            <a:off x="1158864" y="102021"/>
            <a:ext cx="9779183" cy="1744415"/>
          </a:xfrm>
          <a:prstGeom prst="rect">
            <a:avLst/>
          </a:prstGeom>
        </p:spPr>
        <p:txBody>
          <a:bodyPr vert="horz" lIns="91440" tIns="45720" rIns="91440" bIns="45720" rtlCol="0" anchor="b">
            <a:normAutofit/>
          </a:bodyPr>
          <a:lstStyle>
            <a:defPPr>
              <a:defRPr lang="pt-BR"/>
            </a:defPPr>
            <a:lvl1pPr algn="l" defTabSz="914400" rtl="0" eaLnBrk="1" latinLnBrk="0" hangingPunct="1">
              <a:lnSpc>
                <a:spcPct val="80000"/>
              </a:lnSpc>
              <a:spcBef>
                <a:spcPct val="0"/>
              </a:spcBef>
              <a:buNone/>
              <a:defRPr lang="pt-BR" sz="4200" b="1" kern="1200">
                <a:solidFill>
                  <a:schemeClr val="tx1"/>
                </a:solidFill>
                <a:latin typeface="+mj-lt"/>
                <a:ea typeface="+mj-ea"/>
                <a:cs typeface="+mj-cs"/>
              </a:defRPr>
            </a:lvl1pPr>
          </a:lstStyle>
          <a:p>
            <a:pPr>
              <a:spcAft>
                <a:spcPts val="600"/>
              </a:spcAft>
            </a:pPr>
            <a:r>
              <a:rPr lang="pt-BR" b="1" kern="1200" dirty="0">
                <a:latin typeface="+mj-lt"/>
                <a:ea typeface="+mj-ea"/>
                <a:cs typeface="+mj-cs"/>
              </a:rPr>
              <a:t>Propósito central do texto</a:t>
            </a:r>
          </a:p>
        </p:txBody>
      </p:sp>
      <p:sp>
        <p:nvSpPr>
          <p:cNvPr id="3" name="Espaço Reservado para Conteúdo 2">
            <a:extLst>
              <a:ext uri="{FF2B5EF4-FFF2-40B4-BE49-F238E27FC236}">
                <a16:creationId xmlns:a16="http://schemas.microsoft.com/office/drawing/2014/main" id="{22788C46-D0BC-4307-AE55-7601A139E7CB}"/>
              </a:ext>
            </a:extLst>
          </p:cNvPr>
          <p:cNvSpPr>
            <a:spLocks noGrp="1"/>
          </p:cNvSpPr>
          <p:nvPr>
            <p:ph idx="1"/>
          </p:nvPr>
        </p:nvSpPr>
        <p:spPr/>
        <p:txBody>
          <a:bodyPr vert="horz" lIns="91440" tIns="45720" rIns="91440" bIns="45720" rtlCol="0">
            <a:normAutofit/>
          </a:bodyPr>
          <a:lstStyle>
            <a:defPPr>
              <a:defRPr lang="pt-BR"/>
            </a:defPPr>
          </a:lstStyle>
          <a:p>
            <a:pPr marL="914400" indent="-457200">
              <a:buFont typeface="Arial" panose="020B0604020202020204" pitchFamily="34" charset="0"/>
              <a:buChar char="•"/>
            </a:pPr>
            <a:r>
              <a:rPr lang="pt-BR" dirty="0"/>
              <a:t>Descrever como os algoritmos têm sido usados no ambiente de trabalho para o controle organizacional e como isso tem impactado os trabalhadores em sua rotina de trabalho, apresentadoras categorias para classificar as formas de controle algorítmico do trabalho</a:t>
            </a:r>
            <a:br>
              <a:rPr lang="pt-BR" dirty="0"/>
            </a:br>
            <a:endParaRPr lang="pt-BR" dirty="0"/>
          </a:p>
          <a:p>
            <a:pPr marL="457200"/>
            <a:endParaRPr lang="pt-BR" dirty="0"/>
          </a:p>
        </p:txBody>
      </p:sp>
    </p:spTree>
    <p:extLst>
      <p:ext uri="{BB962C8B-B14F-4D97-AF65-F5344CB8AC3E}">
        <p14:creationId xmlns:p14="http://schemas.microsoft.com/office/powerpoint/2010/main" val="1267895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ítulo 1">
            <a:extLst>
              <a:ext uri="{FF2B5EF4-FFF2-40B4-BE49-F238E27FC236}">
                <a16:creationId xmlns:a16="http://schemas.microsoft.com/office/drawing/2014/main" id="{87D10A5F-4D49-3CDD-E953-D4EC5D95898C}"/>
              </a:ext>
            </a:extLst>
          </p:cNvPr>
          <p:cNvSpPr txBox="1">
            <a:spLocks/>
          </p:cNvSpPr>
          <p:nvPr/>
        </p:nvSpPr>
        <p:spPr>
          <a:xfrm>
            <a:off x="1158864" y="102021"/>
            <a:ext cx="10153570" cy="1818219"/>
          </a:xfrm>
          <a:prstGeom prst="rect">
            <a:avLst/>
          </a:prstGeom>
        </p:spPr>
        <p:txBody>
          <a:bodyPr vert="horz" lIns="91440" tIns="45720" rIns="91440" bIns="45720" rtlCol="0" anchor="b">
            <a:normAutofit/>
          </a:bodyPr>
          <a:lstStyle>
            <a:defPPr>
              <a:defRPr lang="pt-BR"/>
            </a:defPPr>
            <a:lvl1pPr algn="l" defTabSz="914400" rtl="0" eaLnBrk="1" latinLnBrk="0" hangingPunct="1">
              <a:lnSpc>
                <a:spcPct val="80000"/>
              </a:lnSpc>
              <a:spcBef>
                <a:spcPct val="0"/>
              </a:spcBef>
              <a:buNone/>
              <a:defRPr lang="pt-BR" sz="4200" b="1" kern="1200">
                <a:solidFill>
                  <a:schemeClr val="tx1"/>
                </a:solidFill>
                <a:latin typeface="+mj-lt"/>
                <a:ea typeface="+mj-ea"/>
                <a:cs typeface="+mj-cs"/>
              </a:defRPr>
            </a:lvl1pPr>
          </a:lstStyle>
          <a:p>
            <a:pPr>
              <a:spcAft>
                <a:spcPts val="600"/>
              </a:spcAft>
            </a:pPr>
            <a:r>
              <a:rPr lang="pt-BR" b="1" kern="1200" dirty="0">
                <a:latin typeface="+mj-lt"/>
                <a:ea typeface="+mj-ea"/>
                <a:cs typeface="+mj-cs"/>
              </a:rPr>
              <a:t>Método expositivo e empírico</a:t>
            </a:r>
          </a:p>
        </p:txBody>
      </p:sp>
      <p:sp>
        <p:nvSpPr>
          <p:cNvPr id="3" name="Espaço Reservado para Conteúdo 2">
            <a:extLst>
              <a:ext uri="{FF2B5EF4-FFF2-40B4-BE49-F238E27FC236}">
                <a16:creationId xmlns:a16="http://schemas.microsoft.com/office/drawing/2014/main" id="{22788C46-D0BC-4307-AE55-7601A139E7CB}"/>
              </a:ext>
            </a:extLst>
          </p:cNvPr>
          <p:cNvSpPr>
            <a:spLocks noGrp="1"/>
          </p:cNvSpPr>
          <p:nvPr>
            <p:ph idx="1"/>
          </p:nvPr>
        </p:nvSpPr>
        <p:spPr/>
        <p:txBody>
          <a:bodyPr vert="horz" lIns="91440" tIns="45720" rIns="91440" bIns="45720" rtlCol="0">
            <a:normAutofit/>
          </a:bodyPr>
          <a:lstStyle>
            <a:defPPr>
              <a:defRPr lang="pt-BR"/>
            </a:defPPr>
          </a:lstStyle>
          <a:p>
            <a:pPr marL="914400" indent="-457200">
              <a:buFont typeface="Arial" panose="020B0604020202020204" pitchFamily="34" charset="0"/>
              <a:buChar char="•"/>
            </a:pPr>
            <a:r>
              <a:rPr lang="pt-BR" dirty="0"/>
              <a:t>Esquemático, classificatório</a:t>
            </a:r>
          </a:p>
          <a:p>
            <a:pPr marL="914400" indent="-457200">
              <a:buFont typeface="Arial" panose="020B0604020202020204" pitchFamily="34" charset="0"/>
              <a:buChar char="•"/>
            </a:pPr>
            <a:r>
              <a:rPr lang="pt-BR" dirty="0"/>
              <a:t>Tipo ideal</a:t>
            </a:r>
          </a:p>
          <a:p>
            <a:pPr marL="914400" indent="-457200">
              <a:buFont typeface="Arial" panose="020B0604020202020204" pitchFamily="34" charset="0"/>
              <a:buChar char="•"/>
            </a:pPr>
            <a:r>
              <a:rPr lang="pt-BR" dirty="0"/>
              <a:t>1.100 artigos revisados</a:t>
            </a:r>
            <a:br>
              <a:rPr lang="pt-BR" dirty="0"/>
            </a:br>
            <a:endParaRPr lang="pt-BR" dirty="0"/>
          </a:p>
          <a:p>
            <a:pPr marL="457200"/>
            <a:endParaRPr lang="pt-BR" dirty="0"/>
          </a:p>
        </p:txBody>
      </p:sp>
    </p:spTree>
    <p:extLst>
      <p:ext uri="{BB962C8B-B14F-4D97-AF65-F5344CB8AC3E}">
        <p14:creationId xmlns:p14="http://schemas.microsoft.com/office/powerpoint/2010/main" val="9837306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ítulo 1">
            <a:extLst>
              <a:ext uri="{FF2B5EF4-FFF2-40B4-BE49-F238E27FC236}">
                <a16:creationId xmlns:a16="http://schemas.microsoft.com/office/drawing/2014/main" id="{87D10A5F-4D49-3CDD-E953-D4EC5D95898C}"/>
              </a:ext>
            </a:extLst>
          </p:cNvPr>
          <p:cNvSpPr txBox="1">
            <a:spLocks/>
          </p:cNvSpPr>
          <p:nvPr/>
        </p:nvSpPr>
        <p:spPr>
          <a:xfrm>
            <a:off x="1158864" y="102021"/>
            <a:ext cx="10153570" cy="1818219"/>
          </a:xfrm>
          <a:prstGeom prst="rect">
            <a:avLst/>
          </a:prstGeom>
        </p:spPr>
        <p:txBody>
          <a:bodyPr vert="horz" lIns="91440" tIns="45720" rIns="91440" bIns="45720" rtlCol="0" anchor="b">
            <a:normAutofit/>
          </a:bodyPr>
          <a:lstStyle>
            <a:defPPr>
              <a:defRPr lang="pt-BR"/>
            </a:defPPr>
            <a:lvl1pPr algn="l" defTabSz="914400" rtl="0" eaLnBrk="1" latinLnBrk="0" hangingPunct="1">
              <a:lnSpc>
                <a:spcPct val="80000"/>
              </a:lnSpc>
              <a:spcBef>
                <a:spcPct val="0"/>
              </a:spcBef>
              <a:buNone/>
              <a:defRPr lang="pt-BR" sz="4200" b="1" kern="1200">
                <a:solidFill>
                  <a:schemeClr val="tx1"/>
                </a:solidFill>
                <a:latin typeface="+mj-lt"/>
                <a:ea typeface="+mj-ea"/>
                <a:cs typeface="+mj-cs"/>
              </a:defRPr>
            </a:lvl1pPr>
          </a:lstStyle>
          <a:p>
            <a:pPr>
              <a:spcAft>
                <a:spcPts val="600"/>
              </a:spcAft>
            </a:pPr>
            <a:r>
              <a:rPr lang="pt-BR" b="1" kern="1200" dirty="0">
                <a:latin typeface="+mj-lt"/>
                <a:ea typeface="+mj-ea"/>
                <a:cs typeface="+mj-cs"/>
              </a:rPr>
              <a:t>Observações iniciais</a:t>
            </a:r>
          </a:p>
        </p:txBody>
      </p:sp>
      <p:sp>
        <p:nvSpPr>
          <p:cNvPr id="3" name="Espaço Reservado para Conteúdo 2">
            <a:extLst>
              <a:ext uri="{FF2B5EF4-FFF2-40B4-BE49-F238E27FC236}">
                <a16:creationId xmlns:a16="http://schemas.microsoft.com/office/drawing/2014/main" id="{22788C46-D0BC-4307-AE55-7601A139E7CB}"/>
              </a:ext>
            </a:extLst>
          </p:cNvPr>
          <p:cNvSpPr>
            <a:spLocks noGrp="1"/>
          </p:cNvSpPr>
          <p:nvPr>
            <p:ph idx="1"/>
          </p:nvPr>
        </p:nvSpPr>
        <p:spPr/>
        <p:txBody>
          <a:bodyPr vert="horz" lIns="91440" tIns="45720" rIns="91440" bIns="45720" rtlCol="0">
            <a:normAutofit/>
          </a:bodyPr>
          <a:lstStyle>
            <a:defPPr>
              <a:defRPr lang="pt-BR"/>
            </a:defPPr>
          </a:lstStyle>
          <a:p>
            <a:pPr marL="914400" indent="-457200">
              <a:buFont typeface="Arial" panose="020B0604020202020204" pitchFamily="34" charset="0"/>
              <a:buChar char="•"/>
            </a:pPr>
            <a:r>
              <a:rPr lang="pt-BR" dirty="0"/>
              <a:t>Estudos da Administração e da Economia focavam nos benefícios da introdução do algoritmo para a produção</a:t>
            </a:r>
          </a:p>
          <a:p>
            <a:pPr marL="914400" indent="-457200">
              <a:buFont typeface="Arial" panose="020B0604020202020204" pitchFamily="34" charset="0"/>
              <a:buChar char="•"/>
            </a:pPr>
            <a:r>
              <a:rPr lang="pt-BR" dirty="0"/>
              <a:t>Estudos críticos das ciências sociais focavam no vigilantismo e discriminação</a:t>
            </a:r>
          </a:p>
          <a:p>
            <a:pPr marL="914400" indent="-457200">
              <a:buFont typeface="Arial" panose="020B0604020202020204" pitchFamily="34" charset="0"/>
              <a:buChar char="•"/>
            </a:pPr>
            <a:r>
              <a:rPr lang="pt-BR" dirty="0"/>
              <a:t>Ausência de estudos sobre as relações entre gestores e trabalhadores</a:t>
            </a:r>
            <a:br>
              <a:rPr lang="pt-BR" dirty="0"/>
            </a:br>
            <a:endParaRPr lang="pt-BR" dirty="0"/>
          </a:p>
          <a:p>
            <a:pPr marL="457200"/>
            <a:endParaRPr lang="pt-BR" dirty="0"/>
          </a:p>
        </p:txBody>
      </p:sp>
    </p:spTree>
    <p:extLst>
      <p:ext uri="{BB962C8B-B14F-4D97-AF65-F5344CB8AC3E}">
        <p14:creationId xmlns:p14="http://schemas.microsoft.com/office/powerpoint/2010/main" val="34192849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ítulo 1">
            <a:extLst>
              <a:ext uri="{FF2B5EF4-FFF2-40B4-BE49-F238E27FC236}">
                <a16:creationId xmlns:a16="http://schemas.microsoft.com/office/drawing/2014/main" id="{87D10A5F-4D49-3CDD-E953-D4EC5D95898C}"/>
              </a:ext>
            </a:extLst>
          </p:cNvPr>
          <p:cNvSpPr txBox="1">
            <a:spLocks/>
          </p:cNvSpPr>
          <p:nvPr/>
        </p:nvSpPr>
        <p:spPr>
          <a:xfrm>
            <a:off x="1158864" y="102021"/>
            <a:ext cx="10153570" cy="1818219"/>
          </a:xfrm>
          <a:prstGeom prst="rect">
            <a:avLst/>
          </a:prstGeom>
        </p:spPr>
        <p:txBody>
          <a:bodyPr vert="horz" lIns="91440" tIns="45720" rIns="91440" bIns="45720" rtlCol="0" anchor="b">
            <a:normAutofit/>
          </a:bodyPr>
          <a:lstStyle>
            <a:defPPr>
              <a:defRPr lang="pt-BR"/>
            </a:defPPr>
            <a:lvl1pPr algn="l" defTabSz="914400" rtl="0" eaLnBrk="1" latinLnBrk="0" hangingPunct="1">
              <a:lnSpc>
                <a:spcPct val="80000"/>
              </a:lnSpc>
              <a:spcBef>
                <a:spcPct val="0"/>
              </a:spcBef>
              <a:buNone/>
              <a:defRPr lang="pt-BR" sz="4200" b="1" kern="1200">
                <a:solidFill>
                  <a:schemeClr val="tx1"/>
                </a:solidFill>
                <a:latin typeface="+mj-lt"/>
                <a:ea typeface="+mj-ea"/>
                <a:cs typeface="+mj-cs"/>
              </a:defRPr>
            </a:lvl1pPr>
          </a:lstStyle>
          <a:p>
            <a:pPr>
              <a:spcAft>
                <a:spcPts val="600"/>
              </a:spcAft>
            </a:pPr>
            <a:r>
              <a:rPr lang="pt-BR" dirty="0"/>
              <a:t>4 dimensões do controle algorítmico do trabalho</a:t>
            </a:r>
            <a:endParaRPr lang="pt-BR" b="1" kern="1200" dirty="0">
              <a:latin typeface="+mj-lt"/>
              <a:ea typeface="+mj-ea"/>
              <a:cs typeface="+mj-cs"/>
            </a:endParaRPr>
          </a:p>
        </p:txBody>
      </p:sp>
      <p:sp>
        <p:nvSpPr>
          <p:cNvPr id="3" name="Espaço Reservado para Conteúdo 2">
            <a:extLst>
              <a:ext uri="{FF2B5EF4-FFF2-40B4-BE49-F238E27FC236}">
                <a16:creationId xmlns:a16="http://schemas.microsoft.com/office/drawing/2014/main" id="{22788C46-D0BC-4307-AE55-7601A139E7CB}"/>
              </a:ext>
            </a:extLst>
          </p:cNvPr>
          <p:cNvSpPr>
            <a:spLocks noGrp="1"/>
          </p:cNvSpPr>
          <p:nvPr>
            <p:ph idx="1"/>
          </p:nvPr>
        </p:nvSpPr>
        <p:spPr/>
        <p:txBody>
          <a:bodyPr vert="horz" lIns="91440" tIns="45720" rIns="91440" bIns="45720" rtlCol="0">
            <a:normAutofit/>
          </a:bodyPr>
          <a:lstStyle>
            <a:defPPr>
              <a:defRPr lang="pt-BR"/>
            </a:defPPr>
          </a:lstStyle>
          <a:p>
            <a:pPr marL="914400" indent="-457200">
              <a:buFont typeface="Arial" panose="020B0604020202020204" pitchFamily="34" charset="0"/>
              <a:buChar char="•"/>
            </a:pPr>
            <a:r>
              <a:rPr lang="pt-BR" dirty="0"/>
              <a:t>Instrumentos de controle em disputa</a:t>
            </a:r>
          </a:p>
          <a:p>
            <a:pPr marL="914400" indent="-457200">
              <a:buFont typeface="Arial" panose="020B0604020202020204" pitchFamily="34" charset="0"/>
              <a:buChar char="•"/>
            </a:pPr>
            <a:r>
              <a:rPr lang="pt-BR" dirty="0"/>
              <a:t>Mecanismo de mascaramento e obtenção da mais-valia</a:t>
            </a:r>
          </a:p>
          <a:p>
            <a:pPr marL="914400" indent="-457200">
              <a:buFont typeface="Arial" panose="020B0604020202020204" pitchFamily="34" charset="0"/>
              <a:buChar char="•"/>
            </a:pPr>
            <a:r>
              <a:rPr lang="pt-BR" dirty="0"/>
              <a:t>Impactos negativos nas condições de trabalho e de vida de trabalhadores</a:t>
            </a:r>
          </a:p>
          <a:p>
            <a:pPr marL="914400" indent="-457200">
              <a:buFont typeface="Arial" panose="020B0604020202020204" pitchFamily="34" charset="0"/>
              <a:buChar char="•"/>
            </a:pPr>
            <a:r>
              <a:rPr lang="pt-BR" dirty="0"/>
              <a:t>Diferentes formas de instituição de controle algorítmico</a:t>
            </a:r>
          </a:p>
          <a:p>
            <a:pPr marL="457200"/>
            <a:endParaRPr lang="pt-BR" dirty="0"/>
          </a:p>
          <a:p>
            <a:pPr marL="457200"/>
            <a:endParaRPr lang="pt-BR" dirty="0"/>
          </a:p>
        </p:txBody>
      </p:sp>
    </p:spTree>
    <p:extLst>
      <p:ext uri="{BB962C8B-B14F-4D97-AF65-F5344CB8AC3E}">
        <p14:creationId xmlns:p14="http://schemas.microsoft.com/office/powerpoint/2010/main" val="34193888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ítulo 1">
            <a:extLst>
              <a:ext uri="{FF2B5EF4-FFF2-40B4-BE49-F238E27FC236}">
                <a16:creationId xmlns:a16="http://schemas.microsoft.com/office/drawing/2014/main" id="{87D10A5F-4D49-3CDD-E953-D4EC5D95898C}"/>
              </a:ext>
            </a:extLst>
          </p:cNvPr>
          <p:cNvSpPr txBox="1">
            <a:spLocks/>
          </p:cNvSpPr>
          <p:nvPr/>
        </p:nvSpPr>
        <p:spPr>
          <a:xfrm>
            <a:off x="1158864" y="102021"/>
            <a:ext cx="10153570" cy="1818219"/>
          </a:xfrm>
          <a:prstGeom prst="rect">
            <a:avLst/>
          </a:prstGeom>
        </p:spPr>
        <p:txBody>
          <a:bodyPr vert="horz" lIns="91440" tIns="45720" rIns="91440" bIns="45720" rtlCol="0" anchor="b">
            <a:normAutofit/>
          </a:bodyPr>
          <a:lstStyle>
            <a:defPPr>
              <a:defRPr lang="pt-BR"/>
            </a:defPPr>
            <a:lvl1pPr algn="l" defTabSz="914400" rtl="0" eaLnBrk="1" latinLnBrk="0" hangingPunct="1">
              <a:lnSpc>
                <a:spcPct val="80000"/>
              </a:lnSpc>
              <a:spcBef>
                <a:spcPct val="0"/>
              </a:spcBef>
              <a:buNone/>
              <a:defRPr lang="pt-BR" sz="4200" b="1" kern="1200">
                <a:solidFill>
                  <a:schemeClr val="tx1"/>
                </a:solidFill>
                <a:latin typeface="+mj-lt"/>
                <a:ea typeface="+mj-ea"/>
                <a:cs typeface="+mj-cs"/>
              </a:defRPr>
            </a:lvl1pPr>
          </a:lstStyle>
          <a:p>
            <a:pPr>
              <a:spcAft>
                <a:spcPts val="600"/>
              </a:spcAft>
            </a:pPr>
            <a:r>
              <a:rPr lang="pt-BR" b="1" kern="1200" dirty="0">
                <a:latin typeface="+mj-lt"/>
                <a:ea typeface="+mj-ea"/>
                <a:cs typeface="+mj-cs"/>
              </a:rPr>
              <a:t>Definição de controle do trabalho</a:t>
            </a:r>
          </a:p>
        </p:txBody>
      </p:sp>
      <p:sp>
        <p:nvSpPr>
          <p:cNvPr id="3" name="Espaço Reservado para Conteúdo 2">
            <a:extLst>
              <a:ext uri="{FF2B5EF4-FFF2-40B4-BE49-F238E27FC236}">
                <a16:creationId xmlns:a16="http://schemas.microsoft.com/office/drawing/2014/main" id="{22788C46-D0BC-4307-AE55-7601A139E7CB}"/>
              </a:ext>
            </a:extLst>
          </p:cNvPr>
          <p:cNvSpPr>
            <a:spLocks noGrp="1"/>
          </p:cNvSpPr>
          <p:nvPr>
            <p:ph idx="1"/>
          </p:nvPr>
        </p:nvSpPr>
        <p:spPr/>
        <p:txBody>
          <a:bodyPr vert="horz" lIns="91440" tIns="45720" rIns="91440" bIns="45720" rtlCol="0">
            <a:normAutofit/>
          </a:bodyPr>
          <a:lstStyle>
            <a:defPPr>
              <a:defRPr lang="pt-BR"/>
            </a:defPPr>
          </a:lstStyle>
          <a:p>
            <a:pPr marL="914400" indent="-457200">
              <a:buFont typeface="Arial" panose="020B0604020202020204" pitchFamily="34" charset="0"/>
              <a:buChar char="•"/>
            </a:pPr>
            <a:r>
              <a:rPr lang="pt-BR" dirty="0"/>
              <a:t>“Processo dialético no qual os empregadores [gestores] inovam continuamente para maximizar o valor capturado dos trabalhadores e estes inevitavelmente acabam resistindo para manter sua autonomia, dignidade e identidade”</a:t>
            </a:r>
          </a:p>
          <a:p>
            <a:pPr marL="914400" indent="-457200">
              <a:buFont typeface="Arial" panose="020B0604020202020204" pitchFamily="34" charset="0"/>
              <a:buChar char="•"/>
            </a:pPr>
            <a:endParaRPr lang="pt-BR" dirty="0"/>
          </a:p>
          <a:p>
            <a:pPr marL="457200"/>
            <a:endParaRPr lang="pt-BR" dirty="0"/>
          </a:p>
        </p:txBody>
      </p:sp>
    </p:spTree>
    <p:extLst>
      <p:ext uri="{BB962C8B-B14F-4D97-AF65-F5344CB8AC3E}">
        <p14:creationId xmlns:p14="http://schemas.microsoft.com/office/powerpoint/2010/main" val="14174181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ítulo 1">
            <a:extLst>
              <a:ext uri="{FF2B5EF4-FFF2-40B4-BE49-F238E27FC236}">
                <a16:creationId xmlns:a16="http://schemas.microsoft.com/office/drawing/2014/main" id="{87D10A5F-4D49-3CDD-E953-D4EC5D95898C}"/>
              </a:ext>
            </a:extLst>
          </p:cNvPr>
          <p:cNvSpPr txBox="1">
            <a:spLocks/>
          </p:cNvSpPr>
          <p:nvPr/>
        </p:nvSpPr>
        <p:spPr>
          <a:xfrm>
            <a:off x="1158864" y="102021"/>
            <a:ext cx="10153570" cy="1818219"/>
          </a:xfrm>
          <a:prstGeom prst="rect">
            <a:avLst/>
          </a:prstGeom>
        </p:spPr>
        <p:txBody>
          <a:bodyPr vert="horz" lIns="91440" tIns="45720" rIns="91440" bIns="45720" rtlCol="0" anchor="b">
            <a:normAutofit/>
          </a:bodyPr>
          <a:lstStyle>
            <a:defPPr>
              <a:defRPr lang="pt-BR"/>
            </a:defPPr>
            <a:lvl1pPr algn="l" defTabSz="914400" rtl="0" eaLnBrk="1" latinLnBrk="0" hangingPunct="1">
              <a:lnSpc>
                <a:spcPct val="80000"/>
              </a:lnSpc>
              <a:spcBef>
                <a:spcPct val="0"/>
              </a:spcBef>
              <a:buNone/>
              <a:defRPr lang="pt-BR" sz="4200" b="1" kern="1200">
                <a:solidFill>
                  <a:schemeClr val="tx1"/>
                </a:solidFill>
                <a:latin typeface="+mj-lt"/>
                <a:ea typeface="+mj-ea"/>
                <a:cs typeface="+mj-cs"/>
              </a:defRPr>
            </a:lvl1pPr>
          </a:lstStyle>
          <a:p>
            <a:pPr>
              <a:spcAft>
                <a:spcPts val="600"/>
              </a:spcAft>
            </a:pPr>
            <a:r>
              <a:rPr lang="pt-BR" b="1" kern="1200" dirty="0">
                <a:latin typeface="+mj-lt"/>
                <a:ea typeface="+mj-ea"/>
                <a:cs typeface="+mj-cs"/>
              </a:rPr>
              <a:t>Dois tipos de controle laboral</a:t>
            </a:r>
          </a:p>
        </p:txBody>
      </p:sp>
      <p:sp>
        <p:nvSpPr>
          <p:cNvPr id="3" name="Espaço Reservado para Conteúdo 2">
            <a:extLst>
              <a:ext uri="{FF2B5EF4-FFF2-40B4-BE49-F238E27FC236}">
                <a16:creationId xmlns:a16="http://schemas.microsoft.com/office/drawing/2014/main" id="{22788C46-D0BC-4307-AE55-7601A139E7CB}"/>
              </a:ext>
            </a:extLst>
          </p:cNvPr>
          <p:cNvSpPr>
            <a:spLocks noGrp="1"/>
          </p:cNvSpPr>
          <p:nvPr>
            <p:ph idx="1"/>
          </p:nvPr>
        </p:nvSpPr>
        <p:spPr/>
        <p:txBody>
          <a:bodyPr vert="horz" lIns="91440" tIns="45720" rIns="91440" bIns="45720" rtlCol="0">
            <a:normAutofit/>
          </a:bodyPr>
          <a:lstStyle>
            <a:defPPr>
              <a:defRPr lang="pt-BR"/>
            </a:defPPr>
          </a:lstStyle>
          <a:p>
            <a:pPr marL="914400" indent="-457200">
              <a:buFont typeface="Arial" panose="020B0604020202020204" pitchFamily="34" charset="0"/>
              <a:buChar char="•"/>
            </a:pPr>
            <a:r>
              <a:rPr lang="pt-BR" dirty="0"/>
              <a:t>Normativo</a:t>
            </a:r>
          </a:p>
          <a:p>
            <a:pPr marL="914400" indent="-457200">
              <a:buFont typeface="Arial" panose="020B0604020202020204" pitchFamily="34" charset="0"/>
              <a:buChar char="•"/>
            </a:pPr>
            <a:r>
              <a:rPr lang="pt-BR" dirty="0"/>
              <a:t>Racional</a:t>
            </a:r>
          </a:p>
          <a:p>
            <a:pPr marL="457200"/>
            <a:endParaRPr lang="pt-BR" dirty="0"/>
          </a:p>
        </p:txBody>
      </p:sp>
    </p:spTree>
    <p:extLst>
      <p:ext uri="{BB962C8B-B14F-4D97-AF65-F5344CB8AC3E}">
        <p14:creationId xmlns:p14="http://schemas.microsoft.com/office/powerpoint/2010/main" val="28356065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ítulo 1">
            <a:extLst>
              <a:ext uri="{FF2B5EF4-FFF2-40B4-BE49-F238E27FC236}">
                <a16:creationId xmlns:a16="http://schemas.microsoft.com/office/drawing/2014/main" id="{87D10A5F-4D49-3CDD-E953-D4EC5D95898C}"/>
              </a:ext>
            </a:extLst>
          </p:cNvPr>
          <p:cNvSpPr txBox="1">
            <a:spLocks/>
          </p:cNvSpPr>
          <p:nvPr/>
        </p:nvSpPr>
        <p:spPr>
          <a:xfrm>
            <a:off x="1158864" y="102021"/>
            <a:ext cx="10153570" cy="1818219"/>
          </a:xfrm>
          <a:prstGeom prst="rect">
            <a:avLst/>
          </a:prstGeom>
        </p:spPr>
        <p:txBody>
          <a:bodyPr vert="horz" lIns="91440" tIns="45720" rIns="91440" bIns="45720" rtlCol="0" anchor="b">
            <a:normAutofit/>
          </a:bodyPr>
          <a:lstStyle>
            <a:defPPr>
              <a:defRPr lang="pt-BR"/>
            </a:defPPr>
            <a:lvl1pPr algn="l" defTabSz="914400" rtl="0" eaLnBrk="1" latinLnBrk="0" hangingPunct="1">
              <a:lnSpc>
                <a:spcPct val="80000"/>
              </a:lnSpc>
              <a:spcBef>
                <a:spcPct val="0"/>
              </a:spcBef>
              <a:buNone/>
              <a:defRPr lang="pt-BR" sz="4200" b="1" kern="1200">
                <a:solidFill>
                  <a:schemeClr val="tx1"/>
                </a:solidFill>
                <a:latin typeface="+mj-lt"/>
                <a:ea typeface="+mj-ea"/>
                <a:cs typeface="+mj-cs"/>
              </a:defRPr>
            </a:lvl1pPr>
          </a:lstStyle>
          <a:p>
            <a:pPr>
              <a:spcAft>
                <a:spcPts val="600"/>
              </a:spcAft>
            </a:pPr>
            <a:r>
              <a:rPr lang="pt-BR" b="1" kern="1200" dirty="0">
                <a:latin typeface="+mj-lt"/>
                <a:ea typeface="+mj-ea"/>
                <a:cs typeface="+mj-cs"/>
              </a:rPr>
              <a:t>Formas de controle racional do trabalho</a:t>
            </a:r>
          </a:p>
        </p:txBody>
      </p:sp>
      <p:sp>
        <p:nvSpPr>
          <p:cNvPr id="3" name="Espaço Reservado para Conteúdo 2">
            <a:extLst>
              <a:ext uri="{FF2B5EF4-FFF2-40B4-BE49-F238E27FC236}">
                <a16:creationId xmlns:a16="http://schemas.microsoft.com/office/drawing/2014/main" id="{22788C46-D0BC-4307-AE55-7601A139E7CB}"/>
              </a:ext>
            </a:extLst>
          </p:cNvPr>
          <p:cNvSpPr>
            <a:spLocks noGrp="1"/>
          </p:cNvSpPr>
          <p:nvPr>
            <p:ph idx="1"/>
          </p:nvPr>
        </p:nvSpPr>
        <p:spPr/>
        <p:txBody>
          <a:bodyPr vert="horz" lIns="91440" tIns="45720" rIns="91440" bIns="45720" rtlCol="0">
            <a:normAutofit/>
          </a:bodyPr>
          <a:lstStyle>
            <a:defPPr>
              <a:defRPr lang="pt-BR"/>
            </a:defPPr>
          </a:lstStyle>
          <a:p>
            <a:pPr marL="914400" indent="-457200">
              <a:buFont typeface="Arial" panose="020B0604020202020204" pitchFamily="34" charset="0"/>
              <a:buChar char="•"/>
            </a:pPr>
            <a:r>
              <a:rPr lang="pt-BR" dirty="0"/>
              <a:t>Técnico</a:t>
            </a:r>
          </a:p>
          <a:p>
            <a:pPr marL="914400" indent="-457200">
              <a:buFont typeface="Arial" panose="020B0604020202020204" pitchFamily="34" charset="0"/>
              <a:buChar char="•"/>
            </a:pPr>
            <a:r>
              <a:rPr lang="pt-BR" dirty="0"/>
              <a:t>Burocrático</a:t>
            </a:r>
          </a:p>
          <a:p>
            <a:pPr marL="914400" indent="-457200">
              <a:buFont typeface="Arial" panose="020B0604020202020204" pitchFamily="34" charset="0"/>
              <a:buChar char="•"/>
            </a:pPr>
            <a:r>
              <a:rPr lang="pt-BR" dirty="0"/>
              <a:t>Algorítmico</a:t>
            </a:r>
            <a:br>
              <a:rPr lang="pt-BR" dirty="0"/>
            </a:br>
            <a:endParaRPr lang="pt-BR" dirty="0"/>
          </a:p>
          <a:p>
            <a:pPr marL="457200"/>
            <a:endParaRPr lang="pt-BR" dirty="0"/>
          </a:p>
        </p:txBody>
      </p:sp>
    </p:spTree>
    <p:extLst>
      <p:ext uri="{BB962C8B-B14F-4D97-AF65-F5344CB8AC3E}">
        <p14:creationId xmlns:p14="http://schemas.microsoft.com/office/powerpoint/2010/main" val="35433418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ítulo 1">
            <a:extLst>
              <a:ext uri="{FF2B5EF4-FFF2-40B4-BE49-F238E27FC236}">
                <a16:creationId xmlns:a16="http://schemas.microsoft.com/office/drawing/2014/main" id="{87D10A5F-4D49-3CDD-E953-D4EC5D95898C}"/>
              </a:ext>
            </a:extLst>
          </p:cNvPr>
          <p:cNvSpPr txBox="1">
            <a:spLocks/>
          </p:cNvSpPr>
          <p:nvPr/>
        </p:nvSpPr>
        <p:spPr>
          <a:xfrm>
            <a:off x="1158864" y="102021"/>
            <a:ext cx="10153570" cy="1818219"/>
          </a:xfrm>
          <a:prstGeom prst="rect">
            <a:avLst/>
          </a:prstGeom>
        </p:spPr>
        <p:txBody>
          <a:bodyPr vert="horz" lIns="91440" tIns="45720" rIns="91440" bIns="45720" rtlCol="0" anchor="b">
            <a:normAutofit/>
          </a:bodyPr>
          <a:lstStyle>
            <a:defPPr>
              <a:defRPr lang="pt-BR"/>
            </a:defPPr>
            <a:lvl1pPr algn="l" defTabSz="914400" rtl="0" eaLnBrk="1" latinLnBrk="0" hangingPunct="1">
              <a:lnSpc>
                <a:spcPct val="80000"/>
              </a:lnSpc>
              <a:spcBef>
                <a:spcPct val="0"/>
              </a:spcBef>
              <a:buNone/>
              <a:defRPr lang="pt-BR" sz="4200" b="1" kern="1200">
                <a:solidFill>
                  <a:schemeClr val="tx1"/>
                </a:solidFill>
                <a:latin typeface="+mj-lt"/>
                <a:ea typeface="+mj-ea"/>
                <a:cs typeface="+mj-cs"/>
              </a:defRPr>
            </a:lvl1pPr>
          </a:lstStyle>
          <a:p>
            <a:pPr>
              <a:spcAft>
                <a:spcPts val="600"/>
              </a:spcAft>
            </a:pPr>
            <a:r>
              <a:rPr lang="pt-BR" b="1" kern="1200" dirty="0">
                <a:latin typeface="+mj-lt"/>
                <a:ea typeface="+mj-ea"/>
                <a:cs typeface="+mj-cs"/>
              </a:rPr>
              <a:t>Mecanismos de controle (Edwards, 1979)</a:t>
            </a:r>
          </a:p>
        </p:txBody>
      </p:sp>
      <p:sp>
        <p:nvSpPr>
          <p:cNvPr id="3" name="Espaço Reservado para Conteúdo 2">
            <a:extLst>
              <a:ext uri="{FF2B5EF4-FFF2-40B4-BE49-F238E27FC236}">
                <a16:creationId xmlns:a16="http://schemas.microsoft.com/office/drawing/2014/main" id="{22788C46-D0BC-4307-AE55-7601A139E7CB}"/>
              </a:ext>
            </a:extLst>
          </p:cNvPr>
          <p:cNvSpPr>
            <a:spLocks noGrp="1"/>
          </p:cNvSpPr>
          <p:nvPr>
            <p:ph idx="1"/>
          </p:nvPr>
        </p:nvSpPr>
        <p:spPr/>
        <p:txBody>
          <a:bodyPr vert="horz" lIns="91440" tIns="45720" rIns="91440" bIns="45720" rtlCol="0">
            <a:normAutofit/>
          </a:bodyPr>
          <a:lstStyle>
            <a:defPPr>
              <a:defRPr lang="pt-BR"/>
            </a:defPPr>
          </a:lstStyle>
          <a:p>
            <a:pPr marL="914400" indent="-457200">
              <a:buFont typeface="Arial" panose="020B0604020202020204" pitchFamily="34" charset="0"/>
              <a:buChar char="•"/>
            </a:pPr>
            <a:r>
              <a:rPr lang="pt-BR" dirty="0"/>
              <a:t>Direcionamento</a:t>
            </a:r>
          </a:p>
          <a:p>
            <a:pPr marL="914400" indent="-457200">
              <a:buFont typeface="Arial" panose="020B0604020202020204" pitchFamily="34" charset="0"/>
              <a:buChar char="•"/>
            </a:pPr>
            <a:r>
              <a:rPr lang="pt-BR" dirty="0"/>
              <a:t>Avaliação</a:t>
            </a:r>
          </a:p>
          <a:p>
            <a:pPr marL="914400" indent="-457200">
              <a:buFont typeface="Arial" panose="020B0604020202020204" pitchFamily="34" charset="0"/>
              <a:buChar char="•"/>
            </a:pPr>
            <a:r>
              <a:rPr lang="pt-BR" dirty="0"/>
              <a:t>Disciplina</a:t>
            </a:r>
          </a:p>
          <a:p>
            <a:pPr marL="457200"/>
            <a:endParaRPr lang="pt-BR" dirty="0"/>
          </a:p>
        </p:txBody>
      </p:sp>
    </p:spTree>
    <p:extLst>
      <p:ext uri="{BB962C8B-B14F-4D97-AF65-F5344CB8AC3E}">
        <p14:creationId xmlns:p14="http://schemas.microsoft.com/office/powerpoint/2010/main" val="6642973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ítulo 1">
            <a:extLst>
              <a:ext uri="{FF2B5EF4-FFF2-40B4-BE49-F238E27FC236}">
                <a16:creationId xmlns:a16="http://schemas.microsoft.com/office/drawing/2014/main" id="{87D10A5F-4D49-3CDD-E953-D4EC5D95898C}"/>
              </a:ext>
            </a:extLst>
          </p:cNvPr>
          <p:cNvSpPr txBox="1">
            <a:spLocks/>
          </p:cNvSpPr>
          <p:nvPr/>
        </p:nvSpPr>
        <p:spPr>
          <a:xfrm>
            <a:off x="1158864" y="102021"/>
            <a:ext cx="10153570" cy="1818219"/>
          </a:xfrm>
          <a:prstGeom prst="rect">
            <a:avLst/>
          </a:prstGeom>
        </p:spPr>
        <p:txBody>
          <a:bodyPr vert="horz" lIns="91440" tIns="45720" rIns="91440" bIns="45720" rtlCol="0" anchor="b">
            <a:normAutofit/>
          </a:bodyPr>
          <a:lstStyle>
            <a:defPPr>
              <a:defRPr lang="pt-BR"/>
            </a:defPPr>
            <a:lvl1pPr algn="l" defTabSz="914400" rtl="0" eaLnBrk="1" latinLnBrk="0" hangingPunct="1">
              <a:lnSpc>
                <a:spcPct val="80000"/>
              </a:lnSpc>
              <a:spcBef>
                <a:spcPct val="0"/>
              </a:spcBef>
              <a:buNone/>
              <a:defRPr lang="pt-BR" sz="4200" b="1" kern="1200">
                <a:solidFill>
                  <a:schemeClr val="tx1"/>
                </a:solidFill>
                <a:latin typeface="+mj-lt"/>
                <a:ea typeface="+mj-ea"/>
                <a:cs typeface="+mj-cs"/>
              </a:defRPr>
            </a:lvl1pPr>
          </a:lstStyle>
          <a:p>
            <a:pPr>
              <a:spcAft>
                <a:spcPts val="600"/>
              </a:spcAft>
            </a:pPr>
            <a:r>
              <a:rPr lang="pt-BR" b="1" kern="1200" dirty="0">
                <a:latin typeface="+mj-lt"/>
                <a:ea typeface="+mj-ea"/>
                <a:cs typeface="+mj-cs"/>
              </a:rPr>
              <a:t>Controle técnico do trabalho</a:t>
            </a:r>
          </a:p>
        </p:txBody>
      </p:sp>
      <p:sp>
        <p:nvSpPr>
          <p:cNvPr id="3" name="Espaço Reservado para Conteúdo 2">
            <a:extLst>
              <a:ext uri="{FF2B5EF4-FFF2-40B4-BE49-F238E27FC236}">
                <a16:creationId xmlns:a16="http://schemas.microsoft.com/office/drawing/2014/main" id="{22788C46-D0BC-4307-AE55-7601A139E7CB}"/>
              </a:ext>
            </a:extLst>
          </p:cNvPr>
          <p:cNvSpPr>
            <a:spLocks noGrp="1"/>
          </p:cNvSpPr>
          <p:nvPr>
            <p:ph idx="1"/>
          </p:nvPr>
        </p:nvSpPr>
        <p:spPr/>
        <p:txBody>
          <a:bodyPr vert="horz" lIns="91440" tIns="45720" rIns="91440" bIns="45720" rtlCol="0">
            <a:normAutofit/>
          </a:bodyPr>
          <a:lstStyle>
            <a:defPPr>
              <a:defRPr lang="pt-BR"/>
            </a:defPPr>
          </a:lstStyle>
          <a:p>
            <a:pPr marL="914400" indent="-457200">
              <a:buFont typeface="Arial" panose="020B0604020202020204" pitchFamily="34" charset="0"/>
              <a:buChar char="•"/>
            </a:pPr>
            <a:r>
              <a:rPr lang="pt-BR" dirty="0"/>
              <a:t>Direcionamento por meio do sequenciamento de tarefas, especialização e desqualificação</a:t>
            </a:r>
          </a:p>
          <a:p>
            <a:pPr marL="914400" indent="-457200">
              <a:buFont typeface="Arial" panose="020B0604020202020204" pitchFamily="34" charset="0"/>
              <a:buChar char="•"/>
            </a:pPr>
            <a:r>
              <a:rPr lang="pt-BR" dirty="0"/>
              <a:t>Avaliação por meio do registro da produtividade e precisão do trabalho</a:t>
            </a:r>
          </a:p>
          <a:p>
            <a:pPr marL="914400" indent="-457200">
              <a:buFont typeface="Arial" panose="020B0604020202020204" pitchFamily="34" charset="0"/>
              <a:buChar char="•"/>
            </a:pPr>
            <a:r>
              <a:rPr lang="pt-BR" dirty="0"/>
              <a:t>Disciplina por meio da contratação de um exército de reserva de trabalhadores</a:t>
            </a:r>
          </a:p>
          <a:p>
            <a:pPr marL="457200"/>
            <a:endParaRPr lang="pt-BR" dirty="0"/>
          </a:p>
        </p:txBody>
      </p:sp>
    </p:spTree>
    <p:extLst>
      <p:ext uri="{BB962C8B-B14F-4D97-AF65-F5344CB8AC3E}">
        <p14:creationId xmlns:p14="http://schemas.microsoft.com/office/powerpoint/2010/main" val="124797331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ítulo 1">
            <a:extLst>
              <a:ext uri="{FF2B5EF4-FFF2-40B4-BE49-F238E27FC236}">
                <a16:creationId xmlns:a16="http://schemas.microsoft.com/office/drawing/2014/main" id="{87D10A5F-4D49-3CDD-E953-D4EC5D95898C}"/>
              </a:ext>
            </a:extLst>
          </p:cNvPr>
          <p:cNvSpPr txBox="1">
            <a:spLocks/>
          </p:cNvSpPr>
          <p:nvPr/>
        </p:nvSpPr>
        <p:spPr>
          <a:xfrm>
            <a:off x="1158864" y="102021"/>
            <a:ext cx="10153570" cy="1818219"/>
          </a:xfrm>
          <a:prstGeom prst="rect">
            <a:avLst/>
          </a:prstGeom>
        </p:spPr>
        <p:txBody>
          <a:bodyPr vert="horz" lIns="91440" tIns="45720" rIns="91440" bIns="45720" rtlCol="0" anchor="b">
            <a:normAutofit/>
          </a:bodyPr>
          <a:lstStyle>
            <a:defPPr>
              <a:defRPr lang="pt-BR"/>
            </a:defPPr>
            <a:lvl1pPr algn="l" defTabSz="914400" rtl="0" eaLnBrk="1" latinLnBrk="0" hangingPunct="1">
              <a:lnSpc>
                <a:spcPct val="80000"/>
              </a:lnSpc>
              <a:spcBef>
                <a:spcPct val="0"/>
              </a:spcBef>
              <a:buNone/>
              <a:defRPr lang="pt-BR" sz="4200" b="1" kern="1200">
                <a:solidFill>
                  <a:schemeClr val="tx1"/>
                </a:solidFill>
                <a:latin typeface="+mj-lt"/>
                <a:ea typeface="+mj-ea"/>
                <a:cs typeface="+mj-cs"/>
              </a:defRPr>
            </a:lvl1pPr>
          </a:lstStyle>
          <a:p>
            <a:pPr>
              <a:spcAft>
                <a:spcPts val="600"/>
              </a:spcAft>
            </a:pPr>
            <a:r>
              <a:rPr lang="pt-BR" b="1" kern="1200" dirty="0">
                <a:latin typeface="+mj-lt"/>
                <a:ea typeface="+mj-ea"/>
                <a:cs typeface="+mj-cs"/>
              </a:rPr>
              <a:t>Controle burocrático do trabalho</a:t>
            </a:r>
          </a:p>
        </p:txBody>
      </p:sp>
      <p:sp>
        <p:nvSpPr>
          <p:cNvPr id="3" name="Espaço Reservado para Conteúdo 2">
            <a:extLst>
              <a:ext uri="{FF2B5EF4-FFF2-40B4-BE49-F238E27FC236}">
                <a16:creationId xmlns:a16="http://schemas.microsoft.com/office/drawing/2014/main" id="{22788C46-D0BC-4307-AE55-7601A139E7CB}"/>
              </a:ext>
            </a:extLst>
          </p:cNvPr>
          <p:cNvSpPr>
            <a:spLocks noGrp="1"/>
          </p:cNvSpPr>
          <p:nvPr>
            <p:ph idx="1"/>
          </p:nvPr>
        </p:nvSpPr>
        <p:spPr/>
        <p:txBody>
          <a:bodyPr vert="horz" lIns="91440" tIns="45720" rIns="91440" bIns="45720" rtlCol="0">
            <a:normAutofit/>
          </a:bodyPr>
          <a:lstStyle>
            <a:defPPr>
              <a:defRPr lang="pt-BR"/>
            </a:defPPr>
          </a:lstStyle>
          <a:p>
            <a:pPr marL="914400" indent="-457200">
              <a:buFont typeface="Arial" panose="020B0604020202020204" pitchFamily="34" charset="0"/>
              <a:buChar char="•"/>
            </a:pPr>
            <a:r>
              <a:rPr lang="pt-BR" dirty="0"/>
              <a:t>Direcionamento por meio da descrição e regras do trabalho, checklists e roteiros</a:t>
            </a:r>
          </a:p>
          <a:p>
            <a:pPr marL="914400" indent="-457200">
              <a:buFont typeface="Arial" panose="020B0604020202020204" pitchFamily="34" charset="0"/>
              <a:buChar char="•"/>
            </a:pPr>
            <a:r>
              <a:rPr lang="pt-BR" dirty="0"/>
              <a:t>Avaliação por meio da observação direta dos supervisores</a:t>
            </a:r>
          </a:p>
          <a:p>
            <a:pPr marL="914400" indent="-457200">
              <a:buFont typeface="Arial" panose="020B0604020202020204" pitchFamily="34" charset="0"/>
              <a:buChar char="•"/>
            </a:pPr>
            <a:r>
              <a:rPr lang="pt-BR" dirty="0"/>
              <a:t>Disciplina por meio de incentivos e penalidades</a:t>
            </a:r>
          </a:p>
          <a:p>
            <a:pPr marL="457200"/>
            <a:endParaRPr lang="pt-BR" dirty="0"/>
          </a:p>
        </p:txBody>
      </p:sp>
    </p:spTree>
    <p:extLst>
      <p:ext uri="{BB962C8B-B14F-4D97-AF65-F5344CB8AC3E}">
        <p14:creationId xmlns:p14="http://schemas.microsoft.com/office/powerpoint/2010/main" val="19599685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ítulo 1">
            <a:extLst>
              <a:ext uri="{FF2B5EF4-FFF2-40B4-BE49-F238E27FC236}">
                <a16:creationId xmlns:a16="http://schemas.microsoft.com/office/drawing/2014/main" id="{87D10A5F-4D49-3CDD-E953-D4EC5D95898C}"/>
              </a:ext>
            </a:extLst>
          </p:cNvPr>
          <p:cNvSpPr txBox="1">
            <a:spLocks/>
          </p:cNvSpPr>
          <p:nvPr/>
        </p:nvSpPr>
        <p:spPr>
          <a:xfrm>
            <a:off x="1158864" y="102021"/>
            <a:ext cx="10153570" cy="1818219"/>
          </a:xfrm>
          <a:prstGeom prst="rect">
            <a:avLst/>
          </a:prstGeom>
        </p:spPr>
        <p:txBody>
          <a:bodyPr vert="horz" lIns="91440" tIns="45720" rIns="91440" bIns="45720" rtlCol="0" anchor="b">
            <a:normAutofit/>
          </a:bodyPr>
          <a:lstStyle>
            <a:defPPr>
              <a:defRPr lang="pt-BR"/>
            </a:defPPr>
            <a:lvl1pPr algn="l" defTabSz="914400" rtl="0" eaLnBrk="1" latinLnBrk="0" hangingPunct="1">
              <a:lnSpc>
                <a:spcPct val="80000"/>
              </a:lnSpc>
              <a:spcBef>
                <a:spcPct val="0"/>
              </a:spcBef>
              <a:buNone/>
              <a:defRPr lang="pt-BR" sz="4200" b="1" kern="1200">
                <a:solidFill>
                  <a:schemeClr val="tx1"/>
                </a:solidFill>
                <a:latin typeface="+mj-lt"/>
                <a:ea typeface="+mj-ea"/>
                <a:cs typeface="+mj-cs"/>
              </a:defRPr>
            </a:lvl1pPr>
          </a:lstStyle>
          <a:p>
            <a:pPr>
              <a:spcAft>
                <a:spcPts val="600"/>
              </a:spcAft>
            </a:pPr>
            <a:r>
              <a:rPr lang="pt-BR" b="1" kern="1200" dirty="0">
                <a:latin typeface="+mj-lt"/>
                <a:ea typeface="+mj-ea"/>
                <a:cs typeface="+mj-cs"/>
              </a:rPr>
              <a:t>Efeitos do controle no trabalhador</a:t>
            </a:r>
          </a:p>
        </p:txBody>
      </p:sp>
      <p:sp>
        <p:nvSpPr>
          <p:cNvPr id="3" name="Espaço Reservado para Conteúdo 2">
            <a:extLst>
              <a:ext uri="{FF2B5EF4-FFF2-40B4-BE49-F238E27FC236}">
                <a16:creationId xmlns:a16="http://schemas.microsoft.com/office/drawing/2014/main" id="{22788C46-D0BC-4307-AE55-7601A139E7CB}"/>
              </a:ext>
            </a:extLst>
          </p:cNvPr>
          <p:cNvSpPr>
            <a:spLocks noGrp="1"/>
          </p:cNvSpPr>
          <p:nvPr>
            <p:ph idx="1"/>
          </p:nvPr>
        </p:nvSpPr>
        <p:spPr/>
        <p:txBody>
          <a:bodyPr vert="horz" lIns="91440" tIns="45720" rIns="91440" bIns="45720" rtlCol="0">
            <a:normAutofit/>
          </a:bodyPr>
          <a:lstStyle>
            <a:defPPr>
              <a:defRPr lang="pt-BR"/>
            </a:defPPr>
          </a:lstStyle>
          <a:p>
            <a:pPr marL="914400" indent="-457200">
              <a:buFont typeface="Arial" panose="020B0604020202020204" pitchFamily="34" charset="0"/>
              <a:buChar char="•"/>
            </a:pPr>
            <a:r>
              <a:rPr lang="pt-BR" dirty="0"/>
              <a:t>Alienação</a:t>
            </a:r>
          </a:p>
          <a:p>
            <a:pPr marL="914400" indent="-457200">
              <a:buFont typeface="Arial" panose="020B0604020202020204" pitchFamily="34" charset="0"/>
              <a:buChar char="•"/>
            </a:pPr>
            <a:r>
              <a:rPr lang="pt-BR" dirty="0"/>
              <a:t>Sensação de vigilância </a:t>
            </a:r>
          </a:p>
          <a:p>
            <a:pPr marL="914400" indent="-457200">
              <a:buFont typeface="Arial" panose="020B0604020202020204" pitchFamily="34" charset="0"/>
              <a:buChar char="•"/>
            </a:pPr>
            <a:r>
              <a:rPr lang="pt-BR" dirty="0"/>
              <a:t>Perda da individualidade</a:t>
            </a:r>
          </a:p>
          <a:p>
            <a:pPr marL="914400" indent="-457200">
              <a:buFont typeface="Arial" panose="020B0604020202020204" pitchFamily="34" charset="0"/>
              <a:buChar char="•"/>
            </a:pPr>
            <a:r>
              <a:rPr lang="pt-BR" dirty="0"/>
              <a:t>Resistência (sabotagem, roubo, faltas, matar trabalho, paralisações e greves)</a:t>
            </a:r>
          </a:p>
          <a:p>
            <a:pPr marL="457200"/>
            <a:endParaRPr lang="pt-BR" dirty="0"/>
          </a:p>
        </p:txBody>
      </p:sp>
    </p:spTree>
    <p:extLst>
      <p:ext uri="{BB962C8B-B14F-4D97-AF65-F5344CB8AC3E}">
        <p14:creationId xmlns:p14="http://schemas.microsoft.com/office/powerpoint/2010/main" val="330834111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ítulo 1">
            <a:extLst>
              <a:ext uri="{FF2B5EF4-FFF2-40B4-BE49-F238E27FC236}">
                <a16:creationId xmlns:a16="http://schemas.microsoft.com/office/drawing/2014/main" id="{87D10A5F-4D49-3CDD-E953-D4EC5D95898C}"/>
              </a:ext>
            </a:extLst>
          </p:cNvPr>
          <p:cNvSpPr txBox="1">
            <a:spLocks/>
          </p:cNvSpPr>
          <p:nvPr/>
        </p:nvSpPr>
        <p:spPr>
          <a:xfrm>
            <a:off x="1158864" y="102021"/>
            <a:ext cx="10153570" cy="1818219"/>
          </a:xfrm>
          <a:prstGeom prst="rect">
            <a:avLst/>
          </a:prstGeom>
        </p:spPr>
        <p:txBody>
          <a:bodyPr vert="horz" lIns="91440" tIns="45720" rIns="91440" bIns="45720" rtlCol="0" anchor="b">
            <a:normAutofit/>
          </a:bodyPr>
          <a:lstStyle>
            <a:defPPr>
              <a:defRPr lang="pt-BR"/>
            </a:defPPr>
            <a:lvl1pPr algn="l" defTabSz="914400" rtl="0" eaLnBrk="1" latinLnBrk="0" hangingPunct="1">
              <a:lnSpc>
                <a:spcPct val="80000"/>
              </a:lnSpc>
              <a:spcBef>
                <a:spcPct val="0"/>
              </a:spcBef>
              <a:buNone/>
              <a:defRPr lang="pt-BR" sz="4200" b="1" kern="1200">
                <a:solidFill>
                  <a:schemeClr val="tx1"/>
                </a:solidFill>
                <a:latin typeface="+mj-lt"/>
                <a:ea typeface="+mj-ea"/>
                <a:cs typeface="+mj-cs"/>
              </a:defRPr>
            </a:lvl1pPr>
          </a:lstStyle>
          <a:p>
            <a:pPr>
              <a:spcAft>
                <a:spcPts val="600"/>
              </a:spcAft>
            </a:pPr>
            <a:r>
              <a:rPr lang="pt-BR" b="1" kern="1200" dirty="0">
                <a:latin typeface="+mj-lt"/>
                <a:ea typeface="+mj-ea"/>
                <a:cs typeface="+mj-cs"/>
              </a:rPr>
              <a:t>Controle Algorítmico do Trabalho</a:t>
            </a:r>
          </a:p>
        </p:txBody>
      </p:sp>
      <p:sp>
        <p:nvSpPr>
          <p:cNvPr id="3" name="Espaço Reservado para Conteúdo 2">
            <a:extLst>
              <a:ext uri="{FF2B5EF4-FFF2-40B4-BE49-F238E27FC236}">
                <a16:creationId xmlns:a16="http://schemas.microsoft.com/office/drawing/2014/main" id="{22788C46-D0BC-4307-AE55-7601A139E7CB}"/>
              </a:ext>
            </a:extLst>
          </p:cNvPr>
          <p:cNvSpPr>
            <a:spLocks noGrp="1"/>
          </p:cNvSpPr>
          <p:nvPr>
            <p:ph idx="1"/>
          </p:nvPr>
        </p:nvSpPr>
        <p:spPr/>
        <p:txBody>
          <a:bodyPr vert="horz" lIns="91440" tIns="45720" rIns="91440" bIns="45720" rtlCol="0">
            <a:normAutofit/>
          </a:bodyPr>
          <a:lstStyle>
            <a:defPPr>
              <a:defRPr lang="pt-BR"/>
            </a:defPPr>
          </a:lstStyle>
          <a:p>
            <a:pPr marL="914400" indent="-457200">
              <a:buFont typeface="Arial" panose="020B0604020202020204" pitchFamily="34" charset="0"/>
              <a:buChar char="•"/>
            </a:pPr>
            <a:r>
              <a:rPr lang="pt-BR" dirty="0"/>
              <a:t>Direcionamento: recomendação e restrição</a:t>
            </a:r>
          </a:p>
          <a:p>
            <a:pPr marL="914400" indent="-457200">
              <a:buFont typeface="Arial" panose="020B0604020202020204" pitchFamily="34" charset="0"/>
              <a:buChar char="•"/>
            </a:pPr>
            <a:r>
              <a:rPr lang="pt-BR" dirty="0"/>
              <a:t>Avaliação: registro e pontuação</a:t>
            </a:r>
          </a:p>
          <a:p>
            <a:pPr marL="914400" indent="-457200">
              <a:buFont typeface="Arial" panose="020B0604020202020204" pitchFamily="34" charset="0"/>
              <a:buChar char="•"/>
            </a:pPr>
            <a:r>
              <a:rPr lang="pt-BR" dirty="0"/>
              <a:t>Disciplina: substituição e premiação</a:t>
            </a:r>
          </a:p>
          <a:p>
            <a:pPr marL="457200"/>
            <a:endParaRPr lang="pt-BR" dirty="0"/>
          </a:p>
        </p:txBody>
      </p:sp>
    </p:spTree>
    <p:extLst>
      <p:ext uri="{BB962C8B-B14F-4D97-AF65-F5344CB8AC3E}">
        <p14:creationId xmlns:p14="http://schemas.microsoft.com/office/powerpoint/2010/main" val="25429740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ítulo 1">
            <a:extLst>
              <a:ext uri="{FF2B5EF4-FFF2-40B4-BE49-F238E27FC236}">
                <a16:creationId xmlns:a16="http://schemas.microsoft.com/office/drawing/2014/main" id="{87D10A5F-4D49-3CDD-E953-D4EC5D95898C}"/>
              </a:ext>
            </a:extLst>
          </p:cNvPr>
          <p:cNvSpPr txBox="1">
            <a:spLocks/>
          </p:cNvSpPr>
          <p:nvPr/>
        </p:nvSpPr>
        <p:spPr>
          <a:xfrm>
            <a:off x="1158864" y="102021"/>
            <a:ext cx="10153570" cy="1818219"/>
          </a:xfrm>
          <a:prstGeom prst="rect">
            <a:avLst/>
          </a:prstGeom>
        </p:spPr>
        <p:txBody>
          <a:bodyPr vert="horz" lIns="91440" tIns="45720" rIns="91440" bIns="45720" rtlCol="0" anchor="b">
            <a:normAutofit/>
          </a:bodyPr>
          <a:lstStyle>
            <a:defPPr>
              <a:defRPr lang="pt-BR"/>
            </a:defPPr>
            <a:lvl1pPr algn="l" defTabSz="914400" rtl="0" eaLnBrk="1" latinLnBrk="0" hangingPunct="1">
              <a:lnSpc>
                <a:spcPct val="80000"/>
              </a:lnSpc>
              <a:spcBef>
                <a:spcPct val="0"/>
              </a:spcBef>
              <a:buNone/>
              <a:defRPr lang="pt-BR" sz="4200" b="1" kern="1200">
                <a:solidFill>
                  <a:schemeClr val="tx1"/>
                </a:solidFill>
                <a:latin typeface="+mj-lt"/>
                <a:ea typeface="+mj-ea"/>
                <a:cs typeface="+mj-cs"/>
              </a:defRPr>
            </a:lvl1pPr>
          </a:lstStyle>
          <a:p>
            <a:pPr>
              <a:spcAft>
                <a:spcPts val="600"/>
              </a:spcAft>
            </a:pPr>
            <a:r>
              <a:rPr lang="pt-BR" b="1" kern="1200" dirty="0">
                <a:latin typeface="+mj-lt"/>
                <a:ea typeface="+mj-ea"/>
                <a:cs typeface="+mj-cs"/>
              </a:rPr>
              <a:t>Controle algorítmico do trabalho</a:t>
            </a:r>
          </a:p>
        </p:txBody>
      </p:sp>
      <p:sp>
        <p:nvSpPr>
          <p:cNvPr id="3" name="Espaço Reservado para Conteúdo 2">
            <a:extLst>
              <a:ext uri="{FF2B5EF4-FFF2-40B4-BE49-F238E27FC236}">
                <a16:creationId xmlns:a16="http://schemas.microsoft.com/office/drawing/2014/main" id="{22788C46-D0BC-4307-AE55-7601A139E7CB}"/>
              </a:ext>
            </a:extLst>
          </p:cNvPr>
          <p:cNvSpPr>
            <a:spLocks noGrp="1"/>
          </p:cNvSpPr>
          <p:nvPr>
            <p:ph idx="1"/>
          </p:nvPr>
        </p:nvSpPr>
        <p:spPr/>
        <p:txBody>
          <a:bodyPr vert="horz" lIns="91440" tIns="45720" rIns="91440" bIns="45720" rtlCol="0">
            <a:normAutofit/>
          </a:bodyPr>
          <a:lstStyle>
            <a:defPPr>
              <a:defRPr lang="pt-BR"/>
            </a:defPPr>
          </a:lstStyle>
          <a:p>
            <a:pPr marL="914400" indent="-457200">
              <a:buFont typeface="Arial" panose="020B0604020202020204" pitchFamily="34" charset="0"/>
              <a:buChar char="•"/>
            </a:pPr>
            <a:r>
              <a:rPr lang="pt-BR" dirty="0"/>
              <a:t>Mais abrangente</a:t>
            </a:r>
          </a:p>
          <a:p>
            <a:pPr marL="914400" indent="-457200">
              <a:buFont typeface="Arial" panose="020B0604020202020204" pitchFamily="34" charset="0"/>
              <a:buChar char="•"/>
            </a:pPr>
            <a:r>
              <a:rPr lang="pt-BR" dirty="0"/>
              <a:t>Feedback instantâneo</a:t>
            </a:r>
          </a:p>
          <a:p>
            <a:pPr marL="914400" indent="-457200">
              <a:buFont typeface="Arial" panose="020B0604020202020204" pitchFamily="34" charset="0"/>
              <a:buChar char="•"/>
            </a:pPr>
            <a:r>
              <a:rPr lang="pt-BR" dirty="0"/>
              <a:t>Mais interativo</a:t>
            </a:r>
          </a:p>
          <a:p>
            <a:pPr marL="914400" indent="-457200">
              <a:buFont typeface="Arial" panose="020B0604020202020204" pitchFamily="34" charset="0"/>
              <a:buChar char="•"/>
            </a:pPr>
            <a:r>
              <a:rPr lang="pt-BR" dirty="0"/>
              <a:t>Mais opaco</a:t>
            </a:r>
          </a:p>
          <a:p>
            <a:pPr marL="914400" indent="-457200">
              <a:buFont typeface="Arial" panose="020B0604020202020204" pitchFamily="34" charset="0"/>
              <a:buChar char="•"/>
            </a:pPr>
            <a:r>
              <a:rPr lang="pt-BR" dirty="0"/>
              <a:t>Desintermediação de gestores</a:t>
            </a:r>
          </a:p>
          <a:p>
            <a:pPr marL="457200"/>
            <a:endParaRPr lang="pt-BR" dirty="0"/>
          </a:p>
        </p:txBody>
      </p:sp>
    </p:spTree>
    <p:extLst>
      <p:ext uri="{BB962C8B-B14F-4D97-AF65-F5344CB8AC3E}">
        <p14:creationId xmlns:p14="http://schemas.microsoft.com/office/powerpoint/2010/main" val="158060595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ítulo 1">
            <a:extLst>
              <a:ext uri="{FF2B5EF4-FFF2-40B4-BE49-F238E27FC236}">
                <a16:creationId xmlns:a16="http://schemas.microsoft.com/office/drawing/2014/main" id="{87D10A5F-4D49-3CDD-E953-D4EC5D95898C}"/>
              </a:ext>
            </a:extLst>
          </p:cNvPr>
          <p:cNvSpPr txBox="1">
            <a:spLocks/>
          </p:cNvSpPr>
          <p:nvPr/>
        </p:nvSpPr>
        <p:spPr>
          <a:xfrm>
            <a:off x="1158864" y="102021"/>
            <a:ext cx="10153570" cy="1818219"/>
          </a:xfrm>
          <a:prstGeom prst="rect">
            <a:avLst/>
          </a:prstGeom>
        </p:spPr>
        <p:txBody>
          <a:bodyPr vert="horz" lIns="91440" tIns="45720" rIns="91440" bIns="45720" rtlCol="0" anchor="b">
            <a:normAutofit/>
          </a:bodyPr>
          <a:lstStyle>
            <a:defPPr>
              <a:defRPr lang="pt-BR"/>
            </a:defPPr>
            <a:lvl1pPr algn="l" defTabSz="914400" rtl="0" eaLnBrk="1" latinLnBrk="0" hangingPunct="1">
              <a:lnSpc>
                <a:spcPct val="80000"/>
              </a:lnSpc>
              <a:spcBef>
                <a:spcPct val="0"/>
              </a:spcBef>
              <a:buNone/>
              <a:defRPr lang="pt-BR" sz="4200" b="1" kern="1200">
                <a:solidFill>
                  <a:schemeClr val="tx1"/>
                </a:solidFill>
                <a:latin typeface="+mj-lt"/>
                <a:ea typeface="+mj-ea"/>
                <a:cs typeface="+mj-cs"/>
              </a:defRPr>
            </a:lvl1pPr>
          </a:lstStyle>
          <a:p>
            <a:pPr>
              <a:spcAft>
                <a:spcPts val="600"/>
              </a:spcAft>
            </a:pPr>
            <a:r>
              <a:rPr lang="pt-BR" b="1" kern="1200" dirty="0">
                <a:latin typeface="+mj-lt"/>
                <a:ea typeface="+mj-ea"/>
                <a:cs typeface="+mj-cs"/>
              </a:rPr>
              <a:t>Recomendação algorítmica</a:t>
            </a:r>
          </a:p>
        </p:txBody>
      </p:sp>
      <p:sp>
        <p:nvSpPr>
          <p:cNvPr id="3" name="Espaço Reservado para Conteúdo 2">
            <a:extLst>
              <a:ext uri="{FF2B5EF4-FFF2-40B4-BE49-F238E27FC236}">
                <a16:creationId xmlns:a16="http://schemas.microsoft.com/office/drawing/2014/main" id="{22788C46-D0BC-4307-AE55-7601A139E7CB}"/>
              </a:ext>
            </a:extLst>
          </p:cNvPr>
          <p:cNvSpPr>
            <a:spLocks noGrp="1"/>
          </p:cNvSpPr>
          <p:nvPr>
            <p:ph idx="1"/>
          </p:nvPr>
        </p:nvSpPr>
        <p:spPr/>
        <p:txBody>
          <a:bodyPr vert="horz" lIns="91440" tIns="45720" rIns="91440" bIns="45720" rtlCol="0">
            <a:normAutofit/>
          </a:bodyPr>
          <a:lstStyle>
            <a:defPPr>
              <a:defRPr lang="pt-BR"/>
            </a:defPPr>
          </a:lstStyle>
          <a:p>
            <a:pPr marL="914400" indent="-457200">
              <a:buFont typeface="Arial" panose="020B0604020202020204" pitchFamily="34" charset="0"/>
              <a:buChar char="•"/>
            </a:pPr>
            <a:r>
              <a:rPr lang="pt-BR" dirty="0"/>
              <a:t>Trata-se de orientações pré-selecionadas pelo algoritmo à tomada de decisão dos trabalhadores e que operam sem usar instruções explícitas</a:t>
            </a:r>
          </a:p>
        </p:txBody>
      </p:sp>
    </p:spTree>
    <p:extLst>
      <p:ext uri="{BB962C8B-B14F-4D97-AF65-F5344CB8AC3E}">
        <p14:creationId xmlns:p14="http://schemas.microsoft.com/office/powerpoint/2010/main" val="283480475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ítulo 1">
            <a:extLst>
              <a:ext uri="{FF2B5EF4-FFF2-40B4-BE49-F238E27FC236}">
                <a16:creationId xmlns:a16="http://schemas.microsoft.com/office/drawing/2014/main" id="{87D10A5F-4D49-3CDD-E953-D4EC5D95898C}"/>
              </a:ext>
            </a:extLst>
          </p:cNvPr>
          <p:cNvSpPr txBox="1">
            <a:spLocks/>
          </p:cNvSpPr>
          <p:nvPr/>
        </p:nvSpPr>
        <p:spPr>
          <a:xfrm>
            <a:off x="1158864" y="102021"/>
            <a:ext cx="10153570" cy="1818219"/>
          </a:xfrm>
          <a:prstGeom prst="rect">
            <a:avLst/>
          </a:prstGeom>
        </p:spPr>
        <p:txBody>
          <a:bodyPr vert="horz" lIns="91440" tIns="45720" rIns="91440" bIns="45720" rtlCol="0" anchor="b">
            <a:normAutofit/>
          </a:bodyPr>
          <a:lstStyle>
            <a:defPPr>
              <a:defRPr lang="pt-BR"/>
            </a:defPPr>
            <a:lvl1pPr algn="l" defTabSz="914400" rtl="0" eaLnBrk="1" latinLnBrk="0" hangingPunct="1">
              <a:lnSpc>
                <a:spcPct val="80000"/>
              </a:lnSpc>
              <a:spcBef>
                <a:spcPct val="0"/>
              </a:spcBef>
              <a:buNone/>
              <a:defRPr lang="pt-BR" sz="4200" b="1" kern="1200">
                <a:solidFill>
                  <a:schemeClr val="tx1"/>
                </a:solidFill>
                <a:latin typeface="+mj-lt"/>
                <a:ea typeface="+mj-ea"/>
                <a:cs typeface="+mj-cs"/>
              </a:defRPr>
            </a:lvl1pPr>
          </a:lstStyle>
          <a:p>
            <a:pPr>
              <a:spcAft>
                <a:spcPts val="600"/>
              </a:spcAft>
            </a:pPr>
            <a:r>
              <a:rPr lang="pt-BR" b="1" kern="1200" dirty="0">
                <a:latin typeface="+mj-lt"/>
                <a:ea typeface="+mj-ea"/>
                <a:cs typeface="+mj-cs"/>
              </a:rPr>
              <a:t>Restrição algorítmica</a:t>
            </a:r>
          </a:p>
        </p:txBody>
      </p:sp>
      <p:sp>
        <p:nvSpPr>
          <p:cNvPr id="3" name="Espaço Reservado para Conteúdo 2">
            <a:extLst>
              <a:ext uri="{FF2B5EF4-FFF2-40B4-BE49-F238E27FC236}">
                <a16:creationId xmlns:a16="http://schemas.microsoft.com/office/drawing/2014/main" id="{22788C46-D0BC-4307-AE55-7601A139E7CB}"/>
              </a:ext>
            </a:extLst>
          </p:cNvPr>
          <p:cNvSpPr>
            <a:spLocks noGrp="1"/>
          </p:cNvSpPr>
          <p:nvPr>
            <p:ph idx="1"/>
          </p:nvPr>
        </p:nvSpPr>
        <p:spPr/>
        <p:txBody>
          <a:bodyPr vert="horz" lIns="91440" tIns="45720" rIns="91440" bIns="45720" rtlCol="0">
            <a:normAutofit/>
          </a:bodyPr>
          <a:lstStyle>
            <a:defPPr>
              <a:defRPr lang="pt-BR"/>
            </a:defPPr>
          </a:lstStyle>
          <a:p>
            <a:pPr marL="914400" indent="-457200">
              <a:buFont typeface="Arial" panose="020B0604020202020204" pitchFamily="34" charset="0"/>
              <a:buChar char="•"/>
            </a:pPr>
            <a:r>
              <a:rPr lang="pt-BR" dirty="0"/>
              <a:t>Consiste no uso de algoritmos para exibir apenas certas informações e permitir comportamentos específicos enquanto previne outros</a:t>
            </a:r>
          </a:p>
        </p:txBody>
      </p:sp>
    </p:spTree>
    <p:extLst>
      <p:ext uri="{BB962C8B-B14F-4D97-AF65-F5344CB8AC3E}">
        <p14:creationId xmlns:p14="http://schemas.microsoft.com/office/powerpoint/2010/main" val="340616134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ítulo 1">
            <a:extLst>
              <a:ext uri="{FF2B5EF4-FFF2-40B4-BE49-F238E27FC236}">
                <a16:creationId xmlns:a16="http://schemas.microsoft.com/office/drawing/2014/main" id="{87D10A5F-4D49-3CDD-E953-D4EC5D95898C}"/>
              </a:ext>
            </a:extLst>
          </p:cNvPr>
          <p:cNvSpPr txBox="1">
            <a:spLocks/>
          </p:cNvSpPr>
          <p:nvPr/>
        </p:nvSpPr>
        <p:spPr>
          <a:xfrm>
            <a:off x="1158864" y="102021"/>
            <a:ext cx="10153570" cy="1818219"/>
          </a:xfrm>
          <a:prstGeom prst="rect">
            <a:avLst/>
          </a:prstGeom>
        </p:spPr>
        <p:txBody>
          <a:bodyPr vert="horz" lIns="91440" tIns="45720" rIns="91440" bIns="45720" rtlCol="0" anchor="b">
            <a:normAutofit/>
          </a:bodyPr>
          <a:lstStyle>
            <a:defPPr>
              <a:defRPr lang="pt-BR"/>
            </a:defPPr>
            <a:lvl1pPr algn="l" defTabSz="914400" rtl="0" eaLnBrk="1" latinLnBrk="0" hangingPunct="1">
              <a:lnSpc>
                <a:spcPct val="80000"/>
              </a:lnSpc>
              <a:spcBef>
                <a:spcPct val="0"/>
              </a:spcBef>
              <a:buNone/>
              <a:defRPr lang="pt-BR" sz="4200" b="1" kern="1200">
                <a:solidFill>
                  <a:schemeClr val="tx1"/>
                </a:solidFill>
                <a:latin typeface="+mj-lt"/>
                <a:ea typeface="+mj-ea"/>
                <a:cs typeface="+mj-cs"/>
              </a:defRPr>
            </a:lvl1pPr>
          </a:lstStyle>
          <a:p>
            <a:pPr>
              <a:spcAft>
                <a:spcPts val="600"/>
              </a:spcAft>
            </a:pPr>
            <a:r>
              <a:rPr lang="pt-BR" b="1" kern="1200" dirty="0">
                <a:latin typeface="+mj-lt"/>
                <a:ea typeface="+mj-ea"/>
                <a:cs typeface="+mj-cs"/>
              </a:rPr>
              <a:t>Registro algorítmico</a:t>
            </a:r>
          </a:p>
        </p:txBody>
      </p:sp>
      <p:sp>
        <p:nvSpPr>
          <p:cNvPr id="3" name="Espaço Reservado para Conteúdo 2">
            <a:extLst>
              <a:ext uri="{FF2B5EF4-FFF2-40B4-BE49-F238E27FC236}">
                <a16:creationId xmlns:a16="http://schemas.microsoft.com/office/drawing/2014/main" id="{22788C46-D0BC-4307-AE55-7601A139E7CB}"/>
              </a:ext>
            </a:extLst>
          </p:cNvPr>
          <p:cNvSpPr>
            <a:spLocks noGrp="1"/>
          </p:cNvSpPr>
          <p:nvPr>
            <p:ph idx="1"/>
          </p:nvPr>
        </p:nvSpPr>
        <p:spPr/>
        <p:txBody>
          <a:bodyPr vert="horz" lIns="91440" tIns="45720" rIns="91440" bIns="45720" rtlCol="0">
            <a:normAutofit/>
          </a:bodyPr>
          <a:lstStyle>
            <a:defPPr>
              <a:defRPr lang="pt-BR"/>
            </a:defPPr>
          </a:lstStyle>
          <a:p>
            <a:pPr marL="914400" indent="-457200">
              <a:buFont typeface="Arial" panose="020B0604020202020204" pitchFamily="34" charset="0"/>
              <a:buChar char="•"/>
            </a:pPr>
            <a:r>
              <a:rPr lang="pt-BR" dirty="0"/>
              <a:t>Remete ao uso de procedimentos computacionais para monitorar e agregar, geralmente em tempo real, uma ampla gama de dados extraídos de fontes internas e externas ao local de trabalho</a:t>
            </a:r>
          </a:p>
        </p:txBody>
      </p:sp>
    </p:spTree>
    <p:extLst>
      <p:ext uri="{BB962C8B-B14F-4D97-AF65-F5344CB8AC3E}">
        <p14:creationId xmlns:p14="http://schemas.microsoft.com/office/powerpoint/2010/main" val="131722211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ítulo 1">
            <a:extLst>
              <a:ext uri="{FF2B5EF4-FFF2-40B4-BE49-F238E27FC236}">
                <a16:creationId xmlns:a16="http://schemas.microsoft.com/office/drawing/2014/main" id="{87D10A5F-4D49-3CDD-E953-D4EC5D95898C}"/>
              </a:ext>
            </a:extLst>
          </p:cNvPr>
          <p:cNvSpPr txBox="1">
            <a:spLocks/>
          </p:cNvSpPr>
          <p:nvPr/>
        </p:nvSpPr>
        <p:spPr>
          <a:xfrm>
            <a:off x="1158864" y="102021"/>
            <a:ext cx="10153570" cy="1818219"/>
          </a:xfrm>
          <a:prstGeom prst="rect">
            <a:avLst/>
          </a:prstGeom>
        </p:spPr>
        <p:txBody>
          <a:bodyPr vert="horz" lIns="91440" tIns="45720" rIns="91440" bIns="45720" rtlCol="0" anchor="b">
            <a:normAutofit/>
          </a:bodyPr>
          <a:lstStyle>
            <a:defPPr>
              <a:defRPr lang="pt-BR"/>
            </a:defPPr>
            <a:lvl1pPr algn="l" defTabSz="914400" rtl="0" eaLnBrk="1" latinLnBrk="0" hangingPunct="1">
              <a:lnSpc>
                <a:spcPct val="80000"/>
              </a:lnSpc>
              <a:spcBef>
                <a:spcPct val="0"/>
              </a:spcBef>
              <a:buNone/>
              <a:defRPr lang="pt-BR" sz="4200" b="1" kern="1200">
                <a:solidFill>
                  <a:schemeClr val="tx1"/>
                </a:solidFill>
                <a:latin typeface="+mj-lt"/>
                <a:ea typeface="+mj-ea"/>
                <a:cs typeface="+mj-cs"/>
              </a:defRPr>
            </a:lvl1pPr>
          </a:lstStyle>
          <a:p>
            <a:pPr>
              <a:spcAft>
                <a:spcPts val="600"/>
              </a:spcAft>
            </a:pPr>
            <a:r>
              <a:rPr lang="pt-BR" b="1" kern="1200" dirty="0">
                <a:latin typeface="+mj-lt"/>
                <a:ea typeface="+mj-ea"/>
                <a:cs typeface="+mj-cs"/>
              </a:rPr>
              <a:t>Pontuação algorítmica</a:t>
            </a:r>
          </a:p>
        </p:txBody>
      </p:sp>
      <p:sp>
        <p:nvSpPr>
          <p:cNvPr id="3" name="Espaço Reservado para Conteúdo 2">
            <a:extLst>
              <a:ext uri="{FF2B5EF4-FFF2-40B4-BE49-F238E27FC236}">
                <a16:creationId xmlns:a16="http://schemas.microsoft.com/office/drawing/2014/main" id="{22788C46-D0BC-4307-AE55-7601A139E7CB}"/>
              </a:ext>
            </a:extLst>
          </p:cNvPr>
          <p:cNvSpPr>
            <a:spLocks noGrp="1"/>
          </p:cNvSpPr>
          <p:nvPr>
            <p:ph idx="1"/>
          </p:nvPr>
        </p:nvSpPr>
        <p:spPr/>
        <p:txBody>
          <a:bodyPr vert="horz" lIns="91440" tIns="45720" rIns="91440" bIns="45720" rtlCol="0">
            <a:normAutofit/>
          </a:bodyPr>
          <a:lstStyle>
            <a:defPPr>
              <a:defRPr lang="pt-BR"/>
            </a:defPPr>
          </a:lstStyle>
          <a:p>
            <a:pPr marL="914400" indent="-457200">
              <a:buFont typeface="Arial" panose="020B0604020202020204" pitchFamily="34" charset="0"/>
              <a:buChar char="•"/>
            </a:pPr>
            <a:r>
              <a:rPr lang="pt-BR" dirty="0"/>
              <a:t>Refere-se ao uso de tecnologias para prover pontuações e ranqueamentos a fim de calcular o desempenho dos trabalhadores, bem como realizar análises preditivas do desempenho futuro</a:t>
            </a:r>
          </a:p>
        </p:txBody>
      </p:sp>
    </p:spTree>
    <p:extLst>
      <p:ext uri="{BB962C8B-B14F-4D97-AF65-F5344CB8AC3E}">
        <p14:creationId xmlns:p14="http://schemas.microsoft.com/office/powerpoint/2010/main" val="298570482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ítulo 1">
            <a:extLst>
              <a:ext uri="{FF2B5EF4-FFF2-40B4-BE49-F238E27FC236}">
                <a16:creationId xmlns:a16="http://schemas.microsoft.com/office/drawing/2014/main" id="{87D10A5F-4D49-3CDD-E953-D4EC5D95898C}"/>
              </a:ext>
            </a:extLst>
          </p:cNvPr>
          <p:cNvSpPr txBox="1">
            <a:spLocks/>
          </p:cNvSpPr>
          <p:nvPr/>
        </p:nvSpPr>
        <p:spPr>
          <a:xfrm>
            <a:off x="1158864" y="102021"/>
            <a:ext cx="10153570" cy="1818219"/>
          </a:xfrm>
          <a:prstGeom prst="rect">
            <a:avLst/>
          </a:prstGeom>
        </p:spPr>
        <p:txBody>
          <a:bodyPr vert="horz" lIns="91440" tIns="45720" rIns="91440" bIns="45720" rtlCol="0" anchor="b">
            <a:normAutofit/>
          </a:bodyPr>
          <a:lstStyle>
            <a:defPPr>
              <a:defRPr lang="pt-BR"/>
            </a:defPPr>
            <a:lvl1pPr algn="l" defTabSz="914400" rtl="0" eaLnBrk="1" latinLnBrk="0" hangingPunct="1">
              <a:lnSpc>
                <a:spcPct val="80000"/>
              </a:lnSpc>
              <a:spcBef>
                <a:spcPct val="0"/>
              </a:spcBef>
              <a:buNone/>
              <a:defRPr lang="pt-BR" sz="4200" b="1" kern="1200">
                <a:solidFill>
                  <a:schemeClr val="tx1"/>
                </a:solidFill>
                <a:latin typeface="+mj-lt"/>
                <a:ea typeface="+mj-ea"/>
                <a:cs typeface="+mj-cs"/>
              </a:defRPr>
            </a:lvl1pPr>
          </a:lstStyle>
          <a:p>
            <a:pPr>
              <a:spcAft>
                <a:spcPts val="600"/>
              </a:spcAft>
            </a:pPr>
            <a:r>
              <a:rPr lang="pt-BR" b="1" kern="1200" dirty="0">
                <a:latin typeface="+mj-lt"/>
                <a:ea typeface="+mj-ea"/>
                <a:cs typeface="+mj-cs"/>
              </a:rPr>
              <a:t>Substituição algorítmica</a:t>
            </a:r>
          </a:p>
        </p:txBody>
      </p:sp>
      <p:sp>
        <p:nvSpPr>
          <p:cNvPr id="3" name="Espaço Reservado para Conteúdo 2">
            <a:extLst>
              <a:ext uri="{FF2B5EF4-FFF2-40B4-BE49-F238E27FC236}">
                <a16:creationId xmlns:a16="http://schemas.microsoft.com/office/drawing/2014/main" id="{22788C46-D0BC-4307-AE55-7601A139E7CB}"/>
              </a:ext>
            </a:extLst>
          </p:cNvPr>
          <p:cNvSpPr>
            <a:spLocks noGrp="1"/>
          </p:cNvSpPr>
          <p:nvPr>
            <p:ph idx="1"/>
          </p:nvPr>
        </p:nvSpPr>
        <p:spPr/>
        <p:txBody>
          <a:bodyPr vert="horz" lIns="91440" tIns="45720" rIns="91440" bIns="45720" rtlCol="0">
            <a:normAutofit/>
          </a:bodyPr>
          <a:lstStyle>
            <a:defPPr>
              <a:defRPr lang="pt-BR"/>
            </a:defPPr>
          </a:lstStyle>
          <a:p>
            <a:pPr marL="914400" indent="-457200">
              <a:buFont typeface="Arial" panose="020B0604020202020204" pitchFamily="34" charset="0"/>
              <a:buChar char="•"/>
            </a:pPr>
            <a:r>
              <a:rPr lang="pt-BR" dirty="0"/>
              <a:t>Implica em demitir rapidamente ou mesmo automaticamente trabalhadores de baixo desempenho da organização e substituí-los por outros.</a:t>
            </a:r>
          </a:p>
          <a:p>
            <a:pPr marL="914400" indent="-457200">
              <a:buFont typeface="Arial" panose="020B0604020202020204" pitchFamily="34" charset="0"/>
              <a:buChar char="•"/>
            </a:pPr>
            <a:r>
              <a:rPr lang="pt-BR" dirty="0"/>
              <a:t>Em plataformas sob demanda, permite o recrutamento de trabalhadores globalmente.</a:t>
            </a:r>
          </a:p>
        </p:txBody>
      </p:sp>
    </p:spTree>
    <p:extLst>
      <p:ext uri="{BB962C8B-B14F-4D97-AF65-F5344CB8AC3E}">
        <p14:creationId xmlns:p14="http://schemas.microsoft.com/office/powerpoint/2010/main" val="300823460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ítulo 1">
            <a:extLst>
              <a:ext uri="{FF2B5EF4-FFF2-40B4-BE49-F238E27FC236}">
                <a16:creationId xmlns:a16="http://schemas.microsoft.com/office/drawing/2014/main" id="{87D10A5F-4D49-3CDD-E953-D4EC5D95898C}"/>
              </a:ext>
            </a:extLst>
          </p:cNvPr>
          <p:cNvSpPr txBox="1">
            <a:spLocks/>
          </p:cNvSpPr>
          <p:nvPr/>
        </p:nvSpPr>
        <p:spPr>
          <a:xfrm>
            <a:off x="1158864" y="102021"/>
            <a:ext cx="10153570" cy="1818219"/>
          </a:xfrm>
          <a:prstGeom prst="rect">
            <a:avLst/>
          </a:prstGeom>
        </p:spPr>
        <p:txBody>
          <a:bodyPr vert="horz" lIns="91440" tIns="45720" rIns="91440" bIns="45720" rtlCol="0" anchor="b">
            <a:normAutofit/>
          </a:bodyPr>
          <a:lstStyle>
            <a:defPPr>
              <a:defRPr lang="pt-BR"/>
            </a:defPPr>
            <a:lvl1pPr algn="l" defTabSz="914400" rtl="0" eaLnBrk="1" latinLnBrk="0" hangingPunct="1">
              <a:lnSpc>
                <a:spcPct val="80000"/>
              </a:lnSpc>
              <a:spcBef>
                <a:spcPct val="0"/>
              </a:spcBef>
              <a:buNone/>
              <a:defRPr lang="pt-BR" sz="4200" b="1" kern="1200">
                <a:solidFill>
                  <a:schemeClr val="tx1"/>
                </a:solidFill>
                <a:latin typeface="+mj-lt"/>
                <a:ea typeface="+mj-ea"/>
                <a:cs typeface="+mj-cs"/>
              </a:defRPr>
            </a:lvl1pPr>
          </a:lstStyle>
          <a:p>
            <a:pPr>
              <a:spcAft>
                <a:spcPts val="600"/>
              </a:spcAft>
            </a:pPr>
            <a:r>
              <a:rPr lang="pt-BR" b="1" kern="1200" dirty="0">
                <a:latin typeface="+mj-lt"/>
                <a:ea typeface="+mj-ea"/>
                <a:cs typeface="+mj-cs"/>
              </a:rPr>
              <a:t>Premiação algorítmica</a:t>
            </a:r>
          </a:p>
        </p:txBody>
      </p:sp>
      <p:sp>
        <p:nvSpPr>
          <p:cNvPr id="3" name="Espaço Reservado para Conteúdo 2">
            <a:extLst>
              <a:ext uri="{FF2B5EF4-FFF2-40B4-BE49-F238E27FC236}">
                <a16:creationId xmlns:a16="http://schemas.microsoft.com/office/drawing/2014/main" id="{22788C46-D0BC-4307-AE55-7601A139E7CB}"/>
              </a:ext>
            </a:extLst>
          </p:cNvPr>
          <p:cNvSpPr>
            <a:spLocks noGrp="1"/>
          </p:cNvSpPr>
          <p:nvPr>
            <p:ph idx="1"/>
          </p:nvPr>
        </p:nvSpPr>
        <p:spPr/>
        <p:txBody>
          <a:bodyPr vert="horz" lIns="91440" tIns="45720" rIns="91440" bIns="45720" rtlCol="0">
            <a:normAutofit/>
          </a:bodyPr>
          <a:lstStyle>
            <a:defPPr>
              <a:defRPr lang="pt-BR"/>
            </a:defPPr>
          </a:lstStyle>
          <a:p>
            <a:pPr marL="914400" indent="-457200">
              <a:buFont typeface="Arial" panose="020B0604020202020204" pitchFamily="34" charset="0"/>
              <a:buChar char="•"/>
            </a:pPr>
            <a:r>
              <a:rPr lang="pt-BR" dirty="0"/>
              <a:t>É o uso de algoritmos para recompensar interativa e dinamicamente trabalhadores de alto desempenho com mais oportunidades, salários mais altos e promoções. </a:t>
            </a:r>
          </a:p>
          <a:p>
            <a:pPr marL="914400" indent="-457200">
              <a:buFont typeface="Arial" panose="020B0604020202020204" pitchFamily="34" charset="0"/>
              <a:buChar char="•"/>
            </a:pPr>
            <a:r>
              <a:rPr lang="pt-BR" dirty="0"/>
              <a:t>Uso intenso da gamificação</a:t>
            </a:r>
          </a:p>
        </p:txBody>
      </p:sp>
    </p:spTree>
    <p:extLst>
      <p:ext uri="{BB962C8B-B14F-4D97-AF65-F5344CB8AC3E}">
        <p14:creationId xmlns:p14="http://schemas.microsoft.com/office/powerpoint/2010/main" val="215704097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ítulo 1">
            <a:extLst>
              <a:ext uri="{FF2B5EF4-FFF2-40B4-BE49-F238E27FC236}">
                <a16:creationId xmlns:a16="http://schemas.microsoft.com/office/drawing/2014/main" id="{87D10A5F-4D49-3CDD-E953-D4EC5D95898C}"/>
              </a:ext>
            </a:extLst>
          </p:cNvPr>
          <p:cNvSpPr txBox="1">
            <a:spLocks/>
          </p:cNvSpPr>
          <p:nvPr/>
        </p:nvSpPr>
        <p:spPr>
          <a:xfrm>
            <a:off x="1158864" y="102021"/>
            <a:ext cx="10153570" cy="1818219"/>
          </a:xfrm>
          <a:prstGeom prst="rect">
            <a:avLst/>
          </a:prstGeom>
        </p:spPr>
        <p:txBody>
          <a:bodyPr vert="horz" lIns="91440" tIns="45720" rIns="91440" bIns="45720" rtlCol="0" anchor="b">
            <a:normAutofit/>
          </a:bodyPr>
          <a:lstStyle>
            <a:defPPr>
              <a:defRPr lang="pt-BR"/>
            </a:defPPr>
            <a:lvl1pPr algn="l" defTabSz="914400" rtl="0" eaLnBrk="1" latinLnBrk="0" hangingPunct="1">
              <a:lnSpc>
                <a:spcPct val="80000"/>
              </a:lnSpc>
              <a:spcBef>
                <a:spcPct val="0"/>
              </a:spcBef>
              <a:buNone/>
              <a:defRPr lang="pt-BR" sz="4200" b="1" kern="1200">
                <a:solidFill>
                  <a:schemeClr val="tx1"/>
                </a:solidFill>
                <a:latin typeface="+mj-lt"/>
                <a:ea typeface="+mj-ea"/>
                <a:cs typeface="+mj-cs"/>
              </a:defRPr>
            </a:lvl1pPr>
          </a:lstStyle>
          <a:p>
            <a:pPr>
              <a:spcAft>
                <a:spcPts val="600"/>
              </a:spcAft>
            </a:pPr>
            <a:r>
              <a:rPr lang="pt-BR" dirty="0"/>
              <a:t>Efeitos negativos nos trabalhadores</a:t>
            </a:r>
            <a:endParaRPr lang="pt-BR" b="1" kern="1200" dirty="0">
              <a:latin typeface="+mj-lt"/>
              <a:ea typeface="+mj-ea"/>
              <a:cs typeface="+mj-cs"/>
            </a:endParaRPr>
          </a:p>
        </p:txBody>
      </p:sp>
      <p:sp>
        <p:nvSpPr>
          <p:cNvPr id="3" name="Espaço Reservado para Conteúdo 2">
            <a:extLst>
              <a:ext uri="{FF2B5EF4-FFF2-40B4-BE49-F238E27FC236}">
                <a16:creationId xmlns:a16="http://schemas.microsoft.com/office/drawing/2014/main" id="{22788C46-D0BC-4307-AE55-7601A139E7CB}"/>
              </a:ext>
            </a:extLst>
          </p:cNvPr>
          <p:cNvSpPr>
            <a:spLocks noGrp="1"/>
          </p:cNvSpPr>
          <p:nvPr>
            <p:ph idx="1"/>
          </p:nvPr>
        </p:nvSpPr>
        <p:spPr/>
        <p:txBody>
          <a:bodyPr vert="horz" lIns="91440" tIns="45720" rIns="91440" bIns="45720" rtlCol="0">
            <a:normAutofit/>
          </a:bodyPr>
          <a:lstStyle>
            <a:defPPr>
              <a:defRPr lang="pt-BR"/>
            </a:defPPr>
          </a:lstStyle>
          <a:p>
            <a:pPr marL="914400" indent="-457200">
              <a:buFont typeface="Arial" panose="020B0604020202020204" pitchFamily="34" charset="0"/>
              <a:buChar char="•"/>
            </a:pPr>
            <a:r>
              <a:rPr lang="pt-BR" dirty="0"/>
              <a:t>Conflito entre a recomendação algorítmica e a avaliação do próprio trabalhador </a:t>
            </a:r>
          </a:p>
          <a:p>
            <a:pPr marL="914400" indent="-457200">
              <a:buFont typeface="Arial" panose="020B0604020202020204" pitchFamily="34" charset="0"/>
              <a:buChar char="•"/>
            </a:pPr>
            <a:r>
              <a:rPr lang="pt-BR" dirty="0"/>
              <a:t>Alienação sobre o trabalho restringido pelo algoritmo</a:t>
            </a:r>
          </a:p>
          <a:p>
            <a:pPr marL="914400" indent="-457200">
              <a:buFont typeface="Arial" panose="020B0604020202020204" pitchFamily="34" charset="0"/>
              <a:buChar char="•"/>
            </a:pPr>
            <a:r>
              <a:rPr lang="pt-BR" dirty="0"/>
              <a:t>Sensação de perda de privacidade</a:t>
            </a:r>
          </a:p>
          <a:p>
            <a:pPr marL="457200"/>
            <a:endParaRPr lang="pt-BR" dirty="0"/>
          </a:p>
        </p:txBody>
      </p:sp>
    </p:spTree>
    <p:extLst>
      <p:ext uri="{BB962C8B-B14F-4D97-AF65-F5344CB8AC3E}">
        <p14:creationId xmlns:p14="http://schemas.microsoft.com/office/powerpoint/2010/main" val="236481650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ítulo 1">
            <a:extLst>
              <a:ext uri="{FF2B5EF4-FFF2-40B4-BE49-F238E27FC236}">
                <a16:creationId xmlns:a16="http://schemas.microsoft.com/office/drawing/2014/main" id="{87D10A5F-4D49-3CDD-E953-D4EC5D95898C}"/>
              </a:ext>
            </a:extLst>
          </p:cNvPr>
          <p:cNvSpPr txBox="1">
            <a:spLocks/>
          </p:cNvSpPr>
          <p:nvPr/>
        </p:nvSpPr>
        <p:spPr>
          <a:xfrm>
            <a:off x="1158864" y="102021"/>
            <a:ext cx="10153570" cy="1818219"/>
          </a:xfrm>
          <a:prstGeom prst="rect">
            <a:avLst/>
          </a:prstGeom>
        </p:spPr>
        <p:txBody>
          <a:bodyPr vert="horz" lIns="91440" tIns="45720" rIns="91440" bIns="45720" rtlCol="0" anchor="b">
            <a:normAutofit/>
          </a:bodyPr>
          <a:lstStyle>
            <a:defPPr>
              <a:defRPr lang="pt-BR"/>
            </a:defPPr>
            <a:lvl1pPr algn="l" defTabSz="914400" rtl="0" eaLnBrk="1" latinLnBrk="0" hangingPunct="1">
              <a:lnSpc>
                <a:spcPct val="80000"/>
              </a:lnSpc>
              <a:spcBef>
                <a:spcPct val="0"/>
              </a:spcBef>
              <a:buNone/>
              <a:defRPr lang="pt-BR" sz="4200" b="1" kern="1200">
                <a:solidFill>
                  <a:schemeClr val="tx1"/>
                </a:solidFill>
                <a:latin typeface="+mj-lt"/>
                <a:ea typeface="+mj-ea"/>
                <a:cs typeface="+mj-cs"/>
              </a:defRPr>
            </a:lvl1pPr>
          </a:lstStyle>
          <a:p>
            <a:pPr>
              <a:spcAft>
                <a:spcPts val="600"/>
              </a:spcAft>
            </a:pPr>
            <a:r>
              <a:rPr lang="pt-BR" dirty="0"/>
              <a:t>Efeitos negativos nos trabalhadores</a:t>
            </a:r>
            <a:endParaRPr lang="pt-BR" b="1" kern="1200" dirty="0">
              <a:latin typeface="+mj-lt"/>
              <a:ea typeface="+mj-ea"/>
              <a:cs typeface="+mj-cs"/>
            </a:endParaRPr>
          </a:p>
        </p:txBody>
      </p:sp>
      <p:sp>
        <p:nvSpPr>
          <p:cNvPr id="3" name="Espaço Reservado para Conteúdo 2">
            <a:extLst>
              <a:ext uri="{FF2B5EF4-FFF2-40B4-BE49-F238E27FC236}">
                <a16:creationId xmlns:a16="http://schemas.microsoft.com/office/drawing/2014/main" id="{22788C46-D0BC-4307-AE55-7601A139E7CB}"/>
              </a:ext>
            </a:extLst>
          </p:cNvPr>
          <p:cNvSpPr>
            <a:spLocks noGrp="1"/>
          </p:cNvSpPr>
          <p:nvPr>
            <p:ph idx="1"/>
          </p:nvPr>
        </p:nvSpPr>
        <p:spPr/>
        <p:txBody>
          <a:bodyPr vert="horz" lIns="91440" tIns="45720" rIns="91440" bIns="45720" rtlCol="0">
            <a:normAutofit/>
          </a:bodyPr>
          <a:lstStyle>
            <a:defPPr>
              <a:defRPr lang="pt-BR"/>
            </a:defPPr>
          </a:lstStyle>
          <a:p>
            <a:pPr marL="914400" indent="-457200">
              <a:buFont typeface="Arial" panose="020B0604020202020204" pitchFamily="34" charset="0"/>
              <a:buChar char="•"/>
            </a:pPr>
            <a:r>
              <a:rPr lang="pt-BR" dirty="0"/>
              <a:t>Precarização em plataformas que permitem a substituição automática de trabalhadores</a:t>
            </a:r>
          </a:p>
          <a:p>
            <a:pPr marL="914400" indent="-457200">
              <a:buFont typeface="Arial" panose="020B0604020202020204" pitchFamily="34" charset="0"/>
              <a:buChar char="•"/>
            </a:pPr>
            <a:r>
              <a:rPr lang="pt-BR" dirty="0"/>
              <a:t>Angústia com a rápida responsividade e sigilo intencional do sistema de recompensas</a:t>
            </a:r>
          </a:p>
          <a:p>
            <a:pPr marL="457200"/>
            <a:endParaRPr lang="pt-BR" dirty="0"/>
          </a:p>
        </p:txBody>
      </p:sp>
    </p:spTree>
    <p:extLst>
      <p:ext uri="{BB962C8B-B14F-4D97-AF65-F5344CB8AC3E}">
        <p14:creationId xmlns:p14="http://schemas.microsoft.com/office/powerpoint/2010/main" val="315340197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ítulo 1">
            <a:extLst>
              <a:ext uri="{FF2B5EF4-FFF2-40B4-BE49-F238E27FC236}">
                <a16:creationId xmlns:a16="http://schemas.microsoft.com/office/drawing/2014/main" id="{87D10A5F-4D49-3CDD-E953-D4EC5D95898C}"/>
              </a:ext>
            </a:extLst>
          </p:cNvPr>
          <p:cNvSpPr txBox="1">
            <a:spLocks/>
          </p:cNvSpPr>
          <p:nvPr/>
        </p:nvSpPr>
        <p:spPr>
          <a:xfrm>
            <a:off x="1158864" y="102021"/>
            <a:ext cx="10153570" cy="1818219"/>
          </a:xfrm>
          <a:prstGeom prst="rect">
            <a:avLst/>
          </a:prstGeom>
        </p:spPr>
        <p:txBody>
          <a:bodyPr vert="horz" lIns="91440" tIns="45720" rIns="91440" bIns="45720" rtlCol="0" anchor="b">
            <a:normAutofit/>
          </a:bodyPr>
          <a:lstStyle>
            <a:defPPr>
              <a:defRPr lang="pt-BR"/>
            </a:defPPr>
            <a:lvl1pPr algn="l" defTabSz="914400" rtl="0" eaLnBrk="1" latinLnBrk="0" hangingPunct="1">
              <a:lnSpc>
                <a:spcPct val="80000"/>
              </a:lnSpc>
              <a:spcBef>
                <a:spcPct val="0"/>
              </a:spcBef>
              <a:buNone/>
              <a:defRPr lang="pt-BR" sz="4200" b="1" kern="1200">
                <a:solidFill>
                  <a:schemeClr val="tx1"/>
                </a:solidFill>
                <a:latin typeface="+mj-lt"/>
                <a:ea typeface="+mj-ea"/>
                <a:cs typeface="+mj-cs"/>
              </a:defRPr>
            </a:lvl1pPr>
          </a:lstStyle>
          <a:p>
            <a:pPr>
              <a:spcAft>
                <a:spcPts val="600"/>
              </a:spcAft>
            </a:pPr>
            <a:r>
              <a:rPr lang="pt-BR" dirty="0"/>
              <a:t>Efeitos negativos nos trabalhadores</a:t>
            </a:r>
            <a:endParaRPr lang="pt-BR" b="1" kern="1200" dirty="0">
              <a:latin typeface="+mj-lt"/>
              <a:ea typeface="+mj-ea"/>
              <a:cs typeface="+mj-cs"/>
            </a:endParaRPr>
          </a:p>
        </p:txBody>
      </p:sp>
      <p:sp>
        <p:nvSpPr>
          <p:cNvPr id="3" name="Espaço Reservado para Conteúdo 2">
            <a:extLst>
              <a:ext uri="{FF2B5EF4-FFF2-40B4-BE49-F238E27FC236}">
                <a16:creationId xmlns:a16="http://schemas.microsoft.com/office/drawing/2014/main" id="{22788C46-D0BC-4307-AE55-7601A139E7CB}"/>
              </a:ext>
            </a:extLst>
          </p:cNvPr>
          <p:cNvSpPr>
            <a:spLocks noGrp="1"/>
          </p:cNvSpPr>
          <p:nvPr>
            <p:ph idx="1"/>
          </p:nvPr>
        </p:nvSpPr>
        <p:spPr/>
        <p:txBody>
          <a:bodyPr vert="horz" lIns="91440" tIns="45720" rIns="91440" bIns="45720" rtlCol="0">
            <a:normAutofit/>
          </a:bodyPr>
          <a:lstStyle>
            <a:defPPr>
              <a:defRPr lang="pt-BR"/>
            </a:defPPr>
          </a:lstStyle>
          <a:p>
            <a:pPr marL="914400" indent="-457200">
              <a:buFont typeface="Arial" panose="020B0604020202020204" pitchFamily="34" charset="0"/>
              <a:buChar char="•"/>
            </a:pPr>
            <a:r>
              <a:rPr lang="pt-BR" dirty="0"/>
              <a:t>Frustração com a falta de ciência sobre os dados coletados e a dificuldade de se protestar contra pontuação injustas</a:t>
            </a:r>
          </a:p>
          <a:p>
            <a:pPr marL="914400" indent="-457200">
              <a:buFont typeface="Arial" panose="020B0604020202020204" pitchFamily="34" charset="0"/>
              <a:buChar char="•"/>
            </a:pPr>
            <a:r>
              <a:rPr lang="pt-BR" dirty="0"/>
              <a:t>Discriminação em torno de características físicas</a:t>
            </a:r>
          </a:p>
          <a:p>
            <a:pPr marL="457200"/>
            <a:endParaRPr lang="pt-BR" dirty="0"/>
          </a:p>
          <a:p>
            <a:pPr marL="457200"/>
            <a:endParaRPr lang="pt-BR" dirty="0"/>
          </a:p>
        </p:txBody>
      </p:sp>
    </p:spTree>
    <p:extLst>
      <p:ext uri="{BB962C8B-B14F-4D97-AF65-F5344CB8AC3E}">
        <p14:creationId xmlns:p14="http://schemas.microsoft.com/office/powerpoint/2010/main" val="391688442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ítulo 1">
            <a:extLst>
              <a:ext uri="{FF2B5EF4-FFF2-40B4-BE49-F238E27FC236}">
                <a16:creationId xmlns:a16="http://schemas.microsoft.com/office/drawing/2014/main" id="{87D10A5F-4D49-3CDD-E953-D4EC5D95898C}"/>
              </a:ext>
            </a:extLst>
          </p:cNvPr>
          <p:cNvSpPr txBox="1">
            <a:spLocks/>
          </p:cNvSpPr>
          <p:nvPr/>
        </p:nvSpPr>
        <p:spPr>
          <a:xfrm>
            <a:off x="1158864" y="102021"/>
            <a:ext cx="10153570" cy="1818219"/>
          </a:xfrm>
          <a:prstGeom prst="rect">
            <a:avLst/>
          </a:prstGeom>
        </p:spPr>
        <p:txBody>
          <a:bodyPr vert="horz" lIns="91440" tIns="45720" rIns="91440" bIns="45720" rtlCol="0" anchor="b">
            <a:normAutofit/>
          </a:bodyPr>
          <a:lstStyle>
            <a:defPPr>
              <a:defRPr lang="pt-BR"/>
            </a:defPPr>
            <a:lvl1pPr algn="l" defTabSz="914400" rtl="0" eaLnBrk="1" latinLnBrk="0" hangingPunct="1">
              <a:lnSpc>
                <a:spcPct val="80000"/>
              </a:lnSpc>
              <a:spcBef>
                <a:spcPct val="0"/>
              </a:spcBef>
              <a:buNone/>
              <a:defRPr lang="pt-BR" sz="4200" b="1" kern="1200">
                <a:solidFill>
                  <a:schemeClr val="tx1"/>
                </a:solidFill>
                <a:latin typeface="+mj-lt"/>
                <a:ea typeface="+mj-ea"/>
                <a:cs typeface="+mj-cs"/>
              </a:defRPr>
            </a:lvl1pPr>
          </a:lstStyle>
          <a:p>
            <a:pPr>
              <a:spcAft>
                <a:spcPts val="600"/>
              </a:spcAft>
            </a:pPr>
            <a:r>
              <a:rPr lang="pt-BR" b="1" kern="1200" dirty="0">
                <a:latin typeface="+mj-lt"/>
                <a:ea typeface="+mj-ea"/>
                <a:cs typeface="+mj-cs"/>
              </a:rPr>
              <a:t>Empregos</a:t>
            </a:r>
            <a:r>
              <a:rPr lang="pt-BR" dirty="0"/>
              <a:t> algorítmicos emergentes</a:t>
            </a:r>
            <a:endParaRPr lang="pt-BR" b="1" kern="1200" dirty="0">
              <a:latin typeface="+mj-lt"/>
              <a:ea typeface="+mj-ea"/>
              <a:cs typeface="+mj-cs"/>
            </a:endParaRPr>
          </a:p>
        </p:txBody>
      </p:sp>
      <p:sp>
        <p:nvSpPr>
          <p:cNvPr id="3" name="Espaço Reservado para Conteúdo 2">
            <a:extLst>
              <a:ext uri="{FF2B5EF4-FFF2-40B4-BE49-F238E27FC236}">
                <a16:creationId xmlns:a16="http://schemas.microsoft.com/office/drawing/2014/main" id="{22788C46-D0BC-4307-AE55-7601A139E7CB}"/>
              </a:ext>
            </a:extLst>
          </p:cNvPr>
          <p:cNvSpPr>
            <a:spLocks noGrp="1"/>
          </p:cNvSpPr>
          <p:nvPr>
            <p:ph idx="1"/>
          </p:nvPr>
        </p:nvSpPr>
        <p:spPr/>
        <p:txBody>
          <a:bodyPr vert="horz" lIns="91440" tIns="45720" rIns="91440" bIns="45720" rtlCol="0">
            <a:normAutofit/>
          </a:bodyPr>
          <a:lstStyle>
            <a:defPPr>
              <a:defRPr lang="pt-BR"/>
            </a:defPPr>
          </a:lstStyle>
          <a:p>
            <a:pPr marL="914400" indent="-457200">
              <a:buFont typeface="Arial" panose="020B0604020202020204" pitchFamily="34" charset="0"/>
              <a:buChar char="•"/>
            </a:pPr>
            <a:r>
              <a:rPr lang="pt-BR" dirty="0"/>
              <a:t>Curadoria algorítmica </a:t>
            </a:r>
          </a:p>
          <a:p>
            <a:pPr marL="914400" indent="-457200">
              <a:buFont typeface="Arial" panose="020B0604020202020204" pitchFamily="34" charset="0"/>
              <a:buChar char="•"/>
            </a:pPr>
            <a:r>
              <a:rPr lang="pt-BR" dirty="0"/>
              <a:t>Corretagem algorítmica</a:t>
            </a:r>
          </a:p>
          <a:p>
            <a:pPr marL="914400" indent="-457200">
              <a:buFont typeface="Arial" panose="020B0604020202020204" pitchFamily="34" charset="0"/>
              <a:buChar char="•"/>
            </a:pPr>
            <a:r>
              <a:rPr lang="pt-BR" dirty="0"/>
              <a:t>Articulação algorítmica</a:t>
            </a:r>
          </a:p>
          <a:p>
            <a:pPr marL="457200"/>
            <a:endParaRPr lang="pt-BR" dirty="0"/>
          </a:p>
          <a:p>
            <a:pPr marL="457200"/>
            <a:endParaRPr lang="pt-BR" dirty="0"/>
          </a:p>
          <a:p>
            <a:pPr marL="457200"/>
            <a:endParaRPr lang="pt-BR" dirty="0"/>
          </a:p>
        </p:txBody>
      </p:sp>
    </p:spTree>
    <p:extLst>
      <p:ext uri="{BB962C8B-B14F-4D97-AF65-F5344CB8AC3E}">
        <p14:creationId xmlns:p14="http://schemas.microsoft.com/office/powerpoint/2010/main" val="153076536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ítulo 1">
            <a:extLst>
              <a:ext uri="{FF2B5EF4-FFF2-40B4-BE49-F238E27FC236}">
                <a16:creationId xmlns:a16="http://schemas.microsoft.com/office/drawing/2014/main" id="{87D10A5F-4D49-3CDD-E953-D4EC5D95898C}"/>
              </a:ext>
            </a:extLst>
          </p:cNvPr>
          <p:cNvSpPr txBox="1">
            <a:spLocks/>
          </p:cNvSpPr>
          <p:nvPr/>
        </p:nvSpPr>
        <p:spPr>
          <a:xfrm>
            <a:off x="1158864" y="102021"/>
            <a:ext cx="10153570" cy="1818219"/>
          </a:xfrm>
          <a:prstGeom prst="rect">
            <a:avLst/>
          </a:prstGeom>
        </p:spPr>
        <p:txBody>
          <a:bodyPr vert="horz" lIns="91440" tIns="45720" rIns="91440" bIns="45720" rtlCol="0" anchor="b">
            <a:normAutofit/>
          </a:bodyPr>
          <a:lstStyle>
            <a:defPPr>
              <a:defRPr lang="pt-BR"/>
            </a:defPPr>
            <a:lvl1pPr algn="l" defTabSz="914400" rtl="0" eaLnBrk="1" latinLnBrk="0" hangingPunct="1">
              <a:lnSpc>
                <a:spcPct val="80000"/>
              </a:lnSpc>
              <a:spcBef>
                <a:spcPct val="0"/>
              </a:spcBef>
              <a:buNone/>
              <a:defRPr lang="pt-BR" sz="4200" b="1" kern="1200">
                <a:solidFill>
                  <a:schemeClr val="tx1"/>
                </a:solidFill>
                <a:latin typeface="+mj-lt"/>
                <a:ea typeface="+mj-ea"/>
                <a:cs typeface="+mj-cs"/>
              </a:defRPr>
            </a:lvl1pPr>
          </a:lstStyle>
          <a:p>
            <a:pPr>
              <a:spcAft>
                <a:spcPts val="600"/>
              </a:spcAft>
            </a:pPr>
            <a:r>
              <a:rPr lang="pt-BR" b="1" kern="1200" dirty="0" err="1">
                <a:latin typeface="+mj-lt"/>
                <a:ea typeface="+mj-ea"/>
                <a:cs typeface="+mj-cs"/>
              </a:rPr>
              <a:t>Algoativismo</a:t>
            </a:r>
            <a:endParaRPr lang="pt-BR" b="1" kern="1200" dirty="0">
              <a:latin typeface="+mj-lt"/>
              <a:ea typeface="+mj-ea"/>
              <a:cs typeface="+mj-cs"/>
            </a:endParaRPr>
          </a:p>
        </p:txBody>
      </p:sp>
      <p:sp>
        <p:nvSpPr>
          <p:cNvPr id="3" name="Espaço Reservado para Conteúdo 2">
            <a:extLst>
              <a:ext uri="{FF2B5EF4-FFF2-40B4-BE49-F238E27FC236}">
                <a16:creationId xmlns:a16="http://schemas.microsoft.com/office/drawing/2014/main" id="{22788C46-D0BC-4307-AE55-7601A139E7CB}"/>
              </a:ext>
            </a:extLst>
          </p:cNvPr>
          <p:cNvSpPr>
            <a:spLocks noGrp="1"/>
          </p:cNvSpPr>
          <p:nvPr>
            <p:ph idx="1"/>
          </p:nvPr>
        </p:nvSpPr>
        <p:spPr/>
        <p:txBody>
          <a:bodyPr vert="horz" lIns="91440" tIns="45720" rIns="91440" bIns="45720" rtlCol="0">
            <a:normAutofit/>
          </a:bodyPr>
          <a:lstStyle>
            <a:defPPr>
              <a:defRPr lang="pt-BR"/>
            </a:defPPr>
          </a:lstStyle>
          <a:p>
            <a:pPr marL="914400" indent="-457200">
              <a:buFont typeface="Arial" panose="020B0604020202020204" pitchFamily="34" charset="0"/>
              <a:buChar char="•"/>
            </a:pPr>
            <a:r>
              <a:rPr lang="pt-BR" dirty="0"/>
              <a:t>Resistência individual (não cooperação, manipulação dos algoritmos, negociação direta com clientes)</a:t>
            </a:r>
          </a:p>
          <a:p>
            <a:pPr marL="914400" indent="-457200">
              <a:buFont typeface="Arial" panose="020B0604020202020204" pitchFamily="34" charset="0"/>
              <a:buChar char="•"/>
            </a:pPr>
            <a:r>
              <a:rPr lang="pt-BR" dirty="0"/>
              <a:t>Organização coletiva via plataforma</a:t>
            </a:r>
          </a:p>
          <a:p>
            <a:pPr marL="914400" indent="-457200">
              <a:buFont typeface="Arial" panose="020B0604020202020204" pitchFamily="34" charset="0"/>
              <a:buChar char="•"/>
            </a:pPr>
            <a:r>
              <a:rPr lang="pt-BR" dirty="0"/>
              <a:t>Elaboração de um discurso público</a:t>
            </a:r>
          </a:p>
          <a:p>
            <a:pPr marL="914400" indent="-457200">
              <a:buFont typeface="Arial" panose="020B0604020202020204" pitchFamily="34" charset="0"/>
              <a:buChar char="•"/>
            </a:pPr>
            <a:r>
              <a:rPr lang="pt-BR" dirty="0"/>
              <a:t>Mobilização por questões legais</a:t>
            </a:r>
          </a:p>
          <a:p>
            <a:pPr marL="457200"/>
            <a:endParaRPr lang="pt-BR" dirty="0"/>
          </a:p>
          <a:p>
            <a:pPr marL="457200"/>
            <a:endParaRPr lang="pt-BR" dirty="0"/>
          </a:p>
        </p:txBody>
      </p:sp>
    </p:spTree>
    <p:extLst>
      <p:ext uri="{BB962C8B-B14F-4D97-AF65-F5344CB8AC3E}">
        <p14:creationId xmlns:p14="http://schemas.microsoft.com/office/powerpoint/2010/main" val="10686313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ítulo 6">
            <a:extLst>
              <a:ext uri="{FF2B5EF4-FFF2-40B4-BE49-F238E27FC236}">
                <a16:creationId xmlns:a16="http://schemas.microsoft.com/office/drawing/2014/main" id="{81C753FD-96EC-101A-B8A4-5F69A189BEF4}"/>
              </a:ext>
            </a:extLst>
          </p:cNvPr>
          <p:cNvSpPr>
            <a:spLocks noGrp="1"/>
          </p:cNvSpPr>
          <p:nvPr>
            <p:ph type="ctrTitle"/>
          </p:nvPr>
        </p:nvSpPr>
        <p:spPr/>
        <p:txBody>
          <a:bodyPr rtlCol="0"/>
          <a:lstStyle>
            <a:defPPr>
              <a:defRPr lang="pt-BR"/>
            </a:defPPr>
          </a:lstStyle>
          <a:p>
            <a:pPr rtl="0"/>
            <a:r>
              <a:rPr lang="pt-BR"/>
              <a:t>Obrigado.</a:t>
            </a:r>
          </a:p>
        </p:txBody>
      </p:sp>
      <p:sp>
        <p:nvSpPr>
          <p:cNvPr id="5" name="Subtítulo 4">
            <a:extLst>
              <a:ext uri="{FF2B5EF4-FFF2-40B4-BE49-F238E27FC236}">
                <a16:creationId xmlns:a16="http://schemas.microsoft.com/office/drawing/2014/main" id="{67BB04B7-47A4-741B-59E0-F0E6F2126E8F}"/>
              </a:ext>
            </a:extLst>
          </p:cNvPr>
          <p:cNvSpPr>
            <a:spLocks noGrp="1"/>
          </p:cNvSpPr>
          <p:nvPr>
            <p:ph type="subTitle" idx="1"/>
          </p:nvPr>
        </p:nvSpPr>
        <p:spPr/>
        <p:txBody>
          <a:bodyPr rtlCol="0"/>
          <a:lstStyle>
            <a:defPPr>
              <a:defRPr lang="pt-BR"/>
            </a:defPPr>
          </a:lstStyle>
          <a:p>
            <a:pPr rtl="0"/>
            <a:endParaRPr lang="pt-BR" dirty="0"/>
          </a:p>
        </p:txBody>
      </p:sp>
    </p:spTree>
    <p:extLst>
      <p:ext uri="{BB962C8B-B14F-4D97-AF65-F5344CB8AC3E}">
        <p14:creationId xmlns:p14="http://schemas.microsoft.com/office/powerpoint/2010/main" val="1609673525"/>
      </p:ext>
    </p:extLst>
  </p:cSld>
  <p:clrMapOvr>
    <a:masterClrMapping/>
  </p:clrMapOvr>
</p:sld>
</file>

<file path=ppt/theme/theme1.xml><?xml version="1.0" encoding="utf-8"?>
<a:theme xmlns:a="http://schemas.openxmlformats.org/drawingml/2006/main" name="Personalizado">
  <a:themeElements>
    <a:clrScheme name="Universal Color Block">
      <a:dk1>
        <a:srgbClr val="000000"/>
      </a:dk1>
      <a:lt1>
        <a:srgbClr val="FFFFFF"/>
      </a:lt1>
      <a:dk2>
        <a:srgbClr val="44546A"/>
      </a:dk2>
      <a:lt2>
        <a:srgbClr val="E7E6E6"/>
      </a:lt2>
      <a:accent1>
        <a:srgbClr val="0068FF"/>
      </a:accent1>
      <a:accent2>
        <a:srgbClr val="DAE5EF"/>
      </a:accent2>
      <a:accent3>
        <a:srgbClr val="637183"/>
      </a:accent3>
      <a:accent4>
        <a:srgbClr val="434E5E"/>
      </a:accent4>
      <a:accent5>
        <a:srgbClr val="5B9BD5"/>
      </a:accent5>
      <a:accent6>
        <a:srgbClr val="70AD47"/>
      </a:accent6>
      <a:hlink>
        <a:srgbClr val="0563C1"/>
      </a:hlink>
      <a:folHlink>
        <a:srgbClr val="954F72"/>
      </a:folHlink>
    </a:clrScheme>
    <a:fontScheme name="Custom 75">
      <a:majorFont>
        <a:latin typeface="Tenorite"/>
        <a:ea typeface=""/>
        <a:cs typeface=""/>
      </a:majorFont>
      <a:minorFont>
        <a:latin typeface="Tenorit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_73135269_TF45331398_Win32" id="{3328EF41-B506-4E00-9D52-63C1C58F8F8A}" vid="{23365FC3-F6F7-46B3-8D20-6B432682BE59}"/>
    </a:ext>
  </a:extLst>
</a:theme>
</file>

<file path=ppt/theme/theme2.xml><?xml version="1.0" encoding="utf-8"?>
<a:theme xmlns:a="http://schemas.openxmlformats.org/drawingml/2006/main" name="Tema do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o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1E98C35-9ECE-4425-BCBA-00E118C705CE}">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45A8381C-73EB-48EA-B45F-7B7C8C7DF409}">
  <ds:schemaRefs>
    <ds:schemaRef ds:uri="http://schemas.microsoft.com/sharepoint/v3/contenttype/forms"/>
  </ds:schemaRefs>
</ds:datastoreItem>
</file>

<file path=customXml/itemProps3.xml><?xml version="1.0" encoding="utf-8"?>
<ds:datastoreItem xmlns:ds="http://schemas.openxmlformats.org/officeDocument/2006/customXml" ds:itemID="{5AA6A711-2C3F-4EC0-B88B-62D74085117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
  <TotalTime>1798</TotalTime>
  <Words>3295</Words>
  <Application>Microsoft Office PowerPoint</Application>
  <PresentationFormat>Widescreen</PresentationFormat>
  <Paragraphs>186</Paragraphs>
  <Slides>28</Slides>
  <Notes>28</Notes>
  <HiddenSlides>0</HiddenSlides>
  <MMClips>0</MMClips>
  <ScaleCrop>false</ScaleCrop>
  <HeadingPairs>
    <vt:vector size="6" baseType="variant">
      <vt:variant>
        <vt:lpstr>Fontes usadas</vt:lpstr>
      </vt:variant>
      <vt:variant>
        <vt:i4>4</vt:i4>
      </vt:variant>
      <vt:variant>
        <vt:lpstr>Tema</vt:lpstr>
      </vt:variant>
      <vt:variant>
        <vt:i4>1</vt:i4>
      </vt:variant>
      <vt:variant>
        <vt:lpstr>Títulos de slides</vt:lpstr>
      </vt:variant>
      <vt:variant>
        <vt:i4>28</vt:i4>
      </vt:variant>
    </vt:vector>
  </HeadingPairs>
  <TitlesOfParts>
    <vt:vector size="33" baseType="lpstr">
      <vt:lpstr>AdvOT72a5abab</vt:lpstr>
      <vt:lpstr>Arial</vt:lpstr>
      <vt:lpstr>Calibri</vt:lpstr>
      <vt:lpstr>Tenorite</vt:lpstr>
      <vt:lpstr>Personalizado</vt:lpstr>
      <vt:lpstr>“Algorithms at Work: the new contested terrain of control”</vt:lpstr>
      <vt:lpstr>Sobre as autoras</vt:lpstr>
      <vt:lpstr>Obras de influência direta</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Obrigado.</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World Economy: a Millenial Perspective</dc:title>
  <dc:creator>João Ricardo Penteado</dc:creator>
  <cp:lastModifiedBy>s7645</cp:lastModifiedBy>
  <cp:revision>178</cp:revision>
  <dcterms:created xsi:type="dcterms:W3CDTF">2024-03-27T04:01:51Z</dcterms:created>
  <dcterms:modified xsi:type="dcterms:W3CDTF">2024-08-14T22:40:52Z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